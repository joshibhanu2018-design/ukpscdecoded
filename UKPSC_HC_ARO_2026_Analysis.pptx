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1695" cy="6858000"/>
  <p:notesSz cx="6858000" cy="12191695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<p:bgPr><a:solidFill><a:srgbClr val="16233A"/></a:solidFill><a:effectLst/></p:bgPr></p:bg>
    <p:spTree>
      <p:nvGrpSpPr><p:cNvPr id="1" name=""/><p:cNvGrpSpPr/><p:nvPr/></p:nvGrpSpPr>
      <p:grpSpPr>
        <a:xfrm><a:off x="0" y="0"/><a:ext cx="0" cy="0"/><a:chOff x="0" y="0"/><a:chExt cx="0" cy="0"/></a:xfrm>
      </p:grpSpPr>
      <p:sp>
  <p:nvSpPr><p:cNvPr id="0" name="TB"/><p:cNvSpPr txBox="1"/><p:nvPr/></p:nvSpPr>
  <p:spPr>
    <a:xfrm><a:off x="731520" y="731520"/><a:ext cx="10698480" cy="457200"/></a:xfrm>
    <a:prstGeom prst="rect"><a:avLst/></a:prstGeom><a:noFill/>
  </p:spPr>
  <p:txBody><a:bodyPr wrap="square" rtlCol="0"/><a:lstStyle/><a:p><a:pPr algn="l"/><a:r><a:rPr lang="en-US" sz="1500" b="1" dirty="0"><a:solidFill><a:srgbClr val="E0A458"/></a:solidFill><a:latin typeface="Calibri"/></a:rPr><a:t>UKPSC HIGH COURT ARO PRELIMS 2026</a:t></a:r></a:p></p:txBody>
</p:sp><p:sp>
  <p:nvSpPr><p:cNvPr id="0" name="TB"/><p:cNvSpPr txBox="1"/><p:nvPr/></p:nvSpPr>
  <p:spPr>
    <a:xfrm><a:off x="731520" y="1371600"/><a:ext cx="10698480" cy="1828800"/></a:xfrm>
    <a:prstGeom prst="rect"><a:avLst/></a:prstGeom><a:noFill/>
  </p:spPr>
  <p:txBody><a:bodyPr wrap="square" rtlCol="0"/><a:lstStyle/><a:p><a:pPr algn="l"/><a:r><a:rPr lang="en-US" sz="3800" b="1" dirty="0"><a:solidFill><a:srgbClr val="FFFFFF"/></a:solidFill><a:latin typeface="Calibri"/></a:rPr><a:t>Complete Paper Analysis</a:t></a:r></a:p><a:p><a:pPr algn="l"/><a:r><a:rPr lang="en-US" sz="3200" b="1" dirty="0"><a:solidFill><a:srgbClr val="FFFFFF"/></a:solidFill><a:latin typeface="Calibri"/></a:rPr><a:t>& Expected Cut-Off</a:t></a:r></a:p></p:txBody>
</p:sp><p:sp>
  <p:nvSpPr><p:cNvPr id="0" name="TB"/><p:cNvSpPr txBox="1"/><p:nvPr/></p:nvSpPr>
  <p:spPr>
    <a:xfrm><a:off x="731520" y="3291840"/><a:ext cx="10058400" cy="457200"/></a:xfrm>
    <a:prstGeom prst="rect"><a:avLst/></a:prstGeom><a:noFill/>
  </p:spPr>
  <p:txBody><a:bodyPr wrap="square" rtlCol="0"/><a:lstStyle/><a:p><a:pPr algn="l"/><a:r><a:rPr lang="en-US" sz="1500" dirty="0"><a:solidFill><a:srgbClr val="C7CFDB"/></a:solidFill><a:latin typeface="Calibri"/></a:rPr><a:t>19 July 2026 | HCA Series-A | 200 Marks | Only 15 Seats</a:t></a:r></a:p></p:txBody>
</p:sp><p:sp>
  <p:nvSpPr><p:cNvPr id="0" name="B1"/><p:cNvSpPr/><p:nvPr/></p:nvSpPr>
  <p:spPr>
    <a:xfrm><a:off x="731520" y="4389120"/><a:ext cx="3200400" cy="1280160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4480560"/><a:ext cx="3017520" cy="1097280"/></a:xfrm>
    <a:prstGeom prst="rect"><a:avLst/></a:prstGeom><a:noFill/>
  </p:spPr>
  <p:txBody><a:bodyPr wrap="square" rtlCol="0"/><a:lstStyle/><a:p><a:pPr algn="ctr"/><a:r><a:rPr lang="en-US" sz="3600" b="1" dirty="0"><a:solidFill><a:srgbClr val="E0A458"/></a:solidFill><a:latin typeface="Calibri"/></a:rPr><a:t>200</a:t></a:r></a:p><a:p><a:pPr algn="ctr"/><a:r><a:rPr lang="en-US" sz="1200" dirty="0"><a:solidFill><a:srgbClr val="C7CFDB"/></a:solidFill><a:latin typeface="Calibri"/></a:rPr><a:t>Total Marks</a:t></a:r></a:p></p:txBody>
</p:sp><p:sp>
  <p:nvSpPr><p:cNvPr id="0" name="B2"/><p:cNvSpPr/><p:nvPr/></p:nvSpPr>
  <p:spPr>
    <a:xfrm><a:off x="4206240" y="4389120"/><a:ext cx="3200400" cy="1280160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4297680" y="4480560"/><a:ext cx="3017520" cy="1097280"/></a:xfrm>
    <a:prstGeom prst="rect"><a:avLst/></a:prstGeom><a:noFill/>
  </p:spPr>
  <p:txBody><a:bodyPr wrap="square" rtlCol="0"/><a:lstStyle/><a:p><a:pPr algn="ctr"/><a:r><a:rPr lang="en-US" sz="3600" b="1" dirty="0"><a:solidFill><a:srgbClr val="DC3545"/></a:solidFill><a:latin typeface="Calibri"/></a:rPr><a:t>15</a:t></a:r></a:p><a:p><a:pPr algn="ctr"/><a:r><a:rPr lang="en-US" sz="1200" dirty="0"><a:solidFill><a:srgbClr val="C7CFDB"/></a:solidFill><a:latin typeface="Calibri"/></a:rPr><a:t>Seats Only!</a:t></a:r></a:p></p:txBody>
</p:sp><p:sp>
  <p:nvSpPr><p:cNvPr id="0" name="B3"/><p:cNvSpPr/><p:nvPr/></p:nvSpPr>
  <p:spPr>
    <a:xfrm><a:off x="7680960" y="4389120"/><a:ext cx="3200400" cy="1280160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7772400" y="4480560"/><a:ext cx="3017520" cy="1097280"/></a:xfrm>
    <a:prstGeom prst="rect"><a:avLst/></a:prstGeom><a:noFill/>
  </p:spPr>
  <p:txBody><a:bodyPr wrap="square" rtlCol="0"/><a:lstStyle/><a:p><a:pPr algn="ctr"/><a:r><a:rPr lang="en-US" sz="3200" b="1" dirty="0"><a:solidFill><a:srgbClr val="E0A458"/></a:solidFill><a:latin typeface="Calibri"/></a:rPr><a:t>0.25</a:t></a:r></a:p><a:p><a:pPr algn="ctr"/><a:r><a:rPr lang="en-US" sz="1200" dirty="0"><a:solidFill><a:srgbClr val="C7CFDB"/></a:solidFill><a:latin typeface="Calibri"/></a:rPr><a:t>Negative/Wrong</a:t></a:r></a:p></p:txBody>
</p:sp><p:sp>
  <p:nvSpPr><p:cNvPr id="0" name="Warn"/><p:cNvSpPr/><p:nvPr/></p:nvSpPr>
  <p:spPr>
    <a:xfrm><a:off x="731520" y="5943600"/><a:ext cx="10698480" cy="548640"/></a:xfrm>
    <a:prstGeom prst="roundRect"><a:avLst><a:gd name="adj" fmla="val 5000"/></a:avLst></a:prstGeom>
    <a:solidFill><a:srgbClr val="DC3545"/></a:solidFill>
    <a:ln><a:noFill/></a:ln>
  </p:spPr>
  <p:txBody><a:bodyPr/><a:lstStyle/><a:p><a:endParaRPr lang="en-US"/></a:p></p:txBody>
</p:sp><p:sp>
  <p:nvSpPr><p:cNvPr id="0" name="TB"/><p:cNvSpPr txBox="1"/><p:nvPr/></p:nvSpPr>
  <p:spPr>
    <a:xfrm><a:off x="914400" y="5989320"/><a:ext cx="10332720" cy="457200"/></a:xfrm>
    <a:prstGeom prst="rect"><a:avLst/></a:prstGeom><a:noFill/>
  </p:spPr>
  <p:txBody><a:bodyPr wrap="square" rtlCol="0"/><a:lstStyle/><a:p><a:pPr algn="ctr"/><a:r><a:rPr lang="en-US" sz="1400" b="1" dirty="0"><a:solidFill><a:srgbClr val="FFFFFF"/></a:solidFill><a:latin typeface="Calibri"/></a:rPr><a:t>EXTREME COMPETITION: 15 Seats = Every Single Mark Counts!</a:t></a:r></a:p></p:txBody>
</p:sp>
    </p:spTree>
  </p:cSld>
  <p:clrMapOvr><a:masterClrMapping/>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B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2600" b="1" dirty="0">
                <a:solidFill>
                  <a:srgbClr val="16233A"/>
                </a:solidFill>
                <a:latin typeface="Calibri"/>
              </a:rPr>
              <a:t>Paper Structure — What Makes HC ARO Different</a:t>
            </a:r>
          </a:p>
        </p:txBody>
      </p:sp>
      <p:sp>
        <p:nvSpPr>
          <p:cNvPr id="0" name="TH"/>
          <p:cNvSpPr/>
          <p:nvPr/>
        </p:nvSpPr>
        <p:spPr>
          <a:xfrm>
            <a:off x="640080" y="109728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1143000"/>
            <a:ext cx="32004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Calibri"/>
              </a:rPr>
              <a:t>Factor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1143000"/>
            <a:ext cx="32004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Secretariat RO/ARO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1143000"/>
            <a:ext cx="32004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High Court ARO</a:t>
            </a:r>
          </a:p>
        </p:txBody>
      </p:sp>
      <p:sp>
        <p:nvSpPr>
          <p:cNvPr id="0" name="R0"/>
          <p:cNvSpPr/>
          <p:nvPr/>
        </p:nvSpPr>
        <p:spPr>
          <a:xfrm>
            <a:off x="640080" y="169164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173736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2A2A2A"/>
                </a:solidFill>
                <a:latin typeface="Calibri"/>
              </a:rPr>
              <a:t>Total Marks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173736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6B7280"/>
                </a:solidFill>
                <a:latin typeface="Calibri"/>
              </a:rPr>
              <a:t>150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173736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200</a:t>
            </a:r>
          </a:p>
        </p:txBody>
      </p:sp>
      <p:sp>
        <p:nvSpPr>
          <p:cNvPr id="0" name="R1"/>
          <p:cNvSpPr/>
          <p:nvPr/>
        </p:nvSpPr>
        <p:spPr>
          <a:xfrm>
            <a:off x="640080" y="224028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F7F5F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228600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2A2A2A"/>
                </a:solidFill>
                <a:latin typeface="Calibri"/>
              </a:rPr>
              <a:t>Questions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228600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6B7280"/>
                </a:solidFill>
                <a:latin typeface="Calibri"/>
              </a:rPr>
              <a:t>150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228600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200</a:t>
            </a:r>
          </a:p>
        </p:txBody>
      </p:sp>
      <p:sp>
        <p:nvSpPr>
          <p:cNvPr id="0" name="R2"/>
          <p:cNvSpPr/>
          <p:nvPr/>
        </p:nvSpPr>
        <p:spPr>
          <a:xfrm>
            <a:off x="640080" y="278892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283464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2A2A2A"/>
                </a:solidFill>
                <a:latin typeface="Calibri"/>
              </a:rPr>
              <a:t>Negative Marking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283464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6B7280"/>
                </a:solidFill>
                <a:latin typeface="Calibri"/>
              </a:rPr>
              <a:t>1/4 (0.25)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283464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1/4 (0.25)</a:t>
            </a:r>
          </a:p>
        </p:txBody>
      </p:sp>
      <p:sp>
        <p:nvSpPr>
          <p:cNvPr id="0" name="R3"/>
          <p:cNvSpPr/>
          <p:nvPr/>
        </p:nvSpPr>
        <p:spPr>
          <a:xfrm>
            <a:off x="640080" y="333756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F7F5F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338328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2A2A2A"/>
                </a:solidFill>
                <a:latin typeface="Calibri"/>
              </a:rPr>
              <a:t>Seats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338328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6B7280"/>
                </a:solidFill>
                <a:latin typeface="Calibri"/>
              </a:rPr>
              <a:t>137+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338328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DC3545"/>
                </a:solidFill>
                <a:latin typeface="Calibri"/>
              </a:rPr>
              <a:t>ONLY 15!</a:t>
            </a:r>
          </a:p>
        </p:txBody>
      </p:sp>
      <p:sp>
        <p:nvSpPr>
          <p:cNvPr id="0" name="R4"/>
          <p:cNvSpPr/>
          <p:nvPr/>
        </p:nvSpPr>
        <p:spPr>
          <a:xfrm>
            <a:off x="640080" y="388620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393192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2A2A2A"/>
                </a:solidFill>
                <a:latin typeface="Calibri"/>
              </a:rPr>
              <a:t>Legal Section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393192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6B7280"/>
                </a:solidFill>
                <a:latin typeface="Calibri"/>
              </a:rPr>
              <a:t>None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393192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DC3545"/>
                </a:solidFill>
                <a:latin typeface="Calibri"/>
              </a:rPr>
              <a:t>20+ Questions!</a:t>
            </a:r>
          </a:p>
        </p:txBody>
      </p:sp>
      <p:sp>
        <p:nvSpPr>
          <p:cNvPr id="0" name="R5"/>
          <p:cNvSpPr/>
          <p:nvPr/>
        </p:nvSpPr>
        <p:spPr>
          <a:xfrm>
            <a:off x="640080" y="443484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F7F5F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448056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2A2A2A"/>
                </a:solidFill>
                <a:latin typeface="Calibri"/>
              </a:rPr>
              <a:t>Duration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448056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6B7280"/>
                </a:solidFill>
                <a:latin typeface="Calibri"/>
              </a:rPr>
              <a:t>2 Hours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448056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2 Hours</a:t>
            </a:r>
          </a:p>
        </p:txBody>
      </p:sp>
      <p:sp>
        <p:nvSpPr>
          <p:cNvPr id="0" name="R6"/>
          <p:cNvSpPr/>
          <p:nvPr/>
        </p:nvSpPr>
        <p:spPr>
          <a:xfrm>
            <a:off x="640080" y="4983479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5029199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b="1" dirty="0">
                <a:solidFill>
                  <a:srgbClr val="2A2A2A"/>
                </a:solidFill>
                <a:latin typeface="Calibri"/>
              </a:rPr>
              <a:t>Cut-off (Gen)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5029199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6B7280"/>
                </a:solidFill>
                <a:latin typeface="Calibri"/>
              </a:rPr>
              <a:t>~97-98 (65%)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5029199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138-144 (70%)</a:t>
            </a:r>
          </a:p>
        </p:txBody>
      </p:sp>
      <p:sp>
        <p:nvSpPr>
          <p:cNvPr id="0" name="Ins"/>
          <p:cNvSpPr/>
          <p:nvPr/>
        </p:nvSpPr>
        <p:spPr>
          <a:xfrm>
            <a:off x="640080" y="5669280"/>
            <a:ext cx="10698480" cy="73152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914400" y="5760720"/>
            <a:ext cx="1024128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Key Insight: 200 marks + 15 seats = 9x more competitive than Secretariat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B"/>
          <p:cNvSpPr txBox="1"/>
          <p:nvPr/>
        </p:nvSpPr>
        <p:spPr>
          <a:xfrm>
            <a:off x="640080" y="274320"/>
            <a:ext cx="109728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/>
              </a:rPr>
              <a:t>Legal Maxims — The FILTER Section</a:t>
            </a:r>
          </a:p>
        </p:txBody>
      </p:sp>
      <p:sp>
        <p:nvSpPr>
          <p:cNvPr id="0" name="TB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300" dirty="0">
                <a:solidFill>
                  <a:srgbClr val="C7CFDB"/>
                </a:solidFill>
                <a:latin typeface="Calibri"/>
              </a:rPr>
              <a:t>Q35-Q54: 20+ Questions from Legal Terminology</a:t>
            </a:r>
          </a:p>
        </p:txBody>
      </p:sp>
      <p:sp>
        <p:nvSpPr>
          <p:cNvPr id="0" name="M0"/>
          <p:cNvSpPr/>
          <p:nvPr/>
        </p:nvSpPr>
        <p:spPr>
          <a:xfrm>
            <a:off x="640080" y="1371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1463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Res Judicata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Matter already decided by court</a:t>
            </a:r>
          </a:p>
        </p:txBody>
      </p:sp>
      <p:sp>
        <p:nvSpPr>
          <p:cNvPr id="0" name="M1"/>
          <p:cNvSpPr/>
          <p:nvPr/>
        </p:nvSpPr>
        <p:spPr>
          <a:xfrm>
            <a:off x="6309360" y="1371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492240" y="1463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Audi Alteram Partem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Hear the other side (Natural Justice)</a:t>
            </a:r>
          </a:p>
        </p:txBody>
      </p:sp>
      <p:sp>
        <p:nvSpPr>
          <p:cNvPr id="0" name="M2"/>
          <p:cNvSpPr/>
          <p:nvPr/>
        </p:nvSpPr>
        <p:spPr>
          <a:xfrm>
            <a:off x="640080" y="2514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2606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Ubi Jus Ibi Remedium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Where there is a right, there is a remedy</a:t>
            </a:r>
          </a:p>
        </p:txBody>
      </p:sp>
      <p:sp>
        <p:nvSpPr>
          <p:cNvPr id="0" name="M3"/>
          <p:cNvSpPr/>
          <p:nvPr/>
        </p:nvSpPr>
        <p:spPr>
          <a:xfrm>
            <a:off x="6309360" y="2514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492240" y="2606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Res Ipsa Loquitur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The thing speaks for itself</a:t>
            </a:r>
          </a:p>
        </p:txBody>
      </p:sp>
      <p:sp>
        <p:nvSpPr>
          <p:cNvPr id="0" name="M4"/>
          <p:cNvSpPr/>
          <p:nvPr/>
        </p:nvSpPr>
        <p:spPr>
          <a:xfrm>
            <a:off x="640080" y="3657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3749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Volenti Non Fit Injuria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Consent = No injury claim</a:t>
            </a:r>
          </a:p>
        </p:txBody>
      </p:sp>
      <p:sp>
        <p:nvSpPr>
          <p:cNvPr id="0" name="M5"/>
          <p:cNvSpPr/>
          <p:nvPr/>
        </p:nvSpPr>
        <p:spPr>
          <a:xfrm>
            <a:off x="6309360" y="3657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492240" y="3749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Mandamus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We Command (Constitutional Writ)</a:t>
            </a:r>
          </a:p>
        </p:txBody>
      </p:sp>
      <p:sp>
        <p:nvSpPr>
          <p:cNvPr id="0" name="M6"/>
          <p:cNvSpPr/>
          <p:nvPr/>
        </p:nvSpPr>
        <p:spPr>
          <a:xfrm>
            <a:off x="640080" y="4800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4892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De Jure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By law / Legally recognized</a:t>
            </a:r>
          </a:p>
        </p:txBody>
      </p:sp>
      <p:sp>
        <p:nvSpPr>
          <p:cNvPr id="0" name="M7"/>
          <p:cNvSpPr/>
          <p:nvPr/>
        </p:nvSpPr>
        <p:spPr>
          <a:xfrm>
            <a:off x="6309360" y="4800600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492240" y="4892040"/>
            <a:ext cx="5029200" cy="8229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E0A458"/>
                </a:solidFill>
                <a:latin typeface="Calibri"/>
              </a:rPr>
              <a:t>Inter Alia</a:t>
            </a:r>
          </a:p>
          <a:p>
            <a:pPr algn="l"/>
            <a:r>
              <a:rPr lang="en-US" sz="1100" dirty="0">
                <a:solidFill>
                  <a:srgbClr val="C7CFDB"/>
                </a:solidFill>
                <a:latin typeface="Calibri"/>
              </a:rPr>
              <a:t>Among other things</a:t>
            </a:r>
          </a:p>
        </p:txBody>
      </p:sp>
      <p:sp>
        <p:nvSpPr>
          <p:cNvPr id="0" name="Law"/>
          <p:cNvSpPr/>
          <p:nvPr/>
        </p:nvSpPr>
        <p:spPr>
          <a:xfrm>
            <a:off x="640080" y="5486400"/>
            <a:ext cx="5029200" cy="914400"/>
          </a:xfrm>
          <a:prstGeom prst="roundRect">
            <a:avLst>
              <a:gd name="adj" fmla="val 5000"/>
            </a:avLst>
          </a:prstGeom>
          <a:solidFill>
            <a:srgbClr val="3F7D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5577840"/>
            <a:ext cx="4663440" cy="73152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Law Student: 8-9/10 Correct</a:t>
            </a:r>
          </a:p>
          <a:p>
            <a:pPr algn="ctr"/>
            <a:r>
              <a:rPr lang="en-US" sz="1100" dirty="0">
                <a:solidFill>
                  <a:srgbClr val="FFFFFF"/>
                </a:solidFill>
                <a:latin typeface="Calibri"/>
              </a:rPr>
              <a:t>= FREE MARKS</a:t>
            </a:r>
          </a:p>
        </p:txBody>
      </p:sp>
      <p:sp>
        <p:nvSpPr>
          <p:cNvPr id="0" name="Gen"/>
          <p:cNvSpPr/>
          <p:nvPr/>
        </p:nvSpPr>
        <p:spPr>
          <a:xfrm>
            <a:off x="5943600" y="5486400"/>
            <a:ext cx="5394960" cy="914400"/>
          </a:xfrm>
          <a:prstGeom prst="roundRect">
            <a:avLst>
              <a:gd name="adj" fmla="val 5000"/>
            </a:avLst>
          </a:prstGeom>
          <a:solidFill>
            <a:srgbClr val="DC354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126480" y="5577840"/>
            <a:ext cx="5029200" cy="73152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General Aspirant: 4-5/10 Correct</a:t>
            </a:r>
          </a:p>
          <a:p>
            <a:pPr algn="ctr"/>
            <a:r>
              <a:rPr lang="en-US" sz="1100" dirty="0">
                <a:solidFill>
                  <a:srgbClr val="FFFFFF"/>
                </a:solidFill>
                <a:latin typeface="Calibri"/>
              </a:rPr>
              <a:t>= 4-5 MARKS GAP from 1 section!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B"/>
          <p:cNvSpPr txBox="1"/>
          <p:nvPr/>
        </p:nvSpPr>
        <p:spPr>
          <a:xfrm>
            <a:off x="640080" y="274320"/>
            <a:ext cx="109728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2500" b="1" dirty="0">
                <a:solidFill>
                  <a:srgbClr val="16233A"/>
                </a:solidFill>
                <a:latin typeface="Calibri"/>
              </a:rPr>
              <a:t>Questions Jo AAPKE Exam Mein Bhi Aayenge!</a:t>
            </a:r>
          </a:p>
        </p:txBody>
      </p:sp>
      <p:sp>
        <p:nvSpPr>
          <p:cNvPr id="0" name="TB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300" dirty="0">
                <a:solidFill>
                  <a:srgbClr val="6B7280"/>
                </a:solidFill>
                <a:latin typeface="Calibri"/>
              </a:rPr>
              <a:t>Secretariat RO/ARO | Lower PCS | UKSSSC — Sab ke liye relevant</a:t>
            </a:r>
          </a:p>
        </p:txBody>
      </p:sp>
      <p:sp>
        <p:nvSpPr>
          <p:cNvPr id="0" name="F0"/>
          <p:cNvSpPr/>
          <p:nvPr/>
        </p:nvSpPr>
        <p:spPr>
          <a:xfrm>
            <a:off x="640080" y="13716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1508760"/>
            <a:ext cx="3108960" cy="173736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6B7280"/>
                </a:solidFill>
                <a:latin typeface="Calibri"/>
              </a:rPr>
              <a:t>UK Budget 2026-27</a:t>
            </a:r>
          </a:p>
          <a:p>
            <a:pPr algn="ctr"/>
            <a:r>
              <a:rPr lang="en-US" sz="1800" b="1" dirty="0">
                <a:solidFill>
                  <a:srgbClr val="16233A"/>
                </a:solidFill>
                <a:latin typeface="Calibri"/>
              </a:rPr>
              <a:t>Rs. 1,11,703.21 Crore</a:t>
            </a:r>
          </a:p>
          <a:p>
            <a:pPr algn="ctr"/>
            <a:r>
              <a:rPr lang="en-US" sz="400" dirty="0">
                <a:solidFill>
                  <a:srgbClr val="16233A"/>
                </a:solidFill>
                <a:latin typeface="Calibri"/>
              </a:rPr>
              <a:t/>
            </a:r>
          </a:p>
          <a:p>
            <a:pPr algn="ctr"/>
            <a:r>
              <a:rPr lang="en-US" sz="1000" dirty="0">
                <a:solidFill>
                  <a:srgbClr val="3F7D58"/>
                </a:solidFill>
                <a:latin typeface="Calibri"/>
              </a:rPr>
              <a:t>GUARANTEED aayega!</a:t>
            </a:r>
          </a:p>
        </p:txBody>
      </p:sp>
      <p:sp>
        <p:nvSpPr>
          <p:cNvPr id="0" name="F1"/>
          <p:cNvSpPr/>
          <p:nvPr/>
        </p:nvSpPr>
        <p:spPr>
          <a:xfrm>
            <a:off x="4389120" y="13716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4572000" y="1508760"/>
            <a:ext cx="3108960" cy="173736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6B7280"/>
                </a:solidFill>
                <a:latin typeface="Calibri"/>
              </a:rPr>
              <a:t>UCC Act 2024 — Women Age</a:t>
            </a:r>
          </a:p>
          <a:p>
            <a:pPr algn="ctr"/>
            <a:r>
              <a:rPr lang="en-US" sz="1800" b="1" dirty="0">
                <a:solidFill>
                  <a:srgbClr val="16233A"/>
                </a:solidFill>
                <a:latin typeface="Calibri"/>
              </a:rPr>
              <a:t>18 Years</a:t>
            </a:r>
          </a:p>
          <a:p>
            <a:pPr algn="ctr"/>
            <a:r>
              <a:rPr lang="en-US" sz="400" dirty="0">
                <a:solidFill>
                  <a:srgbClr val="16233A"/>
                </a:solidFill>
                <a:latin typeface="Calibri"/>
              </a:rPr>
              <a:t/>
            </a:r>
          </a:p>
          <a:p>
            <a:pPr algn="ctr"/>
            <a:r>
              <a:rPr lang="en-US" sz="1000" dirty="0">
                <a:solidFill>
                  <a:srgbClr val="3F7D58"/>
                </a:solidFill>
                <a:latin typeface="Calibri"/>
              </a:rPr>
              <a:t>Marriage minimum</a:t>
            </a:r>
          </a:p>
        </p:txBody>
      </p:sp>
      <p:sp>
        <p:nvSpPr>
          <p:cNvPr id="0" name="F2"/>
          <p:cNvSpPr/>
          <p:nvPr/>
        </p:nvSpPr>
        <p:spPr>
          <a:xfrm>
            <a:off x="8138159" y="13716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321039" y="1508760"/>
            <a:ext cx="3108960" cy="173736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6B7280"/>
                </a:solidFill>
                <a:latin typeface="Calibri"/>
              </a:rPr>
              <a:t>UCC Act 2024 — Men Age</a:t>
            </a:r>
          </a:p>
          <a:p>
            <a:pPr algn="ctr"/>
            <a:r>
              <a:rPr lang="en-US" sz="1800" b="1" dirty="0">
                <a:solidFill>
                  <a:srgbClr val="16233A"/>
                </a:solidFill>
                <a:latin typeface="Calibri"/>
              </a:rPr>
              <a:t>21 Years</a:t>
            </a:r>
          </a:p>
          <a:p>
            <a:pPr algn="ctr"/>
            <a:r>
              <a:rPr lang="en-US" sz="400" dirty="0">
                <a:solidFill>
                  <a:srgbClr val="16233A"/>
                </a:solidFill>
                <a:latin typeface="Calibri"/>
              </a:rPr>
              <a:t/>
            </a:r>
          </a:p>
          <a:p>
            <a:pPr algn="ctr"/>
            <a:r>
              <a:rPr lang="en-US" sz="1000" dirty="0">
                <a:solidFill>
                  <a:srgbClr val="3F7D58"/>
                </a:solidFill>
                <a:latin typeface="Calibri"/>
              </a:rPr>
              <a:t>Marriage minimum</a:t>
            </a:r>
          </a:p>
        </p:txBody>
      </p:sp>
      <p:sp>
        <p:nvSpPr>
          <p:cNvPr id="0" name="F3"/>
          <p:cNvSpPr/>
          <p:nvPr/>
        </p:nvSpPr>
        <p:spPr>
          <a:xfrm>
            <a:off x="640080" y="36576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3794760"/>
            <a:ext cx="3108960" cy="173736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6B7280"/>
                </a:solidFill>
                <a:latin typeface="Calibri"/>
              </a:rPr>
              <a:t>Live-in Registration</a:t>
            </a:r>
          </a:p>
          <a:p>
            <a:pPr algn="ctr"/>
            <a:r>
              <a:rPr lang="en-US" sz="1800" b="1" dirty="0">
                <a:solidFill>
                  <a:srgbClr val="16233A"/>
                </a:solidFill>
                <a:latin typeface="Calibri"/>
              </a:rPr>
              <a:t>60 Days ke andar</a:t>
            </a:r>
          </a:p>
          <a:p>
            <a:pPr algn="ctr"/>
            <a:r>
              <a:rPr lang="en-US" sz="400" dirty="0">
                <a:solidFill>
                  <a:srgbClr val="16233A"/>
                </a:solidFill>
                <a:latin typeface="Calibri"/>
              </a:rPr>
              <a:t/>
            </a:r>
          </a:p>
          <a:p>
            <a:pPr algn="ctr"/>
            <a:r>
              <a:rPr lang="en-US" sz="1000" dirty="0">
                <a:solidFill>
                  <a:srgbClr val="3F7D58"/>
                </a:solidFill>
                <a:latin typeface="Calibri"/>
              </a:rPr>
              <a:t>Mandatory!</a:t>
            </a:r>
          </a:p>
        </p:txBody>
      </p:sp>
      <p:sp>
        <p:nvSpPr>
          <p:cNvPr id="0" name="F4"/>
          <p:cNvSpPr/>
          <p:nvPr/>
        </p:nvSpPr>
        <p:spPr>
          <a:xfrm>
            <a:off x="4389120" y="36576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4572000" y="3794760"/>
            <a:ext cx="3108960" cy="173736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6B7280"/>
                </a:solidFill>
                <a:latin typeface="Calibri"/>
              </a:rPr>
              <a:t>39th National Games</a:t>
            </a:r>
          </a:p>
          <a:p>
            <a:pPr algn="ctr"/>
            <a:r>
              <a:rPr lang="en-US" sz="1800" b="1" dirty="0">
                <a:solidFill>
                  <a:srgbClr val="16233A"/>
                </a:solidFill>
                <a:latin typeface="Calibri"/>
              </a:rPr>
              <a:t>UTTARAKHAND</a:t>
            </a:r>
          </a:p>
          <a:p>
            <a:pPr algn="ctr"/>
            <a:r>
              <a:rPr lang="en-US" sz="400" dirty="0">
                <a:solidFill>
                  <a:srgbClr val="16233A"/>
                </a:solidFill>
                <a:latin typeface="Calibri"/>
              </a:rPr>
              <a:t/>
            </a:r>
          </a:p>
          <a:p>
            <a:pPr algn="ctr"/>
            <a:r>
              <a:rPr lang="en-US" sz="1000" dirty="0">
                <a:solidFill>
                  <a:srgbClr val="3F7D58"/>
                </a:solidFill>
                <a:latin typeface="Calibri"/>
              </a:rPr>
              <a:t>100% pucha jayega</a:t>
            </a:r>
          </a:p>
        </p:txBody>
      </p:sp>
      <p:sp>
        <p:nvSpPr>
          <p:cNvPr id="0" name="F5"/>
          <p:cNvSpPr/>
          <p:nvPr/>
        </p:nvSpPr>
        <p:spPr>
          <a:xfrm>
            <a:off x="8138159" y="36576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321039" y="3794760"/>
            <a:ext cx="3108960" cy="173736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6B7280"/>
                </a:solidFill>
                <a:latin typeface="Calibri"/>
              </a:rPr>
              <a:t>Nobel Peace 2025</a:t>
            </a:r>
          </a:p>
          <a:p>
            <a:pPr algn="ctr"/>
            <a:r>
              <a:rPr lang="en-US" sz="1800" b="1" dirty="0">
                <a:solidFill>
                  <a:srgbClr val="16233A"/>
                </a:solidFill>
                <a:latin typeface="Calibri"/>
              </a:rPr>
              <a:t>Nihon Hidankyo (Japan)</a:t>
            </a:r>
          </a:p>
          <a:p>
            <a:pPr algn="ctr"/>
            <a:r>
              <a:rPr lang="en-US" sz="400" dirty="0">
                <a:solidFill>
                  <a:srgbClr val="16233A"/>
                </a:solidFill>
                <a:latin typeface="Calibri"/>
              </a:rPr>
              <a:t/>
            </a:r>
          </a:p>
          <a:p>
            <a:pPr algn="ctr"/>
            <a:r>
              <a:rPr lang="en-US" sz="1000" dirty="0">
                <a:solidFill>
                  <a:srgbClr val="3F7D58"/>
                </a:solidFill>
                <a:latin typeface="Calibri"/>
              </a:rPr>
              <a:t>Fresh current affairs</a:t>
            </a:r>
          </a:p>
        </p:txBody>
      </p:sp>
      <p:sp>
        <p:nvSpPr>
          <p:cNvPr id="0" name="Bot"/>
          <p:cNvSpPr/>
          <p:nvPr/>
        </p:nvSpPr>
        <p:spPr>
          <a:xfrm>
            <a:off x="640080" y="5760720"/>
            <a:ext cx="10698480" cy="64008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914400" y="5852160"/>
            <a:ext cx="102412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400" b="1" dirty="0">
                <a:solidFill>
                  <a:srgbClr val="E0A458"/>
                </a:solidFill>
                <a:latin typeface="Calibri"/>
              </a:rPr>
              <a:t>NOTE KARO: Ye sab upcoming UKPSC exams mein repeat honge!</a:t>
            </a:r>
          </a:p>
        </p:txBody>
      </p:sp>
    </p:spTree>
  </p:cSld>
  <p:clrMapOvr>
    <a:masterClrMapping/>
  </p:clrMapOvr>
</p:sld>
</file>

<file path=ppt/slides/slide5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<p:bgPr><a:solidFill><a:srgbClr val="16233A"/></a:solidFill><a:effectLst/></p:bgPr></p:bg>
    <p:spTree>
      <p:nvGrpSpPr><p:cNvPr id="1" name=""/><p:cNvGrpSpPr/><p:nvPr/></p:nvGrpSpPr>
      <p:grpSpPr>
        <a:xfrm><a:off x="0" y="0"/><a:ext cx="0" cy="0"/><a:chOff x="0" y="0"/><a:chExt cx="0" cy="0"/></a:xfrm>
      </p:grpSpPr>
      <p:sp>
  <p:nvSpPr><p:cNvPr id="0" name="TB"/><p:cNvSpPr txBox="1"/><p:nvPr/></p:nvSpPr>
  <p:spPr>
    <a:xfrm><a:off x="640080" y="274320"/><a:ext cx="10972800" cy="548640"/></a:xfrm>
    <a:prstGeom prst="rect"><a:avLst/></a:prstGeom><a:noFill/>
  </p:spPr>
  <p:txBody><a:bodyPr wrap="square" rtlCol="0"/><a:lstStyle/><a:p><a:pPr algn="l"/><a:r><a:rPr lang="en-US" sz="2500" b="1" dirty="0"><a:solidFill><a:srgbClr val="FFFFFF"/></a:solidFill><a:latin typeface="Calibri"/></a:rPr><a:t>Current Affairs — Answer Key Highlights</a:t></a:r></a:p></p:txBody>
</p:sp><p:sp>
  <p:nvSpPr><p:cNvPr id="0" name="TB"/><p:cNvSpPr txBox="1"/><p:nvPr/></p:nvSpPr>
  <p:spPr>
    <a:xfrm><a:off x="640080" y="731520"/><a:ext cx="10972800" cy="365760"/></a:xfrm>
    <a:prstGeom prst="rect"><a:avLst/></a:prstGeom><a:noFill/>
  </p:spPr>
  <p:txBody><a:bodyPr wrap="square" rtlCol="0"/><a:lstStyle/><a:p><a:pPr algn="l"/><a:r><a:rPr lang="en-US" sz="1300" dirty="0"><a:solidFill><a:srgbClr val="C7CFDB"/></a:solidFill><a:latin typeface="Calibri"/></a:rPr><a:t>Q177-Q195: National & International Current Affairs</a:t></a:r></a:p></p:txBody>
</p:sp><p:sp>
  <p:nvSpPr><p:cNvPr id="0" name="CH"/><p:cNvSpPr/><p:nvPr/></p:nvSpPr>
  <p:spPr>
    <a:xfrm><a:off x="640080" y="1188720"/><a:ext cx="10698480" cy="457200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1216152"/><a:ext cx="1371600" cy="411480"/></a:xfrm>
    <a:prstGeom prst="rect"><a:avLst/></a:prstGeom><a:noFill/>
  </p:spPr>
  <p:txBody><a:bodyPr wrap="square" rtlCol="0"/><a:lstStyle/><a:p><a:pPr algn="l"/><a:r><a:rPr lang="en-US" sz="1100" b="1" dirty="0"><a:solidFill><a:srgbClr val="FFFFFF"/></a:solidFill><a:latin typeface="Calibri"/></a:rPr><a:t>Q#</a:t></a:r></a:p></p:txBody>
</p:sp><p:sp>
  <p:nvSpPr><p:cNvPr id="0" name="TB"/><p:cNvSpPr txBox="1"/><p:nvPr/></p:nvSpPr>
  <p:spPr>
    <a:xfrm><a:off x="2286000" y="1216152"/><a:ext cx="4572000" cy="411480"/></a:xfrm>
    <a:prstGeom prst="rect"><a:avLst/></a:prstGeom><a:noFill/>
  </p:spPr>
  <p:txBody><a:bodyPr wrap="square" rtlCol="0"/><a:lstStyle/><a:p><a:pPr algn="l"/><a:r><a:rPr lang="en-US" sz="1100" b="1" dirty="0"><a:solidFill><a:srgbClr val="FFFFFF"/></a:solidFill><a:latin typeface="Calibri"/></a:rPr><a:t>Topic</a:t></a:r></a:p></p:txBody>
</p:sp><p:sp>
  <p:nvSpPr><p:cNvPr id="0" name="TB"/><p:cNvSpPr txBox="1"/><p:nvPr/></p:nvSpPr>
  <p:spPr>
    <a:xfrm><a:off x="7315200" y="1216152"/><a:ext cx="3840480" cy="411480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Answer</a:t></a:r></a:p></p:txBody>
</p:sp><p:sp>
  <p:nvSpPr><p:cNvPr id="0" name="CA0"/><p:cNvSpPr/><p:nvPr/></p:nvSpPr>
  <p:spPr>
    <a:xfrm><a:off x="640080" y="1737360"/><a:ext cx="10698480" cy="438912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1764792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Q178</a:t></a:r></a:p></p:txBody>
</p:sp><p:sp>
  <p:nvSpPr><p:cNvPr id="0" name="TB"/><p:cNvSpPr txBox="1"/><p:nvPr/></p:nvSpPr>
  <p:spPr>
    <a:xfrm><a:off x="2286000" y="1764792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WEF Davos 2026 Theme</a:t></a:r></a:p></p:txBody>
</p:sp><p:sp>
  <p:nvSpPr><p:cNvPr id="0" name="TB"/><p:cNvSpPr txBox="1"/><p:nvPr/></p:nvSpPr>
  <p:spPr>
    <a:xfrm><a:off x="7315200" y="1764792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Cooperation in a Fragmented World</a:t></a:r></a:p></p:txBody>
</p:sp><p:sp>
  <p:nvSpPr><p:cNvPr id="0" name="CA1"/><p:cNvSpPr/><p:nvPr/></p:nvSpPr>
  <p:spPr>
    <a:xfrm><a:off x="640080" y="2212848"/><a:ext cx="10698480" cy="438912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2240280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Q179</a:t></a:r></a:p></p:txBody>
</p:sp><p:sp>
  <p:nvSpPr><p:cNvPr id="0" name="TB"/><p:cNvSpPr txBox="1"/><p:nvPr/></p:nvSpPr>
  <p:spPr>
    <a:xfrm><a:off x="2286000" y="2240280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EU Council President</a:t></a:r></a:p></p:txBody>
</p:sp><p:sp>
  <p:nvSpPr><p:cNvPr id="0" name="TB"/><p:cNvSpPr txBox="1"/><p:nvPr/></p:nvSpPr>
  <p:spPr>
    <a:xfrm><a:off x="7315200" y="2240280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Antonio Costa</a:t></a:r></a:p></p:txBody>
</p:sp><p:sp>
  <p:nvSpPr><p:cNvPr id="0" name="CA2"/><p:cNvSpPr/><p:nvPr/></p:nvSpPr>
  <p:spPr>
    <a:xfrm><a:off x="640080" y="2688336"/><a:ext cx="10698480" cy="438912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2715768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Q181</a:t></a:r></a:p></p:txBody>
</p:sp><p:sp>
  <p:nvSpPr><p:cNvPr id="0" name="TB"/><p:cNvSpPr txBox="1"/><p:nvPr/></p:nvSpPr>
  <p:spPr>
    <a:xfrm><a:off x="2286000" y="2715768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Nobel Peace Prize 2025</a:t></a:r></a:p></p:txBody>
</p:sp><p:sp>
  <p:nvSpPr><p:cNvPr id="0" name="TB"/><p:cNvSpPr txBox="1"/><p:nvPr/></p:nvSpPr>
  <p:spPr>
    <a:xfrm><a:off x="7315200" y="2715768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Nihon Hidankyo</a:t></a:r></a:p></p:txBody>
</p:sp><p:sp>
  <p:nvSpPr><p:cNvPr id="0" name="CA3"/><p:cNvSpPr/><p:nvPr/></p:nvSpPr>
  <p:spPr>
    <a:xfrm><a:off x="640080" y="3163824"/><a:ext cx="10698480" cy="438912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3191256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Q183</a:t></a:r></a:p></p:txBody>
</p:sp><p:sp>
  <p:nvSpPr><p:cNvPr id="0" name="TB"/><p:cNvSpPr txBox="1"/><p:nvPr/></p:nvSpPr>
  <p:spPr>
    <a:xfrm><a:off x="2286000" y="3191256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IOAA 2026 Host</a:t></a:r></a:p></p:txBody>
</p:sp><p:sp>
  <p:nvSpPr><p:cNvPr id="0" name="TB"/><p:cNvSpPr txBox="1"/><p:nvPr/></p:nvSpPr>
  <p:spPr>
    <a:xfrm><a:off x="7315200" y="3191256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Mumbai, India</a:t></a:r></a:p></p:txBody>
</p:sp><p:sp>
  <p:nvSpPr><p:cNvPr id="0" name="CA4"/><p:cNvSpPr/><p:nvPr/></p:nvSpPr>
  <p:spPr>
    <a:xfrm><a:off x="640080" y="3639312"/><a:ext cx="10698480" cy="438912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3666744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Q184</a:t></a:r></a:p></p:txBody>
</p:sp><p:sp>
  <p:nvSpPr><p:cNvPr id="0" name="TB"/><p:cNvSpPr txBox="1"/><p:nvPr/></p:nvSpPr>
  <p:spPr>
    <a:xfrm><a:off x="2286000" y="3666744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Sri Lanka PM</a:t></a:r></a:p></p:txBody>
</p:sp><p:sp>
  <p:nvSpPr><p:cNvPr id="0" name="TB"/><p:cNvSpPr txBox="1"/><p:nvPr/></p:nvSpPr>
  <p:spPr>
    <a:xfrm><a:off x="7315200" y="3666744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Harini Amarasuriya</a:t></a:r></a:p></p:txBody>
</p:sp><p:sp>
  <p:nvSpPr><p:cNvPr id="0" name="CA5"/><p:cNvSpPr/><p:nvPr/></p:nvSpPr>
  <p:spPr>
    <a:xfrm><a:off x="640080" y="4114800"/><a:ext cx="10698480" cy="438912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4142232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Q186</a:t></a:r></a:p></p:txBody>
</p:sp><p:sp>
  <p:nvSpPr><p:cNvPr id="0" name="TB"/><p:cNvSpPr txBox="1"/><p:nvPr/></p:nvSpPr>
  <p:spPr>
    <a:xfrm><a:off x="2286000" y="4142232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IWD 2026 Theme</a:t></a:r></a:p></p:txBody>
</p:sp><p:sp>
  <p:nvSpPr><p:cNvPr id="0" name="TB"/><p:cNvSpPr txBox="1"/><p:nvPr/></p:nvSpPr>
  <p:spPr>
    <a:xfrm><a:off x="7315200" y="4142232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Rights, Justice & Action</a:t></a:r></a:p></p:txBody>
</p:sp><p:sp>
  <p:nvSpPr><p:cNvPr id="0" name="CA6"/><p:cNvSpPr/><p:nvPr/></p:nvSpPr>
  <p:spPr>
    <a:xfrm><a:off x="640080" y="4590288"/><a:ext cx="10698480" cy="438912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4617720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Q189</a:t></a:r></a:p></p:txBody>
</p:sp><p:sp>
  <p:nvSpPr><p:cNvPr id="0" name="TB"/><p:cNvSpPr txBox="1"/><p:nvPr/></p:nvSpPr>
  <p:spPr>
    <a:xfrm><a:off x="2286000" y="4617720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1971 War Film (Jan 2026)</a:t></a:r></a:p></p:txBody>
</p:sp><p:sp>
  <p:nvSpPr><p:cNvPr id="0" name="TB"/><p:cNvSpPr txBox="1"/><p:nvPr/></p:nvSpPr>
  <p:spPr>
    <a:xfrm><a:off x="7315200" y="4617720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Ikkees (Arun Khetarpal)</a:t></a:r></a:p></p:txBody>
</p:sp><p:sp>
  <p:nvSpPr><p:cNvPr id="0" name="CA7"/><p:cNvSpPr/><p:nvPr/></p:nvSpPr>
  <p:spPr>
    <a:xfrm><a:off x="640080" y="5065776"/><a:ext cx="10698480" cy="438912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5093208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Q192</a:t></a:r></a:p></p:txBody>
</p:sp><p:sp>
  <p:nvSpPr><p:cNvPr id="0" name="TB"/><p:cNvSpPr txBox="1"/><p:nvPr/></p:nvSpPr>
  <p:spPr>
    <a:xfrm><a:off x="2286000" y="5093208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Indian Fighter Jet 25th Anniv.</a:t></a:r></a:p></p:txBody>
</p:sp><p:sp>
  <p:nvSpPr><p:cNvPr id="0" name="TB"/><p:cNvSpPr txBox="1"/><p:nvPr/></p:nvSpPr>
  <p:spPr>
    <a:xfrm><a:off x="7315200" y="5093208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Tejas</a:t></a:r></a:p></p:txBody>
</p:sp><p:sp>
  <p:nvSpPr><p:cNvPr id="0" name="CA8"/><p:cNvSpPr/><p:nvPr/></p:nvSpPr>
  <p:spPr>
    <a:xfrm><a:off x="640080" y="5541264"/><a:ext cx="10698480" cy="438912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5568696"/><a:ext cx="1371600" cy="384048"/></a:xfrm>
    <a:prstGeom prst="rect"><a:avLst/></a:prstGeom><a:noFill/>
  </p:spPr>
  <p:txBody><a:bodyPr wrap="square" rtlCol="0"/><a:lstStyle/><a:p><a:pPr algn="l"/><a:r><a:rPr lang="en-US" sz="1100" dirty="0"><a:solidFill><a:srgbClr val="C7CFDB"/></a:solidFill><a:latin typeface="Calibri"/></a:rPr><a:t>Q193</a:t></a:r></a:p></p:txBody>
</p:sp><p:sp>
  <p:nvSpPr><p:cNvPr id="0" name="TB"/><p:cNvSpPr txBox="1"/><p:nvPr/></p:nvSpPr>
  <p:spPr>
    <a:xfrm><a:off x="2286000" y="5568696"/><a:ext cx="4572000" cy="384048"/></a:xfrm>
    <a:prstGeom prst="rect"><a:avLst/></a:prstGeom><a:noFill/>
  </p:spPr>
  <p:txBody><a:bodyPr wrap="square" rtlCol="0"/><a:lstStyle/><a:p><a:pPr algn="l"/><a:r><a:rPr lang="en-US" sz="1100" dirty="0"><a:solidFill><a:srgbClr val="FFFFFF"/></a:solidFill><a:latin typeface="Calibri"/></a:rPr><a:t>39th National Games</a:t></a:r></a:p></p:txBody>
</p:sp><p:sp>
  <p:nvSpPr><p:cNvPr id="0" name="TB"/><p:cNvSpPr txBox="1"/><p:nvPr/></p:nvSpPr>
  <p:spPr>
    <a:xfrm><a:off x="7315200" y="5568696"/><a:ext cx="3840480" cy="384048"/></a:xfrm>
    <a:prstGeom prst="rect"><a:avLst/></a:prstGeom><a:noFill/>
  </p:spPr>
  <p:txBody><a:bodyPr wrap="square" rtlCol="0"/><a:lstStyle/><a:p><a:pPr algn="l"/><a:r><a:rPr lang="en-US" sz="1100" b="1" dirty="0"><a:solidFill><a:srgbClr val="E0A458"/></a:solidFill><a:latin typeface="Calibri"/></a:rPr><a:t>Uttarakhand</a:t></a:r></a:p></p:txBody>
</p:sp><p:sp>
  <p:nvSpPr><p:cNvPr id="0" name="TB"/><p:cNvSpPr txBox="1"/><p:nvPr/></p:nvSpPr>
  <p:spPr>
    <a:xfrm><a:off x="640080" y="6126480"/><a:ext cx="10698480" cy="365760"/></a:xfrm>
    <a:prstGeom prst="rect"><a:avLst/></a:prstGeom><a:noFill/>
  </p:spPr>
  <p:txBody><a:bodyPr wrap="square" rtlCol="0"/><a:lstStyle/><a:p><a:pPr algn="ctr"/><a:r><a:rPr lang="en-US" sz="1200" dirty="0"><a:solidFill><a:srgbClr val="3F7D58"/></a:solidFill><a:latin typeface="Calibri"/></a:rPr><a:t>Ye sab recent 6 months ke facts hain — Lower PCS mein bhi expect karo!</a:t></a:r></a:p></p:txBody>
</p:sp>
    </p:spTree>
  </p:cSld>
  <p:clrMapOvr><a:masterClrMapping/>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B"/>
          <p:cNvSpPr txBox="1"/>
          <p:nvPr/>
        </p:nvSpPr>
        <p:spPr>
          <a:xfrm>
            <a:off x="640080" y="274320"/>
            <a:ext cx="109728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2500" b="1" dirty="0">
                <a:solidFill>
                  <a:srgbClr val="16233A"/>
                </a:solidFill>
                <a:latin typeface="Calibri"/>
              </a:rPr>
              <a:t>Uttarakhand GK — Key Facts (Note Karo!)</a:t>
            </a:r>
          </a:p>
        </p:txBody>
      </p:sp>
      <p:sp>
        <p:nvSpPr>
          <p:cNvPr id="0" name="N0"/>
          <p:cNvSpPr/>
          <p:nvPr/>
        </p:nvSpPr>
        <p:spPr>
          <a:xfrm>
            <a:off x="640080" y="100584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102412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1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105156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Kedarnath = UK ka sabse bada Wildlife Sanctuary (area)</a:t>
            </a:r>
          </a:p>
        </p:txBody>
      </p:sp>
      <p:sp>
        <p:nvSpPr>
          <p:cNvPr id="0" name="N1"/>
          <p:cNvSpPr/>
          <p:nvPr/>
        </p:nvSpPr>
        <p:spPr>
          <a:xfrm>
            <a:off x="640080" y="155448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157276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2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160020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Edward Gardner = British Kumaon First Commissioner (1815)</a:t>
            </a:r>
          </a:p>
        </p:txBody>
      </p:sp>
      <p:sp>
        <p:nvSpPr>
          <p:cNvPr id="0" name="N2"/>
          <p:cNvSpPr/>
          <p:nvPr/>
        </p:nvSpPr>
        <p:spPr>
          <a:xfrm>
            <a:off x="640080" y="210312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212140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3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214884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Article 214 = HC ki sthapna ka Constitutional basis</a:t>
            </a:r>
          </a:p>
        </p:txBody>
      </p:sp>
      <p:sp>
        <p:nvSpPr>
          <p:cNvPr id="0" name="N3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267004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4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269748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Kisau Dam = Tons | Lakhwar = Yamuna | Tehri = Bhagirathi | Kalagadh = Ramganga</a:t>
            </a:r>
          </a:p>
        </p:txBody>
      </p:sp>
      <p:sp>
        <p:nvSpPr>
          <p:cNvPr id="0" name="N4"/>
          <p:cNvSpPr/>
          <p:nvPr/>
        </p:nvSpPr>
        <p:spPr>
          <a:xfrm>
            <a:off x="640080" y="320040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321868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5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324612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Lampiya Dhura = Pithoragarh | Neeti = Chamoli | Muling La = Uttarkashi</a:t>
            </a:r>
          </a:p>
        </p:txBody>
      </p:sp>
      <p:sp>
        <p:nvSpPr>
          <p:cNvPr id="0" name="N5"/>
          <p:cNvSpPr/>
          <p:nvPr/>
        </p:nvSpPr>
        <p:spPr>
          <a:xfrm>
            <a:off x="640080" y="3749039"/>
            <a:ext cx="457200" cy="457200"/>
          </a:xfrm>
          <a:prstGeom prst="roundRect">
            <a:avLst>
              <a:gd name="adj" fmla="val 5000"/>
            </a:avLst>
          </a:prstGeom>
          <a:solidFill>
            <a:srgbClr val="3F7D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3767327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6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3794759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Bagwal Mela = Devi Dhura (stone-throwing festival)</a:t>
            </a:r>
          </a:p>
        </p:txBody>
      </p:sp>
      <p:sp>
        <p:nvSpPr>
          <p:cNvPr id="0" name="N6"/>
          <p:cNvSpPr/>
          <p:nvPr/>
        </p:nvSpPr>
        <p:spPr>
          <a:xfrm>
            <a:off x="640080" y="4297679"/>
            <a:ext cx="457200" cy="457200"/>
          </a:xfrm>
          <a:prstGeom prst="roundRect">
            <a:avLst>
              <a:gd name="adj" fmla="val 5000"/>
            </a:avLst>
          </a:prstGeom>
          <a:solidFill>
            <a:srgbClr val="3F7D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4315967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7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4343399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Talaun Bhoomi = Best irrigated land in UK hills</a:t>
            </a:r>
          </a:p>
        </p:txBody>
      </p:sp>
      <p:sp>
        <p:nvSpPr>
          <p:cNvPr id="0" name="N7"/>
          <p:cNvSpPr/>
          <p:nvPr/>
        </p:nvSpPr>
        <p:spPr>
          <a:xfrm>
            <a:off x="640080" y="484632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3F7D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486460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8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489204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5 UK districts share NO border with other states/countries</a:t>
            </a:r>
          </a:p>
        </p:txBody>
      </p:sp>
      <p:sp>
        <p:nvSpPr>
          <p:cNvPr id="0" name="N8"/>
          <p:cNvSpPr/>
          <p:nvPr/>
        </p:nvSpPr>
        <p:spPr>
          <a:xfrm>
            <a:off x="640080" y="539496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3F7D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541324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9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544068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2011 Census: 8 towns in UK with 1 lakh+ population</a:t>
            </a:r>
          </a:p>
        </p:txBody>
      </p:sp>
      <p:sp>
        <p:nvSpPr>
          <p:cNvPr id="0" name="N9"/>
          <p:cNvSpPr/>
          <p:nvPr/>
        </p:nvSpPr>
        <p:spPr>
          <a:xfrm>
            <a:off x="640080" y="5943600"/>
            <a:ext cx="457200" cy="457200"/>
          </a:xfrm>
          <a:prstGeom prst="roundRect">
            <a:avLst>
              <a:gd name="adj" fmla="val 5000"/>
            </a:avLst>
          </a:prstGeom>
          <a:solidFill>
            <a:srgbClr val="3F7D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685800" y="5961888"/>
            <a:ext cx="36576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16233A"/>
                </a:solidFill>
                <a:latin typeface="Calibri"/>
              </a:rPr>
              <a:t>10</a:t>
            </a:r>
          </a:p>
        </p:txBody>
      </p:sp>
      <p:sp>
        <p:nvSpPr>
          <p:cNvPr id="0" name="TB"/>
          <p:cNvSpPr txBox="1"/>
          <p:nvPr/>
        </p:nvSpPr>
        <p:spPr>
          <a:xfrm>
            <a:off x="1280160" y="5989320"/>
            <a:ext cx="10058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50" dirty="0">
                <a:solidFill>
                  <a:srgbClr val="2A2A2A"/>
                </a:solidFill>
                <a:latin typeface="Calibri"/>
              </a:rPr>
              <a:t>Bachendri Pal=Mountaineering | C.P. Bhatt=Environment | Kapoor=Politics | Katariya=Sports</a:t>
            </a:r>
          </a:p>
        </p:txBody>
      </p:sp>
      <p:sp>
        <p:nvSpPr>
          <p:cNvPr id="0" name="X"/>
          <p:cNvSpPr/>
          <p:nvPr/>
        </p:nvSpPr>
        <p:spPr>
          <a:xfrm>
            <a:off x="640080" y="6400800"/>
            <a:ext cx="10698480" cy="0"/>
          </a:xfrm>
          <a:prstGeom prst="roundRect">
            <a:avLst>
              <a:gd name="adj" fmla="val 5000"/>
            </a:avLst>
          </a:prstGeom>
          <a:solidFill>
            <a:srgbClr val="F7F5F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<p:bgPr><a:solidFill><a:srgbClr val="16233A"/></a:solidFill><a:effectLst/></p:bgPr></p:bg>
    <p:spTree>
      <p:nvGrpSpPr><p:cNvPr id="1" name=""/><p:cNvGrpSpPr/><p:nvPr/></p:nvGrpSpPr>
      <p:grpSpPr>
        <a:xfrm><a:off x="0" y="0"/><a:ext cx="0" cy="0"/><a:chOff x="0" y="0"/><a:chExt cx="0" cy="0"/></a:xfrm>
      </p:grpSpPr>
      <p:sp>
  <p:nvSpPr><p:cNvPr id="0" name="TB"/><p:cNvSpPr txBox="1"/><p:nvPr/></p:nvSpPr>
  <p:spPr>
    <a:xfrm><a:off x="640080" y="274320"/><a:ext cx="10972800" cy="548640"/></a:xfrm>
    <a:prstGeom prst="rect"><a:avLst/></a:prstGeom><a:noFill/>
  </p:spPr>
  <p:txBody><a:bodyPr wrap="square" rtlCol="0"/><a:lstStyle/><a:p><a:pPr algn="l"/><a:r><a:rPr lang="en-US" sz="2600" b="1" dirty="0"><a:solidFill><a:srgbClr val="FFFFFF"/></a:solidFill><a:latin typeface="Calibri"/></a:rPr><a:t>Section-wise Difficulty Analysis</a:t></a:r></a:p></p:txBody>
</p:sp><p:sp>
  <p:nvSpPr><p:cNvPr id="0" name="DH"/><p:cNvSpPr/><p:nvPr/></p:nvSpPr>
  <p:spPr>
    <a:xfrm><a:off x="640080" y="1005840"/><a:ext cx="10698480" cy="502920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1051560"/><a:ext cx="4572000" cy="411480"/></a:xfrm>
    <a:prstGeom prst="rect"><a:avLst/></a:prstGeom><a:noFill/>
  </p:spPr>
  <p:txBody><a:bodyPr wrap="square" rtlCol="0"/><a:lstStyle/><a:p><a:pPr algn="l"/><a:r><a:rPr lang="en-US" sz="1200" b="1" dirty="0"><a:solidFill><a:srgbClr val="FFFFFF"/></a:solidFill><a:latin typeface="Calibri"/></a:rPr><a:t>Section</a:t></a:r></a:p></p:txBody>
</p:sp><p:sp>
  <p:nvSpPr><p:cNvPr id="0" name="TB"/><p:cNvSpPr txBox="1"/><p:nvPr/></p:nvSpPr>
  <p:spPr>
    <a:xfrm><a:off x="5943600" y="1051560"/><a:ext cx="2286000" cy="411480"/></a:xfrm>
    <a:prstGeom prst="rect"><a:avLst/></a:prstGeom><a:noFill/>
  </p:spPr>
  <p:txBody><a:bodyPr wrap="square" rtlCol="0"/><a:lstStyle/><a:p><a:pPr algn="ctr"/><a:r><a:rPr lang="en-US" sz="1200" b="1" dirty="0"><a:solidFill><a:srgbClr val="FFFFFF"/></a:solidFill><a:latin typeface="Calibri"/></a:rPr><a:t>Difficulty</a:t></a:r></a:p></p:txBody>
</p:sp><p:sp>
  <p:nvSpPr><p:cNvPr id="0" name="TB"/><p:cNvSpPr txBox="1"/><p:nvPr/></p:nvSpPr>
  <p:spPr>
    <a:xfrm><a:off x="8686800" y="1051560"/><a:ext cx="2286000" cy="411480"/></a:xfrm>
    <a:prstGeom prst="rect"><a:avLst/></a:prstGeom><a:noFill/>
  </p:spPr>
  <p:txBody><a:bodyPr wrap="square" rtlCol="0"/><a:lstStyle/><a:p><a:pPr algn="ctr"/><a:r><a:rPr lang="en-US" sz="1200" b="1" dirty="0"><a:solidFill><a:srgbClr val="FFFFFF"/></a:solidFill><a:latin typeface="Calibri"/></a:rPr><a:t>Approx Qs</a:t></a:r></a:p></p:txBody>
</p:sp><p:sp>
  <p:nvSpPr><p:cNvPr id="0" name="D0"/><p:cNvSpPr/><p:nvPr/></p:nvSpPr>
  <p:spPr>
    <a:xfrm><a:off x="640080" y="1600200"/><a:ext cx="10698480" cy="521207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1645920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Legal Maxims (Q35-54)</a:t></a:r></a:p></p:txBody>
</p:sp><p:sp>
  <p:nvSpPr><p:cNvPr id="0" name="TB"/><p:cNvSpPr txBox="1"/><p:nvPr/></p:nvSpPr>
  <p:spPr>
    <a:xfrm><a:off x="5943600" y="1645920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DC3545"/></a:solidFill><a:latin typeface="Calibri"/></a:rPr><a:t>Moderate-Tough</a:t></a:r></a:p></p:txBody>
</p:sp><p:sp>
  <p:nvSpPr><p:cNvPr id="0" name="TB"/><p:cNvSpPr txBox="1"/><p:nvPr/></p:nvSpPr>
  <p:spPr>
    <a:xfrm><a:off x="8686800" y="1645920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20+</a:t></a:r></a:p></p:txBody>
</p:sp><p:sp>
  <p:nvSpPr><p:cNvPr id="0" name="D1"/><p:cNvSpPr/><p:nvPr/></p:nvSpPr>
  <p:spPr>
    <a:xfrm><a:off x="640080" y="2167128"/><a:ext cx="10698480" cy="521207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2212848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Legal History (Q59-68)</a:t></a:r></a:p></p:txBody>
</p:sp><p:sp>
  <p:nvSpPr><p:cNvPr id="0" name="TB"/><p:cNvSpPr txBox="1"/><p:nvPr/></p:nvSpPr>
  <p:spPr>
    <a:xfrm><a:off x="5943600" y="2212848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F59E0B"/></a:solidFill><a:latin typeface="Calibri"/></a:rPr><a:t>Moderate</a:t></a:r></a:p></p:txBody>
</p:sp><p:sp>
  <p:nvSpPr><p:cNvPr id="0" name="TB"/><p:cNvSpPr txBox="1"/><p:nvPr/></p:nvSpPr>
  <p:spPr>
    <a:xfrm><a:off x="8686800" y="2212848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~15</a:t></a:r></a:p></p:txBody>
</p:sp><p:sp>
  <p:nvSpPr><p:cNvPr id="0" name="D2"/><p:cNvSpPr/><p:nvPr/></p:nvSpPr>
  <p:spPr>
    <a:xfrm><a:off x="640080" y="2734056"/><a:ext cx="10698480" cy="521207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2779776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Indian Polity (Q110-117)</a:t></a:r></a:p></p:txBody>
</p:sp><p:sp>
  <p:nvSpPr><p:cNvPr id="0" name="TB"/><p:cNvSpPr txBox="1"/><p:nvPr/></p:nvSpPr>
  <p:spPr>
    <a:xfrm><a:off x="5943600" y="2779776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3F7D58"/></a:solidFill><a:latin typeface="Calibri"/></a:rPr><a:t>Easy-Moderate</a:t></a:r></a:p></p:txBody>
</p:sp><p:sp>
  <p:nvSpPr><p:cNvPr id="0" name="TB"/><p:cNvSpPr txBox="1"/><p:nvPr/></p:nvSpPr>
  <p:spPr>
    <a:xfrm><a:off x="8686800" y="2779776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~15</a:t></a:r></a:p></p:txBody>
</p:sp><p:sp>
  <p:nvSpPr><p:cNvPr id="0" name="D3"/><p:cNvSpPr/><p:nvPr/></p:nvSpPr>
  <p:spPr>
    <a:xfrm><a:off x="640080" y="3300984"/><a:ext cx="10698480" cy="521207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3346704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UK History & Culture (Q72-96)</a:t></a:r></a:p></p:txBody>
</p:sp><p:sp>
  <p:nvSpPr><p:cNvPr id="0" name="TB"/><p:cNvSpPr txBox="1"/><p:nvPr/></p:nvSpPr>
  <p:spPr>
    <a:xfrm><a:off x="5943600" y="3346704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DC3545"/></a:solidFill><a:latin typeface="Calibri"/></a:rPr><a:t>Tough</a:t></a:r></a:p></p:txBody>
</p:sp><p:sp>
  <p:nvSpPr><p:cNvPr id="0" name="TB"/><p:cNvSpPr txBox="1"/><p:nvPr/></p:nvSpPr>
  <p:spPr>
    <a:xfrm><a:off x="8686800" y="3346704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~40</a:t></a:r></a:p></p:txBody>
</p:sp><p:sp>
  <p:nvSpPr><p:cNvPr id="0" name="D4"/><p:cNvSpPr/><p:nvPr/></p:nvSpPr>
  <p:spPr>
    <a:xfrm><a:off x="640080" y="3867912"/><a:ext cx="10698480" cy="521207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3913632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UK Current & Schemes (Q97-109)</a:t></a:r></a:p></p:txBody>
</p:sp><p:sp>
  <p:nvSpPr><p:cNvPr id="0" name="TB"/><p:cNvSpPr txBox="1"/><p:nvPr/></p:nvSpPr>
  <p:spPr>
    <a:xfrm><a:off x="5943600" y="3913632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F59E0B"/></a:solidFill><a:latin typeface="Calibri"/></a:rPr><a:t>Moderate</a:t></a:r></a:p></p:txBody>
</p:sp><p:sp>
  <p:nvSpPr><p:cNvPr id="0" name="TB"/><p:cNvSpPr txBox="1"/><p:nvPr/></p:nvSpPr>
  <p:spPr>
    <a:xfrm><a:off x="8686800" y="3913632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~15</a:t></a:r></a:p></p:txBody>
</p:sp><p:sp>
  <p:nvSpPr><p:cNvPr id="0" name="D5"/><p:cNvSpPr/><p:nvPr/></p:nvSpPr>
  <p:spPr>
    <a:xfrm><a:off x="640080" y="4434840"/><a:ext cx="10698480" cy="521207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4480560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National Current Affairs (Q177-195)</a:t></a:r></a:p></p:txBody>
</p:sp><p:sp>
  <p:nvSpPr><p:cNvPr id="0" name="TB"/><p:cNvSpPr txBox="1"/><p:nvPr/></p:nvSpPr>
  <p:spPr>
    <a:xfrm><a:off x="5943600" y="4480560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3F7D58"/></a:solidFill><a:latin typeface="Calibri"/></a:rPr><a:t>Easy-Moderate</a:t></a:r></a:p></p:txBody>
</p:sp><p:sp>
  <p:nvSpPr><p:cNvPr id="0" name="TB"/><p:cNvSpPr txBox="1"/><p:nvPr/></p:nvSpPr>
  <p:spPr>
    <a:xfrm><a:off x="8686800" y="4480560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~20</a:t></a:r></a:p></p:txBody>
</p:sp><p:sp>
  <p:nvSpPr><p:cNvPr id="0" name="D6"/><p:cNvSpPr/><p:nvPr/></p:nvSpPr>
  <p:spPr>
    <a:xfrm><a:off x="640080" y="5001768"/><a:ext cx="10698480" cy="521207"/></a:xfrm>
    <a:prstGeom prst="roundRect"><a:avLst><a:gd name="adj" fmla="val 5000"/></a:avLst></a:prstGeom>
    <a:solidFill><a:srgbClr val="16233A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5047488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Science & Computer</a:t></a:r></a:p></p:txBody>
</p:sp><p:sp>
  <p:nvSpPr><p:cNvPr id="0" name="TB"/><p:cNvSpPr txBox="1"/><p:nvPr/></p:nvSpPr>
  <p:spPr>
    <a:xfrm><a:off x="5943600" y="5047488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F59E0B"/></a:solidFill><a:latin typeface="Calibri"/></a:rPr><a:t>Moderate</a:t></a:r></a:p></p:txBody>
</p:sp><p:sp>
  <p:nvSpPr><p:cNvPr id="0" name="TB"/><p:cNvSpPr txBox="1"/><p:nvPr/></p:nvSpPr>
  <p:spPr>
    <a:xfrm><a:off x="8686800" y="5047488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~15</a:t></a:r></a:p></p:txBody>
</p:sp><p:sp>
  <p:nvSpPr><p:cNvPr id="0" name="D7"/><p:cNvSpPr/><p:nvPr/></p:nvSpPr>
  <p:spPr>
    <a:xfrm><a:off x="640080" y="5568696"/><a:ext cx="10698480" cy="521207"/></a:xfrm>
    <a:prstGeom prst="roundRect"><a:avLst><a:gd name="adj" fmla="val 5000"/></a:avLst></a:prstGeom>
    <a:solidFill><a:srgbClr val="2E4057"/></a:solidFill>
    <a:ln><a:noFill/></a:ln>
  </p:spPr>
  <p:txBody><a:bodyPr/><a:lstStyle/><a:p><a:endParaRPr lang="en-US"/></a:p></p:txBody>
</p:sp><p:sp>
  <p:nvSpPr><p:cNvPr id="0" name="TB"/><p:cNvSpPr txBox="1"/><p:nvPr/></p:nvSpPr>
  <p:spPr>
    <a:xfrm><a:off x="822960" y="5614416"/><a:ext cx="4846320" cy="429768"/></a:xfrm>
    <a:prstGeom prst="rect"><a:avLst/></a:prstGeom><a:noFill/>
  </p:spPr>
  <p:txBody><a:bodyPr wrap="square" rtlCol="0"/><a:lstStyle/><a:p><a:pPr algn="l"/><a:r><a:rPr lang="en-US" sz="1200" dirty="0"><a:solidFill><a:srgbClr val="FFFFFF"/></a:solidFill><a:latin typeface="Calibri"/></a:rPr><a:t>Maths & Reasoning</a:t></a:r></a:p></p:txBody>
</p:sp><p:sp>
  <p:nvSpPr><p:cNvPr id="0" name="TB"/><p:cNvSpPr txBox="1"/><p:nvPr/></p:nvSpPr>
  <p:spPr>
    <a:xfrm><a:off x="5943600" y="5614416"/><a:ext cx="2286000" cy="429768"/></a:xfrm>
    <a:prstGeom prst="rect"><a:avLst/></a:prstGeom><a:noFill/>
  </p:spPr>
  <p:txBody><a:bodyPr wrap="square" rtlCol="0"/><a:lstStyle/><a:p><a:pPr algn="ctr"/><a:r><a:rPr lang="en-US" sz="1200" b="1" dirty="0"><a:solidFill><a:srgbClr val="F59E0B"/></a:solidFill><a:latin typeface="Calibri"/></a:rPr><a:t>Moderate</a:t></a:r></a:p></p:txBody>
</p:sp><p:sp>
  <p:nvSpPr><p:cNvPr id="0" name="TB"/><p:cNvSpPr txBox="1"/><p:nvPr/></p:nvSpPr>
  <p:spPr>
    <a:xfrm><a:off x="8686800" y="5614416"/><a:ext cx="2286000" cy="429768"/></a:xfrm>
    <a:prstGeom prst="rect"><a:avLst/></a:prstGeom><a:noFill/>
  </p:spPr>
  <p:txBody><a:bodyPr wrap="square" rtlCol="0"/><a:lstStyle/><a:p><a:pPr algn="ctr"/><a:r><a:rPr lang="en-US" sz="1200" dirty="0"><a:solidFill><a:srgbClr val="C7CFDB"/></a:solidFill><a:latin typeface="Calibri"/></a:rPr><a:t>~20</a:t></a:r></a:p></p:txBody>
</p:sp><p:sp>
  <p:nvSpPr><p:cNvPr id="0" name="OV"/><p:cNvSpPr/><p:nvPr/></p:nvSpPr>
  <p:spPr>
    <a:xfrm><a:off x="640080" y="6035040"/><a:ext cx="10698480" cy="548640"/></a:xfrm>
    <a:prstGeom prst="roundRect"><a:avLst><a:gd name="adj" fmla="val 5000"/></a:avLst></a:prstGeom>
    <a:solidFill><a:srgbClr val="E0A458"/></a:solidFill>
    <a:ln><a:noFill/></a:ln>
  </p:spPr>
  <p:txBody><a:bodyPr/><a:lstStyle/><a:p><a:endParaRPr lang="en-US"/></a:p></p:txBody>
</p:sp><p:sp>
  <p:nvSpPr><p:cNvPr id="0" name="TB"/><p:cNvSpPr txBox="1"/><p:nvPr/></p:nvSpPr>
  <p:spPr>
    <a:xfrm><a:off x="914400" y="6080760"/><a:ext cx="10241280" cy="457200"/></a:xfrm>
    <a:prstGeom prst="rect"><a:avLst/></a:prstGeom><a:noFill/>
  </p:spPr>
  <p:txBody><a:bodyPr wrap="square" rtlCol="0"/><a:lstStyle/><a:p><a:pPr algn="ctr"/><a:r><a:rPr lang="en-US" sz="1400" b="1" dirty="0"><a:solidFill><a:srgbClr val="16233A"/></a:solidFill><a:latin typeface="Calibri"/></a:rPr><a:t>Overall Paper Level: MODERATE (with TOUGH Legal + UK History sections)</a:t></a:r></a:p></p:txBody>
</p:sp>
    </p:spTree>
  </p:cSld>
  <p:clrMapOvr><a:masterClrMapping/>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B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Calibri"/>
              </a:rPr>
              <a:t>EXPECTED CUT-OFF — HC ARO 2026 (Out of 200)</a:t>
            </a:r>
          </a:p>
        </p:txBody>
      </p:sp>
      <p:sp>
        <p:nvSpPr>
          <p:cNvPr id="0" name="TB"/>
          <p:cNvSpPr txBox="1"/>
          <p:nvPr/>
        </p:nvSpPr>
        <p:spPr>
          <a:xfrm>
            <a:off x="640080" y="868680"/>
            <a:ext cx="109728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dirty="0">
                <a:solidFill>
                  <a:srgbClr val="C7CFDB"/>
                </a:solidFill>
                <a:latin typeface="Calibri"/>
              </a:rPr>
              <a:t>Based on: Paper Difficulty + 15 Seats + Legal Filter + Historical Trends</a:t>
            </a:r>
          </a:p>
        </p:txBody>
      </p:sp>
      <p:sp>
        <p:nvSpPr>
          <p:cNvPr id="0" name="CTH"/>
          <p:cNvSpPr/>
          <p:nvPr/>
        </p:nvSpPr>
        <p:spPr>
          <a:xfrm>
            <a:off x="640080" y="146304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1508760"/>
            <a:ext cx="3657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0" name="TB"/>
          <p:cNvSpPr txBox="1"/>
          <p:nvPr/>
        </p:nvSpPr>
        <p:spPr>
          <a:xfrm>
            <a:off x="5029200" y="1508760"/>
            <a:ext cx="27432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Expected Marks</a:t>
            </a:r>
          </a:p>
        </p:txBody>
      </p:sp>
      <p:sp>
        <p:nvSpPr>
          <p:cNvPr id="0" name="TB"/>
          <p:cNvSpPr txBox="1"/>
          <p:nvPr/>
        </p:nvSpPr>
        <p:spPr>
          <a:xfrm>
            <a:off x="8229600" y="1508760"/>
            <a:ext cx="27432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/>
              </a:rPr>
              <a:t>% Equivalent</a:t>
            </a:r>
          </a:p>
        </p:txBody>
      </p:sp>
      <p:sp>
        <p:nvSpPr>
          <p:cNvPr id="0" name="CT0"/>
          <p:cNvSpPr/>
          <p:nvPr/>
        </p:nvSpPr>
        <p:spPr>
          <a:xfrm>
            <a:off x="640080" y="2057400"/>
            <a:ext cx="10698480" cy="59436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2130552"/>
            <a:ext cx="36576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General / Unreserved</a:t>
            </a:r>
          </a:p>
        </p:txBody>
      </p:sp>
      <p:sp>
        <p:nvSpPr>
          <p:cNvPr id="0" name="TB"/>
          <p:cNvSpPr txBox="1"/>
          <p:nvPr/>
        </p:nvSpPr>
        <p:spPr>
          <a:xfrm>
            <a:off x="5029200" y="213055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800" b="1" dirty="0">
                <a:solidFill>
                  <a:srgbClr val="E0A458"/>
                </a:solidFill>
                <a:latin typeface="Calibri"/>
              </a:rPr>
              <a:t>138 - 144</a:t>
            </a:r>
          </a:p>
        </p:txBody>
      </p:sp>
      <p:sp>
        <p:nvSpPr>
          <p:cNvPr id="0" name="TB"/>
          <p:cNvSpPr txBox="1"/>
          <p:nvPr/>
        </p:nvSpPr>
        <p:spPr>
          <a:xfrm>
            <a:off x="8229600" y="213055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300" dirty="0">
                <a:solidFill>
                  <a:srgbClr val="C7CFDB"/>
                </a:solidFill>
                <a:latin typeface="Calibri"/>
              </a:rPr>
              <a:t>69% - 72%</a:t>
            </a:r>
          </a:p>
        </p:txBody>
      </p:sp>
      <p:sp>
        <p:nvSpPr>
          <p:cNvPr id="0" name="CT1"/>
          <p:cNvSpPr/>
          <p:nvPr/>
        </p:nvSpPr>
        <p:spPr>
          <a:xfrm>
            <a:off x="640080" y="2697480"/>
            <a:ext cx="10698480" cy="59436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2770632"/>
            <a:ext cx="36576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OBC</a:t>
            </a:r>
          </a:p>
        </p:txBody>
      </p:sp>
      <p:sp>
        <p:nvSpPr>
          <p:cNvPr id="0" name="TB"/>
          <p:cNvSpPr txBox="1"/>
          <p:nvPr/>
        </p:nvSpPr>
        <p:spPr>
          <a:xfrm>
            <a:off x="5029200" y="277063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800" b="1" dirty="0">
                <a:solidFill>
                  <a:srgbClr val="E0A458"/>
                </a:solidFill>
                <a:latin typeface="Calibri"/>
              </a:rPr>
              <a:t>133 - 138</a:t>
            </a:r>
          </a:p>
        </p:txBody>
      </p:sp>
      <p:sp>
        <p:nvSpPr>
          <p:cNvPr id="0" name="TB"/>
          <p:cNvSpPr txBox="1"/>
          <p:nvPr/>
        </p:nvSpPr>
        <p:spPr>
          <a:xfrm>
            <a:off x="8229600" y="277063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300" dirty="0">
                <a:solidFill>
                  <a:srgbClr val="C7CFDB"/>
                </a:solidFill>
                <a:latin typeface="Calibri"/>
              </a:rPr>
              <a:t>66.5% - 69%</a:t>
            </a:r>
          </a:p>
        </p:txBody>
      </p:sp>
      <p:sp>
        <p:nvSpPr>
          <p:cNvPr id="0" name="CT2"/>
          <p:cNvSpPr/>
          <p:nvPr/>
        </p:nvSpPr>
        <p:spPr>
          <a:xfrm>
            <a:off x="640080" y="3337560"/>
            <a:ext cx="10698480" cy="59436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3410712"/>
            <a:ext cx="36576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EWS</a:t>
            </a:r>
          </a:p>
        </p:txBody>
      </p:sp>
      <p:sp>
        <p:nvSpPr>
          <p:cNvPr id="0" name="TB"/>
          <p:cNvSpPr txBox="1"/>
          <p:nvPr/>
        </p:nvSpPr>
        <p:spPr>
          <a:xfrm>
            <a:off x="5029200" y="341071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800" b="1" dirty="0">
                <a:solidFill>
                  <a:srgbClr val="E0A458"/>
                </a:solidFill>
                <a:latin typeface="Calibri"/>
              </a:rPr>
              <a:t>130 - 135</a:t>
            </a:r>
          </a:p>
        </p:txBody>
      </p:sp>
      <p:sp>
        <p:nvSpPr>
          <p:cNvPr id="0" name="TB"/>
          <p:cNvSpPr txBox="1"/>
          <p:nvPr/>
        </p:nvSpPr>
        <p:spPr>
          <a:xfrm>
            <a:off x="8229600" y="341071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300" dirty="0">
                <a:solidFill>
                  <a:srgbClr val="C7CFDB"/>
                </a:solidFill>
                <a:latin typeface="Calibri"/>
              </a:rPr>
              <a:t>65% - 67.5%</a:t>
            </a:r>
          </a:p>
        </p:txBody>
      </p:sp>
      <p:sp>
        <p:nvSpPr>
          <p:cNvPr id="0" name="CT3"/>
          <p:cNvSpPr/>
          <p:nvPr/>
        </p:nvSpPr>
        <p:spPr>
          <a:xfrm>
            <a:off x="640080" y="3977639"/>
            <a:ext cx="10698480" cy="59436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4050791"/>
            <a:ext cx="36576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Scheduled Caste (SC)</a:t>
            </a:r>
          </a:p>
        </p:txBody>
      </p:sp>
      <p:sp>
        <p:nvSpPr>
          <p:cNvPr id="0" name="TB"/>
          <p:cNvSpPr txBox="1"/>
          <p:nvPr/>
        </p:nvSpPr>
        <p:spPr>
          <a:xfrm>
            <a:off x="5029200" y="4050791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800" b="1" dirty="0">
                <a:solidFill>
                  <a:srgbClr val="E0A458"/>
                </a:solidFill>
                <a:latin typeface="Calibri"/>
              </a:rPr>
              <a:t>120 - 125</a:t>
            </a:r>
          </a:p>
        </p:txBody>
      </p:sp>
      <p:sp>
        <p:nvSpPr>
          <p:cNvPr id="0" name="TB"/>
          <p:cNvSpPr txBox="1"/>
          <p:nvPr/>
        </p:nvSpPr>
        <p:spPr>
          <a:xfrm>
            <a:off x="8229600" y="4050791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300" dirty="0">
                <a:solidFill>
                  <a:srgbClr val="C7CFDB"/>
                </a:solidFill>
                <a:latin typeface="Calibri"/>
              </a:rPr>
              <a:t>60% - 62.5%</a:t>
            </a:r>
          </a:p>
        </p:txBody>
      </p:sp>
      <p:sp>
        <p:nvSpPr>
          <p:cNvPr id="0" name="CT4"/>
          <p:cNvSpPr/>
          <p:nvPr/>
        </p:nvSpPr>
        <p:spPr>
          <a:xfrm>
            <a:off x="640080" y="4617720"/>
            <a:ext cx="10698480" cy="59436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4690872"/>
            <a:ext cx="36576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Scheduled Tribe (ST)</a:t>
            </a:r>
          </a:p>
        </p:txBody>
      </p:sp>
      <p:sp>
        <p:nvSpPr>
          <p:cNvPr id="0" name="TB"/>
          <p:cNvSpPr txBox="1"/>
          <p:nvPr/>
        </p:nvSpPr>
        <p:spPr>
          <a:xfrm>
            <a:off x="5029200" y="469087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800" b="1" dirty="0">
                <a:solidFill>
                  <a:srgbClr val="E0A458"/>
                </a:solidFill>
                <a:latin typeface="Calibri"/>
              </a:rPr>
              <a:t>115 - 120</a:t>
            </a:r>
          </a:p>
        </p:txBody>
      </p:sp>
      <p:sp>
        <p:nvSpPr>
          <p:cNvPr id="0" name="TB"/>
          <p:cNvSpPr txBox="1"/>
          <p:nvPr/>
        </p:nvSpPr>
        <p:spPr>
          <a:xfrm>
            <a:off x="8229600" y="4690872"/>
            <a:ext cx="2743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300" dirty="0">
                <a:solidFill>
                  <a:srgbClr val="C7CFDB"/>
                </a:solidFill>
                <a:latin typeface="Calibri"/>
              </a:rPr>
              <a:t>57.5% - 60%</a:t>
            </a:r>
          </a:p>
        </p:txBody>
      </p:sp>
      <p:sp>
        <p:nvSpPr>
          <p:cNvPr id="0" name="Safe"/>
          <p:cNvSpPr/>
          <p:nvPr/>
        </p:nvSpPr>
        <p:spPr>
          <a:xfrm>
            <a:off x="1371600" y="5394960"/>
            <a:ext cx="9144000" cy="1097280"/>
          </a:xfrm>
          <a:prstGeom prst="roundRect">
            <a:avLst>
              <a:gd name="adj" fmla="val 5000"/>
            </a:avLst>
          </a:prstGeom>
          <a:solidFill>
            <a:srgbClr val="3F7D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1554480" y="5486400"/>
            <a:ext cx="8778240" cy="9144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/>
              </a:rPr>
              <a:t>SAFE SCORE: 145+ Marks = Definitely Safe (General)</a:t>
            </a:r>
          </a:p>
          <a:p>
            <a:pPr algn="ctr"/>
            <a:r>
              <a:rPr lang="en-US" sz="1300" dirty="0">
                <a:solidFill>
                  <a:srgbClr val="FFFFFF"/>
                </a:solidFill>
                <a:latin typeface="Calibri"/>
              </a:rPr>
              <a:t>133-144 = Competitive Zone | 125-132 = Borderline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B"/>
          <p:cNvSpPr txBox="1"/>
          <p:nvPr/>
        </p:nvSpPr>
        <p:spPr>
          <a:xfrm>
            <a:off x="640080" y="274320"/>
            <a:ext cx="109728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/>
              </a:rPr>
              <a:t>Good Attempts — Section-wise Breakdown</a:t>
            </a:r>
          </a:p>
        </p:txBody>
      </p:sp>
      <p:sp>
        <p:nvSpPr>
          <p:cNvPr id="0" name="GH"/>
          <p:cNvSpPr/>
          <p:nvPr/>
        </p:nvSpPr>
        <p:spPr>
          <a:xfrm>
            <a:off x="640080" y="1005840"/>
            <a:ext cx="10698480" cy="45720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1033271"/>
            <a:ext cx="3200400" cy="402336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1033271"/>
            <a:ext cx="1371600" cy="402336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1033271"/>
            <a:ext cx="1828800" cy="402336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b="1" dirty="0">
                <a:solidFill>
                  <a:srgbClr val="E0A458"/>
                </a:solidFill>
                <a:latin typeface="Calibri"/>
              </a:rPr>
              <a:t>Good Attempts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1033271"/>
            <a:ext cx="3383280" cy="402336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b="1" dirty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0" name="G0"/>
          <p:cNvSpPr/>
          <p:nvPr/>
        </p:nvSpPr>
        <p:spPr>
          <a:xfrm>
            <a:off x="640080" y="155448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160020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Calibri"/>
              </a:rPr>
              <a:t>Legal Maxims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1600200"/>
            <a:ext cx="1371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C7CFDB"/>
                </a:solidFill>
                <a:latin typeface="Calibri"/>
              </a:rPr>
              <a:t>~10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1600200"/>
            <a:ext cx="18288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6-8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1600200"/>
            <a:ext cx="338328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000" dirty="0">
                <a:solidFill>
                  <a:srgbClr val="C7CFDB"/>
                </a:solidFill>
                <a:latin typeface="Calibri"/>
              </a:rPr>
              <a:t>Skip unknown Latin terms</a:t>
            </a:r>
          </a:p>
        </p:txBody>
      </p:sp>
      <p:sp>
        <p:nvSpPr>
          <p:cNvPr id="0" name="G1"/>
          <p:cNvSpPr/>
          <p:nvPr/>
        </p:nvSpPr>
        <p:spPr>
          <a:xfrm>
            <a:off x="640080" y="210312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214884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Calibri"/>
              </a:rPr>
              <a:t>Legal History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2148840"/>
            <a:ext cx="1371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C7CFDB"/>
                </a:solidFill>
                <a:latin typeface="Calibri"/>
              </a:rPr>
              <a:t>~15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2148840"/>
            <a:ext cx="18288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10-12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2148840"/>
            <a:ext cx="338328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000" dirty="0">
                <a:solidFill>
                  <a:srgbClr val="C7CFDB"/>
                </a:solidFill>
                <a:latin typeface="Calibri"/>
              </a:rPr>
              <a:t>Mix of easy + tough</a:t>
            </a:r>
          </a:p>
        </p:txBody>
      </p:sp>
      <p:sp>
        <p:nvSpPr>
          <p:cNvPr id="0" name="G2"/>
          <p:cNvSpPr/>
          <p:nvPr/>
        </p:nvSpPr>
        <p:spPr>
          <a:xfrm>
            <a:off x="640080" y="265176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269748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Calibri"/>
              </a:rPr>
              <a:t>UK GK (History+Geo)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2697480"/>
            <a:ext cx="1371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C7CFDB"/>
                </a:solidFill>
                <a:latin typeface="Calibri"/>
              </a:rPr>
              <a:t>~45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2697480"/>
            <a:ext cx="18288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30-35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2697480"/>
            <a:ext cx="338328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000" dirty="0">
                <a:solidFill>
                  <a:srgbClr val="C7CFDB"/>
                </a:solidFill>
                <a:latin typeface="Calibri"/>
              </a:rPr>
              <a:t>Some very specific — skip uncertain</a:t>
            </a:r>
          </a:p>
        </p:txBody>
      </p:sp>
      <p:sp>
        <p:nvSpPr>
          <p:cNvPr id="0" name="G3"/>
          <p:cNvSpPr/>
          <p:nvPr/>
        </p:nvSpPr>
        <p:spPr>
          <a:xfrm>
            <a:off x="640080" y="320040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324612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Calibri"/>
              </a:rPr>
              <a:t>Current Affairs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3246120"/>
            <a:ext cx="1371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C7CFDB"/>
                </a:solidFill>
                <a:latin typeface="Calibri"/>
              </a:rPr>
              <a:t>~20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3246120"/>
            <a:ext cx="18288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15-17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3246120"/>
            <a:ext cx="338328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000" dirty="0">
                <a:solidFill>
                  <a:srgbClr val="C7CFDB"/>
                </a:solidFill>
                <a:latin typeface="Calibri"/>
              </a:rPr>
              <a:t>Mostly direct factual</a:t>
            </a:r>
          </a:p>
        </p:txBody>
      </p:sp>
      <p:sp>
        <p:nvSpPr>
          <p:cNvPr id="0" name="G4"/>
          <p:cNvSpPr/>
          <p:nvPr/>
        </p:nvSpPr>
        <p:spPr>
          <a:xfrm>
            <a:off x="640080" y="3749039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3794759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Calibri"/>
              </a:rPr>
              <a:t>Indian Polity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3794759"/>
            <a:ext cx="1371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C7CFDB"/>
                </a:solidFill>
                <a:latin typeface="Calibri"/>
              </a:rPr>
              <a:t>~15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3794759"/>
            <a:ext cx="18288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12-14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3794759"/>
            <a:ext cx="338328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000" dirty="0">
                <a:solidFill>
                  <a:srgbClr val="C7CFDB"/>
                </a:solidFill>
                <a:latin typeface="Calibri"/>
              </a:rPr>
              <a:t>Standard constitutional</a:t>
            </a:r>
          </a:p>
        </p:txBody>
      </p:sp>
      <p:sp>
        <p:nvSpPr>
          <p:cNvPr id="0" name="G5"/>
          <p:cNvSpPr/>
          <p:nvPr/>
        </p:nvSpPr>
        <p:spPr>
          <a:xfrm>
            <a:off x="640080" y="429768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2E405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434340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Calibri"/>
              </a:rPr>
              <a:t>Science/Computer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4343400"/>
            <a:ext cx="1371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C7CFDB"/>
                </a:solidFill>
                <a:latin typeface="Calibri"/>
              </a:rPr>
              <a:t>~15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4343400"/>
            <a:ext cx="18288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10-12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4343400"/>
            <a:ext cx="338328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000" dirty="0">
                <a:solidFill>
                  <a:srgbClr val="C7CFDB"/>
                </a:solidFill>
                <a:latin typeface="Calibri"/>
              </a:rPr>
              <a:t>Technical but doable</a:t>
            </a:r>
          </a:p>
        </p:txBody>
      </p:sp>
      <p:sp>
        <p:nvSpPr>
          <p:cNvPr id="0" name="G6"/>
          <p:cNvSpPr/>
          <p:nvPr/>
        </p:nvSpPr>
        <p:spPr>
          <a:xfrm>
            <a:off x="640080" y="4846320"/>
            <a:ext cx="10698480" cy="50292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822960" y="4892040"/>
            <a:ext cx="32004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100" dirty="0">
                <a:solidFill>
                  <a:srgbClr val="FFFFFF"/>
                </a:solidFill>
                <a:latin typeface="Calibri"/>
              </a:rPr>
              <a:t>Maths/Reasoning</a:t>
            </a:r>
          </a:p>
        </p:txBody>
      </p:sp>
      <p:sp>
        <p:nvSpPr>
          <p:cNvPr id="0" name="TB"/>
          <p:cNvSpPr txBox="1"/>
          <p:nvPr/>
        </p:nvSpPr>
        <p:spPr>
          <a:xfrm>
            <a:off x="4114800" y="4892040"/>
            <a:ext cx="13716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dirty="0">
                <a:solidFill>
                  <a:srgbClr val="C7CFDB"/>
                </a:solidFill>
                <a:latin typeface="Calibri"/>
              </a:rPr>
              <a:t>~20</a:t>
            </a:r>
          </a:p>
        </p:txBody>
      </p:sp>
      <p:sp>
        <p:nvSpPr>
          <p:cNvPr id="0" name="TB"/>
          <p:cNvSpPr txBox="1"/>
          <p:nvPr/>
        </p:nvSpPr>
        <p:spPr>
          <a:xfrm>
            <a:off x="5669280" y="4892040"/>
            <a:ext cx="182880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b="1" dirty="0">
                <a:solidFill>
                  <a:srgbClr val="E0A458"/>
                </a:solidFill>
                <a:latin typeface="Calibri"/>
              </a:rPr>
              <a:t>15-18</a:t>
            </a:r>
          </a:p>
        </p:txBody>
      </p:sp>
      <p:sp>
        <p:nvSpPr>
          <p:cNvPr id="0" name="TB"/>
          <p:cNvSpPr txBox="1"/>
          <p:nvPr/>
        </p:nvSpPr>
        <p:spPr>
          <a:xfrm>
            <a:off x="7772400" y="4892040"/>
            <a:ext cx="3383280" cy="4114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000" dirty="0">
                <a:solidFill>
                  <a:srgbClr val="C7CFDB"/>
                </a:solidFill>
                <a:latin typeface="Calibri"/>
              </a:rPr>
              <a:t>Time-dependent</a:t>
            </a:r>
          </a:p>
        </p:txBody>
      </p:sp>
      <p:sp>
        <p:nvSpPr>
          <p:cNvPr id="0" name="Tot"/>
          <p:cNvSpPr/>
          <p:nvPr/>
        </p:nvSpPr>
        <p:spPr>
          <a:xfrm>
            <a:off x="640080" y="5394960"/>
            <a:ext cx="10698480" cy="64008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914400" y="5440680"/>
            <a:ext cx="1024128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400" b="1" dirty="0">
                <a:solidFill>
                  <a:srgbClr val="16233A"/>
                </a:solidFill>
                <a:latin typeface="Calibri"/>
              </a:rPr>
              <a:t>TOTAL: 200 Questions | Good Attempts: 150-165 | With 75-80% accuracy = CUT-OFF CLEAR</a:t>
            </a:r>
          </a:p>
        </p:txBody>
      </p:sp>
      <p:sp>
        <p:nvSpPr>
          <p:cNvPr id="0" name="TB"/>
          <p:cNvSpPr txBox="1"/>
          <p:nvPr/>
        </p:nvSpPr>
        <p:spPr>
          <a:xfrm>
            <a:off x="640080" y="6217920"/>
            <a:ext cx="1069848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Calibri"/>
              </a:rPr>
              <a:t>TIP: 35-50 uncertain questions CHHODO — negative marking se bachna &gt; zyada attempt karna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B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Calibri"/>
              </a:rPr>
              <a:t>4 Takeaways — Har UKPSC Aspirant Ke Liye</a:t>
            </a:r>
          </a:p>
        </p:txBody>
      </p:sp>
      <p:sp>
        <p:nvSpPr>
          <p:cNvPr id="0" name="Tn0"/>
          <p:cNvSpPr/>
          <p:nvPr/>
        </p:nvSpPr>
        <p:spPr>
          <a:xfrm>
            <a:off x="731520" y="1188720"/>
            <a:ext cx="640080" cy="64008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777240" y="1234440"/>
            <a:ext cx="54864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2400" b="1" dirty="0">
                <a:solidFill>
                  <a:srgbClr val="16233A"/>
                </a:solidFill>
                <a:latin typeface="Calibri"/>
              </a:rPr>
              <a:t>1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1170432"/>
            <a:ext cx="9601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700" b="1" dirty="0">
                <a:solidFill>
                  <a:srgbClr val="FFFFFF"/>
                </a:solidFill>
                <a:latin typeface="Calibri"/>
              </a:rPr>
              <a:t>Legal Maxims = New UKPSC Trend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1645920"/>
            <a:ext cx="96012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dirty="0">
                <a:solidFill>
                  <a:srgbClr val="C7CFDB"/>
                </a:solidFill>
                <a:latin typeface="Calibri"/>
              </a:rPr>
              <a:t>25 common legal terms ki list bana lo. PCS Mains, Ethics, future RO/ARO — sab mein help karega.</a:t>
            </a:r>
          </a:p>
        </p:txBody>
      </p:sp>
      <p:sp>
        <p:nvSpPr>
          <p:cNvPr id="0" name="Tn1"/>
          <p:cNvSpPr/>
          <p:nvPr/>
        </p:nvSpPr>
        <p:spPr>
          <a:xfrm>
            <a:off x="731520" y="2468880"/>
            <a:ext cx="640080" cy="64008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2400" b="1" dirty="0">
                <a:solidFill>
                  <a:srgbClr val="16233A"/>
                </a:solidFill>
                <a:latin typeface="Calibri"/>
              </a:rPr>
              <a:t>2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2450592"/>
            <a:ext cx="9601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700" b="1" dirty="0">
                <a:solidFill>
                  <a:srgbClr val="FFFFFF"/>
                </a:solidFill>
                <a:latin typeface="Calibri"/>
              </a:rPr>
              <a:t>UCC Act 2024 — RATT LO!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2926080"/>
            <a:ext cx="96012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dirty="0">
                <a:solidFill>
                  <a:srgbClr val="C7CFDB"/>
                </a:solidFill>
                <a:latin typeface="Calibri"/>
              </a:rPr>
              <a:t>Women: 18 | Men: 21 | Registration: Mandatory | Live-in: 60 days. Har exam mein aayega.</a:t>
            </a:r>
          </a:p>
        </p:txBody>
      </p:sp>
      <p:sp>
        <p:nvSpPr>
          <p:cNvPr id="0" name="Tn2"/>
          <p:cNvSpPr/>
          <p:nvPr/>
        </p:nvSpPr>
        <p:spPr>
          <a:xfrm>
            <a:off x="731520" y="3749039"/>
            <a:ext cx="640080" cy="64008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777240" y="3794759"/>
            <a:ext cx="54864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2400" b="1" dirty="0">
                <a:solidFill>
                  <a:srgbClr val="16233A"/>
                </a:solidFill>
                <a:latin typeface="Calibri"/>
              </a:rPr>
              <a:t>3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3730751"/>
            <a:ext cx="9601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700" b="1" dirty="0">
                <a:solidFill>
                  <a:srgbClr val="FFFFFF"/>
                </a:solidFill>
                <a:latin typeface="Calibri"/>
              </a:rPr>
              <a:t>UK Budget 2026-27 = 1,11,703.21 Cr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4206239"/>
            <a:ext cx="96012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dirty="0">
                <a:solidFill>
                  <a:srgbClr val="C7CFDB"/>
                </a:solidFill>
                <a:latin typeface="Calibri"/>
              </a:rPr>
              <a:t>Ek line. Lower PCS, Secretariat, UKSSSC — next 6 months mein guaranteed question.</a:t>
            </a:r>
          </a:p>
        </p:txBody>
      </p:sp>
      <p:sp>
        <p:nvSpPr>
          <p:cNvPr id="0" name="Tn3"/>
          <p:cNvSpPr/>
          <p:nvPr/>
        </p:nvSpPr>
        <p:spPr>
          <a:xfrm>
            <a:off x="731520" y="5029199"/>
            <a:ext cx="640080" cy="64008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777240" y="5074919"/>
            <a:ext cx="54864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2400" b="1" dirty="0">
                <a:solidFill>
                  <a:srgbClr val="16233A"/>
                </a:solidFill>
                <a:latin typeface="Calibri"/>
              </a:rPr>
              <a:t>4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5010911"/>
            <a:ext cx="9601200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700" b="1" dirty="0">
                <a:solidFill>
                  <a:srgbClr val="FFFFFF"/>
                </a:solidFill>
                <a:latin typeface="Calibri"/>
              </a:rPr>
              <a:t>39th National Games = Uttarakhand</a:t>
            </a:r>
          </a:p>
        </p:txBody>
      </p:sp>
      <p:sp>
        <p:nvSpPr>
          <p:cNvPr id="0" name="TB"/>
          <p:cNvSpPr txBox="1"/>
          <p:nvPr/>
        </p:nvSpPr>
        <p:spPr>
          <a:xfrm>
            <a:off x="1554480" y="5486399"/>
            <a:ext cx="9601200" cy="54864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en-US" sz="1200" dirty="0">
                <a:solidFill>
                  <a:srgbClr val="C7CFDB"/>
                </a:solidFill>
                <a:latin typeface="Calibri"/>
              </a:rPr>
              <a:t>Simple fact. 100% upcoming exams mein pucha jayega. Free mark.</a:t>
            </a:r>
          </a:p>
        </p:txBody>
      </p:sp>
      <p:sp>
        <p:nvSpPr>
          <p:cNvPr id="0" name="CTA"/>
          <p:cNvSpPr/>
          <p:nvPr/>
        </p:nvSpPr>
        <p:spPr>
          <a:xfrm>
            <a:off x="1371600" y="5669280"/>
            <a:ext cx="9418320" cy="914400"/>
          </a:xfrm>
          <a:prstGeom prst="roundRect">
            <a:avLst>
              <a:gd name="adj" fmla="val 5000"/>
            </a:avLst>
          </a:prstGeom>
          <a:solidFill>
            <a:srgbClr val="E0A45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0" name="TB"/>
          <p:cNvSpPr txBox="1"/>
          <p:nvPr/>
        </p:nvSpPr>
        <p:spPr>
          <a:xfrm>
            <a:off x="1554480" y="5760720"/>
            <a:ext cx="9052560" cy="73152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600" b="1" dirty="0">
                <a:solidFill>
                  <a:srgbClr val="16233A"/>
                </a:solidFill>
                <a:latin typeface="Calibri"/>
              </a:rPr>
              <a:t>SUBSCRIBE + Bell | Answer Key Video Coming Soon!</a:t>
            </a:r>
          </a:p>
          <a:p>
            <a:pPr algn="ctr"/>
            <a:r>
              <a:rPr lang="en-US" sz="1200" dirty="0">
                <a:solidFill>
                  <a:srgbClr val="16233A"/>
                </a:solidFill>
                <a:latin typeface="Calibri"/>
              </a:rPr>
              <a:t>Telegram: @UKPSCDECODED | Full Answer Key PDF + Mains Roadmap</a:t>
            </a:r>
          </a:p>
        </p:txBody>
      </p:sp>
    </p:spTree>
  </p:cSld>
  <p:clrMapOvr>
    <a:masterClrMapping/>
  </p:clrMapOvr>
</p:sld>
</file>