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695" cy="6858000"/>
  <p:notesSz cx="6858000" cy="12191695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E0A458"/>
                </a:solidFill>
                <a:latin typeface="Calibri"/>
              </a:rPr>
              <a:t>UKPSC HIGH COURT ARO PRELIMS 2026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800" b="1" dirty="0">
                <a:solidFill>
                  <a:srgbClr val="FFFFFF"/>
                </a:solidFill>
                <a:latin typeface="Calibri"/>
              </a:rPr>
              <a:t>Complete Paper Analysis</a:t>
            </a:r>
          </a:p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&amp; Expected Cut-Off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19 July 2026 | HCA Series-A | 200 Marks | Only 15 Seats</a:t>
            </a:r>
          </a:p>
        </p:txBody>
      </p:sp>
      <p:sp>
        <p:nvSpPr>
          <p:cNvPr id="0" name="B1"/>
          <p:cNvSpPr/>
          <p:nvPr/>
        </p:nvSpPr>
        <p:spPr>
          <a:xfrm>
            <a:off x="731520" y="4389120"/>
            <a:ext cx="3200400" cy="128016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480560"/>
            <a:ext cx="30175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>
                <a:solidFill>
                  <a:srgbClr val="E0A458"/>
                </a:solidFill>
                <a:latin typeface="Calibri"/>
              </a:rPr>
              <a:t>200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Total Marks</a:t>
            </a:r>
          </a:p>
        </p:txBody>
      </p:sp>
      <p:sp>
        <p:nvSpPr>
          <p:cNvPr id="0" name="B2"/>
          <p:cNvSpPr/>
          <p:nvPr/>
        </p:nvSpPr>
        <p:spPr>
          <a:xfrm>
            <a:off x="4206240" y="4389120"/>
            <a:ext cx="3200400" cy="128016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4297680" y="4480560"/>
            <a:ext cx="30175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>
                <a:solidFill>
                  <a:srgbClr val="DC3545"/>
                </a:solidFill>
                <a:latin typeface="Calibri"/>
              </a:rPr>
              <a:t>15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Seats Only!</a:t>
            </a:r>
          </a:p>
        </p:txBody>
      </p:sp>
      <p:sp>
        <p:nvSpPr>
          <p:cNvPr id="0" name="B3"/>
          <p:cNvSpPr/>
          <p:nvPr/>
        </p:nvSpPr>
        <p:spPr>
          <a:xfrm>
            <a:off x="7680960" y="4389120"/>
            <a:ext cx="3200400" cy="128016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7772400" y="4480560"/>
            <a:ext cx="301752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200" b="1" dirty="0">
                <a:solidFill>
                  <a:srgbClr val="E0A458"/>
                </a:solidFill>
                <a:latin typeface="Calibri"/>
              </a:rPr>
              <a:t>0.25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Negative/Wrong</a:t>
            </a:r>
          </a:p>
        </p:txBody>
      </p:sp>
      <p:sp>
        <p:nvSpPr>
          <p:cNvPr id="0" name="Warn"/>
          <p:cNvSpPr/>
          <p:nvPr/>
        </p:nvSpPr>
        <p:spPr>
          <a:xfrm>
            <a:off x="731520" y="594360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DC35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EXTREME COMPETITION: 15 Seats = Every Single Mark Counts!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600" b="1" dirty="0">
                <a:solidFill>
                  <a:srgbClr val="16233A"/>
                </a:solidFill>
                <a:latin typeface="Calibri"/>
              </a:rPr>
              <a:t>Paper Structure — What Makes HC ARO Different</a:t>
            </a:r>
          </a:p>
        </p:txBody>
      </p:sp>
      <p:sp>
        <p:nvSpPr>
          <p:cNvPr id="0" name="TH"/>
          <p:cNvSpPr/>
          <p:nvPr/>
        </p:nvSpPr>
        <p:spPr>
          <a:xfrm>
            <a:off x="640080" y="109728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143000"/>
            <a:ext cx="32004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Factor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1143000"/>
            <a:ext cx="32004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Secretariat RO/ARO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1143000"/>
            <a:ext cx="32004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High Court ARO</a:t>
            </a:r>
          </a:p>
        </p:txBody>
      </p:sp>
      <p:sp>
        <p:nvSpPr>
          <p:cNvPr id="0" name="R0"/>
          <p:cNvSpPr/>
          <p:nvPr/>
        </p:nvSpPr>
        <p:spPr>
          <a:xfrm>
            <a:off x="640080" y="169164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73736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2A2A2A"/>
                </a:solidFill>
                <a:latin typeface="Calibri"/>
              </a:rPr>
              <a:t>Total Marks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173736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Calibri"/>
              </a:rPr>
              <a:t>150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173736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200</a:t>
            </a:r>
          </a:p>
        </p:txBody>
      </p:sp>
      <p:sp>
        <p:nvSpPr>
          <p:cNvPr id="0" name="R1"/>
          <p:cNvSpPr/>
          <p:nvPr/>
        </p:nvSpPr>
        <p:spPr>
          <a:xfrm>
            <a:off x="640080" y="224028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28600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2A2A2A"/>
                </a:solidFill>
                <a:latin typeface="Calibri"/>
              </a:rPr>
              <a:t>Questions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228600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Calibri"/>
              </a:rPr>
              <a:t>150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228600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200</a:t>
            </a:r>
          </a:p>
        </p:txBody>
      </p:sp>
      <p:sp>
        <p:nvSpPr>
          <p:cNvPr id="0" name="R2"/>
          <p:cNvSpPr/>
          <p:nvPr/>
        </p:nvSpPr>
        <p:spPr>
          <a:xfrm>
            <a:off x="640080" y="278892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83464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2A2A2A"/>
                </a:solidFill>
                <a:latin typeface="Calibri"/>
              </a:rPr>
              <a:t>Negative Marking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283464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Calibri"/>
              </a:rPr>
              <a:t>1/4 (0.25)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283464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1/4 (0.25)</a:t>
            </a:r>
          </a:p>
        </p:txBody>
      </p:sp>
      <p:sp>
        <p:nvSpPr>
          <p:cNvPr id="0" name="R3"/>
          <p:cNvSpPr/>
          <p:nvPr/>
        </p:nvSpPr>
        <p:spPr>
          <a:xfrm>
            <a:off x="640080" y="333756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38328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2A2A2A"/>
                </a:solidFill>
                <a:latin typeface="Calibri"/>
              </a:rPr>
              <a:t>Seats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338328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Calibri"/>
              </a:rPr>
              <a:t>137+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338328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DC3545"/>
                </a:solidFill>
                <a:latin typeface="Calibri"/>
              </a:rPr>
              <a:t>ONLY 15!</a:t>
            </a:r>
          </a:p>
        </p:txBody>
      </p:sp>
      <p:sp>
        <p:nvSpPr>
          <p:cNvPr id="0" name="R4"/>
          <p:cNvSpPr/>
          <p:nvPr/>
        </p:nvSpPr>
        <p:spPr>
          <a:xfrm>
            <a:off x="640080" y="388620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93192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2A2A2A"/>
                </a:solidFill>
                <a:latin typeface="Calibri"/>
              </a:rPr>
              <a:t>Legal Section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393192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Calibri"/>
              </a:rPr>
              <a:t>None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393192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DC3545"/>
                </a:solidFill>
                <a:latin typeface="Calibri"/>
              </a:rPr>
              <a:t>20+ Questions!</a:t>
            </a:r>
          </a:p>
        </p:txBody>
      </p:sp>
      <p:sp>
        <p:nvSpPr>
          <p:cNvPr id="0" name="R5"/>
          <p:cNvSpPr/>
          <p:nvPr/>
        </p:nvSpPr>
        <p:spPr>
          <a:xfrm>
            <a:off x="640080" y="443484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48056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2A2A2A"/>
                </a:solidFill>
                <a:latin typeface="Calibri"/>
              </a:rPr>
              <a:t>Duration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448056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Calibri"/>
              </a:rPr>
              <a:t>2 Hours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448056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2 Hours</a:t>
            </a:r>
          </a:p>
        </p:txBody>
      </p:sp>
      <p:sp>
        <p:nvSpPr>
          <p:cNvPr id="0" name="R6"/>
          <p:cNvSpPr/>
          <p:nvPr/>
        </p:nvSpPr>
        <p:spPr>
          <a:xfrm>
            <a:off x="640080" y="4983479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5029199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2A2A2A"/>
                </a:solidFill>
                <a:latin typeface="Calibri"/>
              </a:rPr>
              <a:t>Cut-off (Gen)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5029199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Calibri"/>
              </a:rPr>
              <a:t>~97-98 (65%)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5029199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138-144 (70%)</a:t>
            </a:r>
          </a:p>
        </p:txBody>
      </p:sp>
      <p:sp>
        <p:nvSpPr>
          <p:cNvPr id="0" name="Ins"/>
          <p:cNvSpPr/>
          <p:nvPr/>
        </p:nvSpPr>
        <p:spPr>
          <a:xfrm>
            <a:off x="640080" y="566928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914400" y="5760720"/>
            <a:ext cx="102412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Key Insight: 200 marks + 15 seats = 9x more competitive than Secretariat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/>
              </a:rPr>
              <a:t>Legal Maxims — The FILTER Section</a:t>
            </a:r>
          </a:p>
        </p:txBody>
      </p:sp>
      <p:sp>
        <p:nvSpPr>
          <p:cNvPr id="0" name="TB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Q35-Q54: 20+ Questions from Legal Terminology</a:t>
            </a:r>
          </a:p>
        </p:txBody>
      </p:sp>
      <p:sp>
        <p:nvSpPr>
          <p:cNvPr id="0" name="M0"/>
          <p:cNvSpPr/>
          <p:nvPr/>
        </p:nvSpPr>
        <p:spPr>
          <a:xfrm>
            <a:off x="640080" y="1371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463040"/>
            <a:ext cx="5029200" cy="8229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E0A458"/>
                </a:solidFill>
                <a:latin typeface="Calibri"/>
              </a:rPr>
              <a:t>Res Judicata</a:t>
            </a:r>
          </a:p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Matter already decided by court</a:t>
            </a:r>
          </a:p>
        </p:txBody>
      </p:sp>
      <p:sp>
        <p:nvSpPr>
          <p:cNvPr id="0" name="M1"/>
          <p:cNvSpPr/>
          <p:nvPr/>
        </p:nvSpPr>
        <p:spPr>
          <a:xfrm>
            <a:off x="6309360" y="1371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492240" y="1463040"/>
            <a:ext cx="5029200" cy="8229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E0A458"/>
                </a:solidFill>
                <a:latin typeface="Calibri"/>
              </a:rPr>
              <a:t>Audi Alteram Partem</a:t>
            </a:r>
          </a:p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Hear the other side (Natural Justice)</a:t>
            </a:r>
          </a:p>
        </p:txBody>
      </p:sp>
      <p:sp>
        <p:nvSpPr>
          <p:cNvPr id="0" name="M2"/>
          <p:cNvSpPr/>
          <p:nvPr/>
        </p:nvSpPr>
        <p:spPr>
          <a:xfrm>
            <a:off x="640080" y="2514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606040"/>
            <a:ext cx="5029200" cy="8229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E0A458"/>
                </a:solidFill>
                <a:latin typeface="Calibri"/>
              </a:rPr>
              <a:t>Ubi Jus Ibi Remedium</a:t>
            </a:r>
          </a:p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Where there is a right, there is a remedy</a:t>
            </a:r>
          </a:p>
        </p:txBody>
      </p:sp>
      <p:sp>
        <p:nvSpPr>
          <p:cNvPr id="0" name="M3"/>
          <p:cNvSpPr/>
          <p:nvPr/>
        </p:nvSpPr>
        <p:spPr>
          <a:xfrm>
            <a:off x="6309360" y="2514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492240" y="2606040"/>
            <a:ext cx="5029200" cy="8229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E0A458"/>
                </a:solidFill>
                <a:latin typeface="Calibri"/>
              </a:rPr>
              <a:t>Res Ipsa Loquitur</a:t>
            </a:r>
          </a:p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The thing speaks for itself</a:t>
            </a:r>
          </a:p>
        </p:txBody>
      </p:sp>
      <p:sp>
        <p:nvSpPr>
          <p:cNvPr id="0" name="M4"/>
          <p:cNvSpPr/>
          <p:nvPr/>
        </p:nvSpPr>
        <p:spPr>
          <a:xfrm>
            <a:off x="64008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749040"/>
            <a:ext cx="5029200" cy="8229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E0A458"/>
                </a:solidFill>
                <a:latin typeface="Calibri"/>
              </a:rPr>
              <a:t>Volenti Non Fit Injuria</a:t>
            </a:r>
          </a:p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Consent = No injury claim</a:t>
            </a:r>
          </a:p>
        </p:txBody>
      </p:sp>
      <p:sp>
        <p:nvSpPr>
          <p:cNvPr id="0" name="M5"/>
          <p:cNvSpPr/>
          <p:nvPr/>
        </p:nvSpPr>
        <p:spPr>
          <a:xfrm>
            <a:off x="6309360" y="3657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492240" y="3749040"/>
            <a:ext cx="5029200" cy="8229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E0A458"/>
                </a:solidFill>
                <a:latin typeface="Calibri"/>
              </a:rPr>
              <a:t>Mandamus</a:t>
            </a:r>
          </a:p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We Command (Constitutional Writ)</a:t>
            </a:r>
          </a:p>
        </p:txBody>
      </p:sp>
      <p:sp>
        <p:nvSpPr>
          <p:cNvPr id="0" name="M6"/>
          <p:cNvSpPr/>
          <p:nvPr/>
        </p:nvSpPr>
        <p:spPr>
          <a:xfrm>
            <a:off x="640080" y="4800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892040"/>
            <a:ext cx="5029200" cy="8229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E0A458"/>
                </a:solidFill>
                <a:latin typeface="Calibri"/>
              </a:rPr>
              <a:t>De Jure</a:t>
            </a:r>
          </a:p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By law / Legally recognized</a:t>
            </a:r>
          </a:p>
        </p:txBody>
      </p:sp>
      <p:sp>
        <p:nvSpPr>
          <p:cNvPr id="0" name="M7"/>
          <p:cNvSpPr/>
          <p:nvPr/>
        </p:nvSpPr>
        <p:spPr>
          <a:xfrm>
            <a:off x="6309360" y="48006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492240" y="4892040"/>
            <a:ext cx="5029200" cy="8229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E0A458"/>
                </a:solidFill>
                <a:latin typeface="Calibri"/>
              </a:rPr>
              <a:t>Inter Alia</a:t>
            </a:r>
          </a:p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Among other things</a:t>
            </a:r>
          </a:p>
        </p:txBody>
      </p:sp>
      <p:sp>
        <p:nvSpPr>
          <p:cNvPr id="0" name="Law"/>
          <p:cNvSpPr/>
          <p:nvPr/>
        </p:nvSpPr>
        <p:spPr>
          <a:xfrm>
            <a:off x="640080" y="548640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3F7D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5577840"/>
            <a:ext cx="466344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Law Student: 8-9/10 Correct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Calibri"/>
              </a:rPr>
              <a:t>= FREE MARKS</a:t>
            </a:r>
          </a:p>
        </p:txBody>
      </p:sp>
      <p:sp>
        <p:nvSpPr>
          <p:cNvPr id="0" name="Gen"/>
          <p:cNvSpPr/>
          <p:nvPr/>
        </p:nvSpPr>
        <p:spPr>
          <a:xfrm>
            <a:off x="5943600" y="5486400"/>
            <a:ext cx="5394960" cy="914400"/>
          </a:xfrm>
          <a:prstGeom prst="roundRect">
            <a:avLst>
              <a:gd name="adj" fmla="val 5000"/>
            </a:avLst>
          </a:prstGeom>
          <a:solidFill>
            <a:srgbClr val="DC35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126480" y="5577840"/>
            <a:ext cx="502920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General Aspirant: 4-5/10 Correct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Calibri"/>
              </a:rPr>
              <a:t>= 4-5 MARKS GAP from 1 section!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500" b="1" dirty="0">
                <a:solidFill>
                  <a:srgbClr val="16233A"/>
                </a:solidFill>
                <a:latin typeface="Calibri"/>
              </a:rPr>
              <a:t>Questions Jo AAPKE Exam Mein Bhi Aayenge!</a:t>
            </a:r>
          </a:p>
        </p:txBody>
      </p:sp>
      <p:sp>
        <p:nvSpPr>
          <p:cNvPr id="0" name="TB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6B7280"/>
                </a:solidFill>
                <a:latin typeface="Calibri"/>
              </a:rPr>
              <a:t>Secretariat RO/ARO | Lower PCS | UKSSSC — Sab ke liye relevant</a:t>
            </a:r>
          </a:p>
        </p:txBody>
      </p:sp>
      <p:sp>
        <p:nvSpPr>
          <p:cNvPr id="0" name="F0"/>
          <p:cNvSpPr/>
          <p:nvPr/>
        </p:nvSpPr>
        <p:spPr>
          <a:xfrm>
            <a:off x="640080" y="13716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508760"/>
            <a:ext cx="3108960" cy="17373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UK Budget 2026-27</a:t>
            </a:r>
          </a:p>
          <a:p>
            <a:pPr algn="ctr"/>
            <a:r>
              <a:rPr lang="en-US" sz="1800" b="1" dirty="0">
                <a:solidFill>
                  <a:srgbClr val="16233A"/>
                </a:solidFill>
                <a:latin typeface="Calibri"/>
              </a:rPr>
              <a:t>Rs. 1,11,703.21 Crore</a:t>
            </a:r>
          </a:p>
          <a:p>
            <a:pPr algn="ctr"/>
            <a:r>
              <a:rPr lang="en-US" sz="400" dirty="0">
                <a:solidFill>
                  <a:srgbClr val="16233A"/>
                </a:solidFill>
                <a:latin typeface="Calibri"/>
              </a:rPr>
              <a:t/>
            </a:r>
          </a:p>
          <a:p>
            <a:pPr algn="ctr"/>
            <a:r>
              <a:rPr lang="en-US" sz="1000" dirty="0">
                <a:solidFill>
                  <a:srgbClr val="3F7D58"/>
                </a:solidFill>
                <a:latin typeface="Calibri"/>
              </a:rPr>
              <a:t>GUARANTEED aayega!</a:t>
            </a:r>
          </a:p>
        </p:txBody>
      </p:sp>
      <p:sp>
        <p:nvSpPr>
          <p:cNvPr id="0" name="F1"/>
          <p:cNvSpPr/>
          <p:nvPr/>
        </p:nvSpPr>
        <p:spPr>
          <a:xfrm>
            <a:off x="4389120" y="13716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4572000" y="1508760"/>
            <a:ext cx="3108960" cy="17373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UCC Act 2024 — Women Age</a:t>
            </a:r>
          </a:p>
          <a:p>
            <a:pPr algn="ctr"/>
            <a:r>
              <a:rPr lang="en-US" sz="1800" b="1" dirty="0">
                <a:solidFill>
                  <a:srgbClr val="16233A"/>
                </a:solidFill>
                <a:latin typeface="Calibri"/>
              </a:rPr>
              <a:t>18 Years</a:t>
            </a:r>
          </a:p>
          <a:p>
            <a:pPr algn="ctr"/>
            <a:r>
              <a:rPr lang="en-US" sz="400" dirty="0">
                <a:solidFill>
                  <a:srgbClr val="16233A"/>
                </a:solidFill>
                <a:latin typeface="Calibri"/>
              </a:rPr>
              <a:t/>
            </a:r>
          </a:p>
          <a:p>
            <a:pPr algn="ctr"/>
            <a:r>
              <a:rPr lang="en-US" sz="1000" dirty="0">
                <a:solidFill>
                  <a:srgbClr val="3F7D58"/>
                </a:solidFill>
                <a:latin typeface="Calibri"/>
              </a:rPr>
              <a:t>Marriage minimum</a:t>
            </a:r>
          </a:p>
        </p:txBody>
      </p:sp>
      <p:sp>
        <p:nvSpPr>
          <p:cNvPr id="0" name="F2"/>
          <p:cNvSpPr/>
          <p:nvPr/>
        </p:nvSpPr>
        <p:spPr>
          <a:xfrm>
            <a:off x="8138159" y="13716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321039" y="1508760"/>
            <a:ext cx="3108960" cy="17373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UCC Act 2024 — Men Age</a:t>
            </a:r>
          </a:p>
          <a:p>
            <a:pPr algn="ctr"/>
            <a:r>
              <a:rPr lang="en-US" sz="1800" b="1" dirty="0">
                <a:solidFill>
                  <a:srgbClr val="16233A"/>
                </a:solidFill>
                <a:latin typeface="Calibri"/>
              </a:rPr>
              <a:t>21 Years</a:t>
            </a:r>
          </a:p>
          <a:p>
            <a:pPr algn="ctr"/>
            <a:r>
              <a:rPr lang="en-US" sz="400" dirty="0">
                <a:solidFill>
                  <a:srgbClr val="16233A"/>
                </a:solidFill>
                <a:latin typeface="Calibri"/>
              </a:rPr>
              <a:t/>
            </a:r>
          </a:p>
          <a:p>
            <a:pPr algn="ctr"/>
            <a:r>
              <a:rPr lang="en-US" sz="1000" dirty="0">
                <a:solidFill>
                  <a:srgbClr val="3F7D58"/>
                </a:solidFill>
                <a:latin typeface="Calibri"/>
              </a:rPr>
              <a:t>Marriage minimum</a:t>
            </a:r>
          </a:p>
        </p:txBody>
      </p:sp>
      <p:sp>
        <p:nvSpPr>
          <p:cNvPr id="0" name="F3"/>
          <p:cNvSpPr/>
          <p:nvPr/>
        </p:nvSpPr>
        <p:spPr>
          <a:xfrm>
            <a:off x="640080" y="36576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794760"/>
            <a:ext cx="3108960" cy="17373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Live-in Registration</a:t>
            </a:r>
          </a:p>
          <a:p>
            <a:pPr algn="ctr"/>
            <a:r>
              <a:rPr lang="en-US" sz="1800" b="1" dirty="0">
                <a:solidFill>
                  <a:srgbClr val="16233A"/>
                </a:solidFill>
                <a:latin typeface="Calibri"/>
              </a:rPr>
              <a:t>60 Days ke andar</a:t>
            </a:r>
          </a:p>
          <a:p>
            <a:pPr algn="ctr"/>
            <a:r>
              <a:rPr lang="en-US" sz="400" dirty="0">
                <a:solidFill>
                  <a:srgbClr val="16233A"/>
                </a:solidFill>
                <a:latin typeface="Calibri"/>
              </a:rPr>
              <a:t/>
            </a:r>
          </a:p>
          <a:p>
            <a:pPr algn="ctr"/>
            <a:r>
              <a:rPr lang="en-US" sz="1000" dirty="0">
                <a:solidFill>
                  <a:srgbClr val="3F7D58"/>
                </a:solidFill>
                <a:latin typeface="Calibri"/>
              </a:rPr>
              <a:t>Mandatory!</a:t>
            </a:r>
          </a:p>
        </p:txBody>
      </p:sp>
      <p:sp>
        <p:nvSpPr>
          <p:cNvPr id="0" name="F4"/>
          <p:cNvSpPr/>
          <p:nvPr/>
        </p:nvSpPr>
        <p:spPr>
          <a:xfrm>
            <a:off x="4389120" y="36576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4572000" y="3794760"/>
            <a:ext cx="3108960" cy="17373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39th National Games</a:t>
            </a:r>
          </a:p>
          <a:p>
            <a:pPr algn="ctr"/>
            <a:r>
              <a:rPr lang="en-US" sz="1800" b="1" dirty="0">
                <a:solidFill>
                  <a:srgbClr val="16233A"/>
                </a:solidFill>
                <a:latin typeface="Calibri"/>
              </a:rPr>
              <a:t>UTTARAKHAND</a:t>
            </a:r>
          </a:p>
          <a:p>
            <a:pPr algn="ctr"/>
            <a:r>
              <a:rPr lang="en-US" sz="400" dirty="0">
                <a:solidFill>
                  <a:srgbClr val="16233A"/>
                </a:solidFill>
                <a:latin typeface="Calibri"/>
              </a:rPr>
              <a:t/>
            </a:r>
          </a:p>
          <a:p>
            <a:pPr algn="ctr"/>
            <a:r>
              <a:rPr lang="en-US" sz="1000" dirty="0">
                <a:solidFill>
                  <a:srgbClr val="3F7D58"/>
                </a:solidFill>
                <a:latin typeface="Calibri"/>
              </a:rPr>
              <a:t>100% pucha jayega</a:t>
            </a:r>
          </a:p>
        </p:txBody>
      </p:sp>
      <p:sp>
        <p:nvSpPr>
          <p:cNvPr id="0" name="F5"/>
          <p:cNvSpPr/>
          <p:nvPr/>
        </p:nvSpPr>
        <p:spPr>
          <a:xfrm>
            <a:off x="8138159" y="365760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321039" y="3794760"/>
            <a:ext cx="3108960" cy="17373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Nobel Peace 2025</a:t>
            </a:r>
          </a:p>
          <a:p>
            <a:pPr algn="ctr"/>
            <a:r>
              <a:rPr lang="en-US" sz="1800" b="1" dirty="0">
                <a:solidFill>
                  <a:srgbClr val="16233A"/>
                </a:solidFill>
                <a:latin typeface="Calibri"/>
              </a:rPr>
              <a:t>Nihon Hidankyo (Japan)</a:t>
            </a:r>
          </a:p>
          <a:p>
            <a:pPr algn="ctr"/>
            <a:r>
              <a:rPr lang="en-US" sz="400" dirty="0">
                <a:solidFill>
                  <a:srgbClr val="16233A"/>
                </a:solidFill>
                <a:latin typeface="Calibri"/>
              </a:rPr>
              <a:t/>
            </a:r>
          </a:p>
          <a:p>
            <a:pPr algn="ctr"/>
            <a:r>
              <a:rPr lang="en-US" sz="1000" dirty="0">
                <a:solidFill>
                  <a:srgbClr val="3F7D58"/>
                </a:solidFill>
                <a:latin typeface="Calibri"/>
              </a:rPr>
              <a:t>Fresh current affairs</a:t>
            </a:r>
          </a:p>
        </p:txBody>
      </p:sp>
      <p:sp>
        <p:nvSpPr>
          <p:cNvPr id="0" name="Bot"/>
          <p:cNvSpPr/>
          <p:nvPr/>
        </p:nvSpPr>
        <p:spPr>
          <a:xfrm>
            <a:off x="640080" y="576072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914400" y="5852160"/>
            <a:ext cx="1024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NOTE KARO: Ye sab upcoming UKPSC exams mein repeat honge!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500" b="1" dirty="0">
                <a:solidFill>
                  <a:srgbClr val="FFFFFF"/>
                </a:solidFill>
                <a:latin typeface="Calibri"/>
              </a:rPr>
              <a:t>Current Affairs — Answer Key Highlights</a:t>
            </a:r>
          </a:p>
        </p:txBody>
      </p:sp>
      <p:sp>
        <p:nvSpPr>
          <p:cNvPr id="0" name="TB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Q177-Q195: National &amp; International Current Affairs</a:t>
            </a:r>
          </a:p>
        </p:txBody>
      </p:sp>
      <p:sp>
        <p:nvSpPr>
          <p:cNvPr id="0" name="CH"/>
          <p:cNvSpPr/>
          <p:nvPr/>
        </p:nvSpPr>
        <p:spPr>
          <a:xfrm>
            <a:off x="640080" y="1188720"/>
            <a:ext cx="10698480" cy="4572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216152"/>
            <a:ext cx="13716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Q#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1216152"/>
            <a:ext cx="4572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Topic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1216152"/>
            <a:ext cx="384048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Answer</a:t>
            </a:r>
          </a:p>
        </p:txBody>
      </p:sp>
      <p:sp>
        <p:nvSpPr>
          <p:cNvPr id="0" name="CA0"/>
          <p:cNvSpPr/>
          <p:nvPr/>
        </p:nvSpPr>
        <p:spPr>
          <a:xfrm>
            <a:off x="640080" y="1737360"/>
            <a:ext cx="10698480" cy="438912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764792"/>
            <a:ext cx="13716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Q178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1764792"/>
            <a:ext cx="45720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WEF Davos 2026 Theme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1764792"/>
            <a:ext cx="384048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Cooperation in a Fragmented World</a:t>
            </a:r>
          </a:p>
        </p:txBody>
      </p:sp>
      <p:sp>
        <p:nvSpPr>
          <p:cNvPr id="0" name="CA1"/>
          <p:cNvSpPr/>
          <p:nvPr/>
        </p:nvSpPr>
        <p:spPr>
          <a:xfrm>
            <a:off x="640080" y="2212848"/>
            <a:ext cx="10698480" cy="438912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240280"/>
            <a:ext cx="13716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Q179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2240280"/>
            <a:ext cx="45720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EU Council President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2240280"/>
            <a:ext cx="384048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Antonio Costa</a:t>
            </a:r>
          </a:p>
        </p:txBody>
      </p:sp>
      <p:sp>
        <p:nvSpPr>
          <p:cNvPr id="0" name="CA2"/>
          <p:cNvSpPr/>
          <p:nvPr/>
        </p:nvSpPr>
        <p:spPr>
          <a:xfrm>
            <a:off x="640080" y="2688336"/>
            <a:ext cx="10698480" cy="438912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715768"/>
            <a:ext cx="13716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Q181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2715768"/>
            <a:ext cx="45720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Nobel Peace Prize 2025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2715768"/>
            <a:ext cx="384048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Nihon Hidankyo</a:t>
            </a:r>
          </a:p>
        </p:txBody>
      </p:sp>
      <p:sp>
        <p:nvSpPr>
          <p:cNvPr id="0" name="CA3"/>
          <p:cNvSpPr/>
          <p:nvPr/>
        </p:nvSpPr>
        <p:spPr>
          <a:xfrm>
            <a:off x="640080" y="3163824"/>
            <a:ext cx="10698480" cy="438912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191256"/>
            <a:ext cx="13716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Q183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3191256"/>
            <a:ext cx="45720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IOAA 2026 Host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3191256"/>
            <a:ext cx="384048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Mumbai, India</a:t>
            </a:r>
          </a:p>
        </p:txBody>
      </p:sp>
      <p:sp>
        <p:nvSpPr>
          <p:cNvPr id="0" name="CA4"/>
          <p:cNvSpPr/>
          <p:nvPr/>
        </p:nvSpPr>
        <p:spPr>
          <a:xfrm>
            <a:off x="640080" y="3639312"/>
            <a:ext cx="10698480" cy="438912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666744"/>
            <a:ext cx="13716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Q184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3666744"/>
            <a:ext cx="45720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Sri Lanka PM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3666744"/>
            <a:ext cx="384048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Harini Amarasuriya</a:t>
            </a:r>
          </a:p>
        </p:txBody>
      </p:sp>
      <p:sp>
        <p:nvSpPr>
          <p:cNvPr id="0" name="CA5"/>
          <p:cNvSpPr/>
          <p:nvPr/>
        </p:nvSpPr>
        <p:spPr>
          <a:xfrm>
            <a:off x="640080" y="4114800"/>
            <a:ext cx="10698480" cy="438912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142232"/>
            <a:ext cx="13716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Q186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4142232"/>
            <a:ext cx="45720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IWD 2026 Theme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4142232"/>
            <a:ext cx="384048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Rights, Justice &amp; Action</a:t>
            </a:r>
          </a:p>
        </p:txBody>
      </p:sp>
      <p:sp>
        <p:nvSpPr>
          <p:cNvPr id="0" name="CA6"/>
          <p:cNvSpPr/>
          <p:nvPr/>
        </p:nvSpPr>
        <p:spPr>
          <a:xfrm>
            <a:off x="640080" y="4590288"/>
            <a:ext cx="10698480" cy="438912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617720"/>
            <a:ext cx="13716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Q189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1971 War Film (Jan 2026)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4617720"/>
            <a:ext cx="384048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Ikkees (Arun Khetarpal)</a:t>
            </a:r>
          </a:p>
        </p:txBody>
      </p:sp>
      <p:sp>
        <p:nvSpPr>
          <p:cNvPr id="0" name="CA7"/>
          <p:cNvSpPr/>
          <p:nvPr/>
        </p:nvSpPr>
        <p:spPr>
          <a:xfrm>
            <a:off x="640080" y="5065776"/>
            <a:ext cx="10698480" cy="438912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5093208"/>
            <a:ext cx="13716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Q192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5093208"/>
            <a:ext cx="45720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Indian Fighter Jet 25th Anniv.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5093208"/>
            <a:ext cx="384048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Tejas</a:t>
            </a:r>
          </a:p>
        </p:txBody>
      </p:sp>
      <p:sp>
        <p:nvSpPr>
          <p:cNvPr id="0" name="CA8"/>
          <p:cNvSpPr/>
          <p:nvPr/>
        </p:nvSpPr>
        <p:spPr>
          <a:xfrm>
            <a:off x="640080" y="5541264"/>
            <a:ext cx="10698480" cy="438912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5568696"/>
            <a:ext cx="13716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C7CFDB"/>
                </a:solidFill>
                <a:latin typeface="Calibri"/>
              </a:rPr>
              <a:t>Q193</a:t>
            </a:r>
          </a:p>
        </p:txBody>
      </p:sp>
      <p:sp>
        <p:nvSpPr>
          <p:cNvPr id="0" name="TB"/>
          <p:cNvSpPr txBox="1"/>
          <p:nvPr/>
        </p:nvSpPr>
        <p:spPr>
          <a:xfrm>
            <a:off x="2286000" y="5568696"/>
            <a:ext cx="457200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39th National Games</a:t>
            </a:r>
          </a:p>
        </p:txBody>
      </p:sp>
      <p:sp>
        <p:nvSpPr>
          <p:cNvPr id="0" name="TB"/>
          <p:cNvSpPr txBox="1"/>
          <p:nvPr/>
        </p:nvSpPr>
        <p:spPr>
          <a:xfrm>
            <a:off x="7315200" y="5568696"/>
            <a:ext cx="3840480" cy="38404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E0A458"/>
                </a:solidFill>
                <a:latin typeface="Calibri"/>
              </a:rPr>
              <a:t>Uttarakhand</a:t>
            </a:r>
          </a:p>
        </p:txBody>
      </p:sp>
      <p:sp>
        <p:nvSpPr>
          <p:cNvPr id="0" name="TB"/>
          <p:cNvSpPr txBox="1"/>
          <p:nvPr/>
        </p:nvSpPr>
        <p:spPr>
          <a:xfrm>
            <a:off x="640080" y="6126480"/>
            <a:ext cx="106984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3F7D58"/>
                </a:solidFill>
                <a:latin typeface="Calibri"/>
              </a:rPr>
              <a:t>Ye sab recent 6 months ke facts hain — Lower PCS mein bhi expect karo!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500" b="1" dirty="0">
                <a:solidFill>
                  <a:srgbClr val="16233A"/>
                </a:solidFill>
                <a:latin typeface="Calibri"/>
              </a:rPr>
              <a:t>Uttarakhand GK — Key Facts (Note Karo!)</a:t>
            </a:r>
          </a:p>
        </p:txBody>
      </p:sp>
      <p:sp>
        <p:nvSpPr>
          <p:cNvPr id="0" name="N0"/>
          <p:cNvSpPr/>
          <p:nvPr/>
        </p:nvSpPr>
        <p:spPr>
          <a:xfrm>
            <a:off x="640080" y="100584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1024128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1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1051560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Kedarnath = UK ka sabse bada Wildlife Sanctuary (area)</a:t>
            </a:r>
          </a:p>
        </p:txBody>
      </p:sp>
      <p:sp>
        <p:nvSpPr>
          <p:cNvPr id="0" name="N1"/>
          <p:cNvSpPr/>
          <p:nvPr/>
        </p:nvSpPr>
        <p:spPr>
          <a:xfrm>
            <a:off x="640080" y="155448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1572768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2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1600200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Edward Gardner = British Kumaon First Commissioner (1815)</a:t>
            </a:r>
          </a:p>
        </p:txBody>
      </p:sp>
      <p:sp>
        <p:nvSpPr>
          <p:cNvPr id="0" name="N2"/>
          <p:cNvSpPr/>
          <p:nvPr/>
        </p:nvSpPr>
        <p:spPr>
          <a:xfrm>
            <a:off x="640080" y="21031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2121408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3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2148840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Article 214 = HC ki sthapna ka Constitutional basis</a:t>
            </a:r>
          </a:p>
        </p:txBody>
      </p:sp>
      <p:sp>
        <p:nvSpPr>
          <p:cNvPr id="0" name="N3"/>
          <p:cNvSpPr/>
          <p:nvPr/>
        </p:nvSpPr>
        <p:spPr>
          <a:xfrm>
            <a:off x="640080" y="265176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2670048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4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2697480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Kisau Dam = Tons | Lakhwar = Yamuna | Tehri = Bhagirathi | Kalagadh = Ramganga</a:t>
            </a:r>
          </a:p>
        </p:txBody>
      </p:sp>
      <p:sp>
        <p:nvSpPr>
          <p:cNvPr id="0" name="N4"/>
          <p:cNvSpPr/>
          <p:nvPr/>
        </p:nvSpPr>
        <p:spPr>
          <a:xfrm>
            <a:off x="640080" y="32004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3218688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5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3246120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Lampiya Dhura = Pithoragarh | Neeti = Chamoli | Muling La = Uttarkashi</a:t>
            </a:r>
          </a:p>
        </p:txBody>
      </p:sp>
      <p:sp>
        <p:nvSpPr>
          <p:cNvPr id="0" name="N5"/>
          <p:cNvSpPr/>
          <p:nvPr/>
        </p:nvSpPr>
        <p:spPr>
          <a:xfrm>
            <a:off x="640080" y="3749039"/>
            <a:ext cx="457200" cy="457200"/>
          </a:xfrm>
          <a:prstGeom prst="roundRect">
            <a:avLst>
              <a:gd name="adj" fmla="val 5000"/>
            </a:avLst>
          </a:prstGeom>
          <a:solidFill>
            <a:srgbClr val="3F7D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3767327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6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3794759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Bagwal Mela = Devi Dhura (stone-throwing festival)</a:t>
            </a:r>
          </a:p>
        </p:txBody>
      </p:sp>
      <p:sp>
        <p:nvSpPr>
          <p:cNvPr id="0" name="N6"/>
          <p:cNvSpPr/>
          <p:nvPr/>
        </p:nvSpPr>
        <p:spPr>
          <a:xfrm>
            <a:off x="640080" y="4297679"/>
            <a:ext cx="457200" cy="457200"/>
          </a:xfrm>
          <a:prstGeom prst="roundRect">
            <a:avLst>
              <a:gd name="adj" fmla="val 5000"/>
            </a:avLst>
          </a:prstGeom>
          <a:solidFill>
            <a:srgbClr val="3F7D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4315967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7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4343399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Talaun Bhoomi = Best irrigated land in UK hills</a:t>
            </a:r>
          </a:p>
        </p:txBody>
      </p:sp>
      <p:sp>
        <p:nvSpPr>
          <p:cNvPr id="0" name="N7"/>
          <p:cNvSpPr/>
          <p:nvPr/>
        </p:nvSpPr>
        <p:spPr>
          <a:xfrm>
            <a:off x="640080" y="4846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3F7D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4864608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8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4892040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5 UK districts share NO border with other states/countries</a:t>
            </a:r>
          </a:p>
        </p:txBody>
      </p:sp>
      <p:sp>
        <p:nvSpPr>
          <p:cNvPr id="0" name="N8"/>
          <p:cNvSpPr/>
          <p:nvPr/>
        </p:nvSpPr>
        <p:spPr>
          <a:xfrm>
            <a:off x="640080" y="539496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3F7D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5413248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9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5440680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2011 Census: 8 towns in UK with 1 lakh+ population</a:t>
            </a:r>
          </a:p>
        </p:txBody>
      </p:sp>
      <p:sp>
        <p:nvSpPr>
          <p:cNvPr id="0" name="N9"/>
          <p:cNvSpPr/>
          <p:nvPr/>
        </p:nvSpPr>
        <p:spPr>
          <a:xfrm>
            <a:off x="640080" y="594360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3F7D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685800" y="5961888"/>
            <a:ext cx="36576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16233A"/>
                </a:solidFill>
                <a:latin typeface="Calibri"/>
              </a:rPr>
              <a:t>10</a:t>
            </a:r>
          </a:p>
        </p:txBody>
      </p:sp>
      <p:sp>
        <p:nvSpPr>
          <p:cNvPr id="0" name="TB"/>
          <p:cNvSpPr txBox="1"/>
          <p:nvPr/>
        </p:nvSpPr>
        <p:spPr>
          <a:xfrm>
            <a:off x="1280160" y="5989320"/>
            <a:ext cx="10058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50" dirty="0">
                <a:solidFill>
                  <a:srgbClr val="2A2A2A"/>
                </a:solidFill>
                <a:latin typeface="Calibri"/>
              </a:rPr>
              <a:t>Bachendri Pal=Mountaineering | C.P. Bhatt=Environment | Kapoor=Politics | Katariya=Sports</a:t>
            </a:r>
          </a:p>
        </p:txBody>
      </p:sp>
      <p:sp>
        <p:nvSpPr>
          <p:cNvPr id="0" name="X"/>
          <p:cNvSpPr/>
          <p:nvPr/>
        </p:nvSpPr>
        <p:spPr>
          <a:xfrm>
            <a:off x="640080" y="6400800"/>
            <a:ext cx="10698480" cy="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/>
              </a:rPr>
              <a:t>Section-wise Difficulty Analysis</a:t>
            </a:r>
          </a:p>
        </p:txBody>
      </p:sp>
      <p:sp>
        <p:nvSpPr>
          <p:cNvPr id="0" name="DH"/>
          <p:cNvSpPr/>
          <p:nvPr/>
        </p:nvSpPr>
        <p:spPr>
          <a:xfrm>
            <a:off x="640080" y="100584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051560"/>
            <a:ext cx="4572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0" name="TB"/>
          <p:cNvSpPr txBox="1"/>
          <p:nvPr/>
        </p:nvSpPr>
        <p:spPr>
          <a:xfrm>
            <a:off x="5943600" y="105156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Difficulty</a:t>
            </a:r>
          </a:p>
        </p:txBody>
      </p:sp>
      <p:sp>
        <p:nvSpPr>
          <p:cNvPr id="0" name="TB"/>
          <p:cNvSpPr txBox="1"/>
          <p:nvPr/>
        </p:nvSpPr>
        <p:spPr>
          <a:xfrm>
            <a:off x="8686800" y="105156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Approx Qs</a:t>
            </a:r>
          </a:p>
        </p:txBody>
      </p:sp>
      <p:sp>
        <p:nvSpPr>
          <p:cNvPr id="0" name="D0"/>
          <p:cNvSpPr/>
          <p:nvPr/>
        </p:nvSpPr>
        <p:spPr>
          <a:xfrm>
            <a:off x="640080" y="1600200"/>
            <a:ext cx="10698480" cy="521207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645920"/>
            <a:ext cx="484632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Legal Maxims (Q35-54)</a:t>
            </a:r>
          </a:p>
        </p:txBody>
      </p:sp>
      <p:sp>
        <p:nvSpPr>
          <p:cNvPr id="0" name="TB"/>
          <p:cNvSpPr txBox="1"/>
          <p:nvPr/>
        </p:nvSpPr>
        <p:spPr>
          <a:xfrm>
            <a:off x="5943600" y="1645920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DC3545"/>
                </a:solidFill>
                <a:latin typeface="Calibri"/>
              </a:rPr>
              <a:t>Moderate-Tough</a:t>
            </a:r>
          </a:p>
        </p:txBody>
      </p:sp>
      <p:sp>
        <p:nvSpPr>
          <p:cNvPr id="0" name="TB"/>
          <p:cNvSpPr txBox="1"/>
          <p:nvPr/>
        </p:nvSpPr>
        <p:spPr>
          <a:xfrm>
            <a:off x="8686800" y="1645920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20+</a:t>
            </a:r>
          </a:p>
        </p:txBody>
      </p:sp>
      <p:sp>
        <p:nvSpPr>
          <p:cNvPr id="0" name="D1"/>
          <p:cNvSpPr/>
          <p:nvPr/>
        </p:nvSpPr>
        <p:spPr>
          <a:xfrm>
            <a:off x="640080" y="2167128"/>
            <a:ext cx="10698480" cy="521207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212848"/>
            <a:ext cx="484632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Legal History (Q59-68)</a:t>
            </a:r>
          </a:p>
        </p:txBody>
      </p:sp>
      <p:sp>
        <p:nvSpPr>
          <p:cNvPr id="0" name="TB"/>
          <p:cNvSpPr txBox="1"/>
          <p:nvPr/>
        </p:nvSpPr>
        <p:spPr>
          <a:xfrm>
            <a:off x="5943600" y="2212848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F59E0B"/>
                </a:solidFill>
                <a:latin typeface="Calibri"/>
              </a:rPr>
              <a:t>Moderate</a:t>
            </a:r>
          </a:p>
        </p:txBody>
      </p:sp>
      <p:sp>
        <p:nvSpPr>
          <p:cNvPr id="0" name="TB"/>
          <p:cNvSpPr txBox="1"/>
          <p:nvPr/>
        </p:nvSpPr>
        <p:spPr>
          <a:xfrm>
            <a:off x="8686800" y="2212848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~15</a:t>
            </a:r>
          </a:p>
        </p:txBody>
      </p:sp>
      <p:sp>
        <p:nvSpPr>
          <p:cNvPr id="0" name="D2"/>
          <p:cNvSpPr/>
          <p:nvPr/>
        </p:nvSpPr>
        <p:spPr>
          <a:xfrm>
            <a:off x="640080" y="2734056"/>
            <a:ext cx="10698480" cy="521207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779776"/>
            <a:ext cx="484632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Indian Polity (Q110-117)</a:t>
            </a:r>
          </a:p>
        </p:txBody>
      </p:sp>
      <p:sp>
        <p:nvSpPr>
          <p:cNvPr id="0" name="TB"/>
          <p:cNvSpPr txBox="1"/>
          <p:nvPr/>
        </p:nvSpPr>
        <p:spPr>
          <a:xfrm>
            <a:off x="5943600" y="2779776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3F7D58"/>
                </a:solidFill>
                <a:latin typeface="Calibri"/>
              </a:rPr>
              <a:t>Easy-Moderate</a:t>
            </a:r>
          </a:p>
        </p:txBody>
      </p:sp>
      <p:sp>
        <p:nvSpPr>
          <p:cNvPr id="0" name="TB"/>
          <p:cNvSpPr txBox="1"/>
          <p:nvPr/>
        </p:nvSpPr>
        <p:spPr>
          <a:xfrm>
            <a:off x="8686800" y="2779776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~15</a:t>
            </a:r>
          </a:p>
        </p:txBody>
      </p:sp>
      <p:sp>
        <p:nvSpPr>
          <p:cNvPr id="0" name="D3"/>
          <p:cNvSpPr/>
          <p:nvPr/>
        </p:nvSpPr>
        <p:spPr>
          <a:xfrm>
            <a:off x="640080" y="3300984"/>
            <a:ext cx="10698480" cy="521207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346704"/>
            <a:ext cx="484632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UK History &amp; Culture (Q72-96)</a:t>
            </a:r>
          </a:p>
        </p:txBody>
      </p:sp>
      <p:sp>
        <p:nvSpPr>
          <p:cNvPr id="0" name="TB"/>
          <p:cNvSpPr txBox="1"/>
          <p:nvPr/>
        </p:nvSpPr>
        <p:spPr>
          <a:xfrm>
            <a:off x="5943600" y="3346704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DC3545"/>
                </a:solidFill>
                <a:latin typeface="Calibri"/>
              </a:rPr>
              <a:t>Tough</a:t>
            </a:r>
          </a:p>
        </p:txBody>
      </p:sp>
      <p:sp>
        <p:nvSpPr>
          <p:cNvPr id="0" name="TB"/>
          <p:cNvSpPr txBox="1"/>
          <p:nvPr/>
        </p:nvSpPr>
        <p:spPr>
          <a:xfrm>
            <a:off x="8686800" y="3346704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~40</a:t>
            </a:r>
          </a:p>
        </p:txBody>
      </p:sp>
      <p:sp>
        <p:nvSpPr>
          <p:cNvPr id="0" name="D4"/>
          <p:cNvSpPr/>
          <p:nvPr/>
        </p:nvSpPr>
        <p:spPr>
          <a:xfrm>
            <a:off x="640080" y="3867912"/>
            <a:ext cx="10698480" cy="521207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913632"/>
            <a:ext cx="484632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UK Current &amp; Schemes (Q97-109)</a:t>
            </a:r>
          </a:p>
        </p:txBody>
      </p:sp>
      <p:sp>
        <p:nvSpPr>
          <p:cNvPr id="0" name="TB"/>
          <p:cNvSpPr txBox="1"/>
          <p:nvPr/>
        </p:nvSpPr>
        <p:spPr>
          <a:xfrm>
            <a:off x="5943600" y="3913632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F59E0B"/>
                </a:solidFill>
                <a:latin typeface="Calibri"/>
              </a:rPr>
              <a:t>Moderate</a:t>
            </a:r>
          </a:p>
        </p:txBody>
      </p:sp>
      <p:sp>
        <p:nvSpPr>
          <p:cNvPr id="0" name="TB"/>
          <p:cNvSpPr txBox="1"/>
          <p:nvPr/>
        </p:nvSpPr>
        <p:spPr>
          <a:xfrm>
            <a:off x="8686800" y="3913632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~15</a:t>
            </a:r>
          </a:p>
        </p:txBody>
      </p:sp>
      <p:sp>
        <p:nvSpPr>
          <p:cNvPr id="0" name="D5"/>
          <p:cNvSpPr/>
          <p:nvPr/>
        </p:nvSpPr>
        <p:spPr>
          <a:xfrm>
            <a:off x="640080" y="4434840"/>
            <a:ext cx="10698480" cy="521207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480560"/>
            <a:ext cx="484632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National Current Affairs (Q177-195)</a:t>
            </a:r>
          </a:p>
        </p:txBody>
      </p:sp>
      <p:sp>
        <p:nvSpPr>
          <p:cNvPr id="0" name="TB"/>
          <p:cNvSpPr txBox="1"/>
          <p:nvPr/>
        </p:nvSpPr>
        <p:spPr>
          <a:xfrm>
            <a:off x="5943600" y="4480560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3F7D58"/>
                </a:solidFill>
                <a:latin typeface="Calibri"/>
              </a:rPr>
              <a:t>Easy-Moderate</a:t>
            </a:r>
          </a:p>
        </p:txBody>
      </p:sp>
      <p:sp>
        <p:nvSpPr>
          <p:cNvPr id="0" name="TB"/>
          <p:cNvSpPr txBox="1"/>
          <p:nvPr/>
        </p:nvSpPr>
        <p:spPr>
          <a:xfrm>
            <a:off x="8686800" y="4480560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~20</a:t>
            </a:r>
          </a:p>
        </p:txBody>
      </p:sp>
      <p:sp>
        <p:nvSpPr>
          <p:cNvPr id="0" name="D6"/>
          <p:cNvSpPr/>
          <p:nvPr/>
        </p:nvSpPr>
        <p:spPr>
          <a:xfrm>
            <a:off x="640080" y="5001768"/>
            <a:ext cx="10698480" cy="521207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5047488"/>
            <a:ext cx="484632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Science &amp; Computer</a:t>
            </a:r>
          </a:p>
        </p:txBody>
      </p:sp>
      <p:sp>
        <p:nvSpPr>
          <p:cNvPr id="0" name="TB"/>
          <p:cNvSpPr txBox="1"/>
          <p:nvPr/>
        </p:nvSpPr>
        <p:spPr>
          <a:xfrm>
            <a:off x="5943600" y="5047488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F59E0B"/>
                </a:solidFill>
                <a:latin typeface="Calibri"/>
              </a:rPr>
              <a:t>Moderate</a:t>
            </a:r>
          </a:p>
        </p:txBody>
      </p:sp>
      <p:sp>
        <p:nvSpPr>
          <p:cNvPr id="0" name="TB"/>
          <p:cNvSpPr txBox="1"/>
          <p:nvPr/>
        </p:nvSpPr>
        <p:spPr>
          <a:xfrm>
            <a:off x="8686800" y="5047488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~15</a:t>
            </a:r>
          </a:p>
        </p:txBody>
      </p:sp>
      <p:sp>
        <p:nvSpPr>
          <p:cNvPr id="0" name="D7"/>
          <p:cNvSpPr/>
          <p:nvPr/>
        </p:nvSpPr>
        <p:spPr>
          <a:xfrm>
            <a:off x="640080" y="5568696"/>
            <a:ext cx="10698480" cy="521207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5614416"/>
            <a:ext cx="484632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Maths &amp; Reasoning</a:t>
            </a:r>
          </a:p>
        </p:txBody>
      </p:sp>
      <p:sp>
        <p:nvSpPr>
          <p:cNvPr id="0" name="TB"/>
          <p:cNvSpPr txBox="1"/>
          <p:nvPr/>
        </p:nvSpPr>
        <p:spPr>
          <a:xfrm>
            <a:off x="5943600" y="5614416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F59E0B"/>
                </a:solidFill>
                <a:latin typeface="Calibri"/>
              </a:rPr>
              <a:t>Moderate</a:t>
            </a:r>
          </a:p>
        </p:txBody>
      </p:sp>
      <p:sp>
        <p:nvSpPr>
          <p:cNvPr id="0" name="TB"/>
          <p:cNvSpPr txBox="1"/>
          <p:nvPr/>
        </p:nvSpPr>
        <p:spPr>
          <a:xfrm>
            <a:off x="8686800" y="5614416"/>
            <a:ext cx="2286000" cy="429768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~20</a:t>
            </a:r>
          </a:p>
        </p:txBody>
      </p:sp>
      <p:sp>
        <p:nvSpPr>
          <p:cNvPr id="0" name="OV"/>
          <p:cNvSpPr/>
          <p:nvPr/>
        </p:nvSpPr>
        <p:spPr>
          <a:xfrm>
            <a:off x="640080" y="603504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914400" y="6080760"/>
            <a:ext cx="1024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16233A"/>
                </a:solidFill>
                <a:latin typeface="Calibri"/>
              </a:rPr>
              <a:t>Overall Paper Level: MODERATE (with TOUGH Legal + UK History sections)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EXPECTED CUT-OFF — HC ARO 2026 (Out of 200)</a:t>
            </a:r>
          </a:p>
        </p:txBody>
      </p:sp>
      <p:sp>
        <p:nvSpPr>
          <p:cNvPr id="0" name="TB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C7CFDB"/>
                </a:solidFill>
                <a:latin typeface="Calibri"/>
              </a:rPr>
              <a:t>Based on: Paper Difficulty + 15 Seats + Legal Filter + Historical Trends</a:t>
            </a:r>
          </a:p>
        </p:txBody>
      </p:sp>
      <p:sp>
        <p:nvSpPr>
          <p:cNvPr id="0" name="CTH"/>
          <p:cNvSpPr/>
          <p:nvPr/>
        </p:nvSpPr>
        <p:spPr>
          <a:xfrm>
            <a:off x="640080" y="146304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508760"/>
            <a:ext cx="36576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0" name="TB"/>
          <p:cNvSpPr txBox="1"/>
          <p:nvPr/>
        </p:nvSpPr>
        <p:spPr>
          <a:xfrm>
            <a:off x="5029200" y="150876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Expected Marks</a:t>
            </a:r>
          </a:p>
        </p:txBody>
      </p:sp>
      <p:sp>
        <p:nvSpPr>
          <p:cNvPr id="0" name="TB"/>
          <p:cNvSpPr txBox="1"/>
          <p:nvPr/>
        </p:nvSpPr>
        <p:spPr>
          <a:xfrm>
            <a:off x="8229600" y="150876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% Equivalent</a:t>
            </a:r>
          </a:p>
        </p:txBody>
      </p:sp>
      <p:sp>
        <p:nvSpPr>
          <p:cNvPr id="0" name="CT0"/>
          <p:cNvSpPr/>
          <p:nvPr/>
        </p:nvSpPr>
        <p:spPr>
          <a:xfrm>
            <a:off x="640080" y="205740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130552"/>
            <a:ext cx="36576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General / Unreserved</a:t>
            </a:r>
          </a:p>
        </p:txBody>
      </p:sp>
      <p:sp>
        <p:nvSpPr>
          <p:cNvPr id="0" name="TB"/>
          <p:cNvSpPr txBox="1"/>
          <p:nvPr/>
        </p:nvSpPr>
        <p:spPr>
          <a:xfrm>
            <a:off x="5029200" y="2130552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800" b="1" dirty="0">
                <a:solidFill>
                  <a:srgbClr val="E0A458"/>
                </a:solidFill>
                <a:latin typeface="Calibri"/>
              </a:rPr>
              <a:t>138 - 144</a:t>
            </a:r>
          </a:p>
        </p:txBody>
      </p:sp>
      <p:sp>
        <p:nvSpPr>
          <p:cNvPr id="0" name="TB"/>
          <p:cNvSpPr txBox="1"/>
          <p:nvPr/>
        </p:nvSpPr>
        <p:spPr>
          <a:xfrm>
            <a:off x="8229600" y="2130552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C7CFDB"/>
                </a:solidFill>
                <a:latin typeface="Calibri"/>
              </a:rPr>
              <a:t>69% - 72%</a:t>
            </a:r>
          </a:p>
        </p:txBody>
      </p:sp>
      <p:sp>
        <p:nvSpPr>
          <p:cNvPr id="0" name="CT1"/>
          <p:cNvSpPr/>
          <p:nvPr/>
        </p:nvSpPr>
        <p:spPr>
          <a:xfrm>
            <a:off x="640080" y="269748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770632"/>
            <a:ext cx="36576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OBC</a:t>
            </a:r>
          </a:p>
        </p:txBody>
      </p:sp>
      <p:sp>
        <p:nvSpPr>
          <p:cNvPr id="0" name="TB"/>
          <p:cNvSpPr txBox="1"/>
          <p:nvPr/>
        </p:nvSpPr>
        <p:spPr>
          <a:xfrm>
            <a:off x="5029200" y="2770632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800" b="1" dirty="0">
                <a:solidFill>
                  <a:srgbClr val="E0A458"/>
                </a:solidFill>
                <a:latin typeface="Calibri"/>
              </a:rPr>
              <a:t>133 - 138</a:t>
            </a:r>
          </a:p>
        </p:txBody>
      </p:sp>
      <p:sp>
        <p:nvSpPr>
          <p:cNvPr id="0" name="TB"/>
          <p:cNvSpPr txBox="1"/>
          <p:nvPr/>
        </p:nvSpPr>
        <p:spPr>
          <a:xfrm>
            <a:off x="8229600" y="2770632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C7CFDB"/>
                </a:solidFill>
                <a:latin typeface="Calibri"/>
              </a:rPr>
              <a:t>66.5% - 69%</a:t>
            </a:r>
          </a:p>
        </p:txBody>
      </p:sp>
      <p:sp>
        <p:nvSpPr>
          <p:cNvPr id="0" name="CT2"/>
          <p:cNvSpPr/>
          <p:nvPr/>
        </p:nvSpPr>
        <p:spPr>
          <a:xfrm>
            <a:off x="640080" y="333756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410712"/>
            <a:ext cx="36576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EWS</a:t>
            </a:r>
          </a:p>
        </p:txBody>
      </p:sp>
      <p:sp>
        <p:nvSpPr>
          <p:cNvPr id="0" name="TB"/>
          <p:cNvSpPr txBox="1"/>
          <p:nvPr/>
        </p:nvSpPr>
        <p:spPr>
          <a:xfrm>
            <a:off x="5029200" y="3410712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800" b="1" dirty="0">
                <a:solidFill>
                  <a:srgbClr val="E0A458"/>
                </a:solidFill>
                <a:latin typeface="Calibri"/>
              </a:rPr>
              <a:t>130 - 135</a:t>
            </a:r>
          </a:p>
        </p:txBody>
      </p:sp>
      <p:sp>
        <p:nvSpPr>
          <p:cNvPr id="0" name="TB"/>
          <p:cNvSpPr txBox="1"/>
          <p:nvPr/>
        </p:nvSpPr>
        <p:spPr>
          <a:xfrm>
            <a:off x="8229600" y="3410712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C7CFDB"/>
                </a:solidFill>
                <a:latin typeface="Calibri"/>
              </a:rPr>
              <a:t>65% - 67.5%</a:t>
            </a:r>
          </a:p>
        </p:txBody>
      </p:sp>
      <p:sp>
        <p:nvSpPr>
          <p:cNvPr id="0" name="CT3"/>
          <p:cNvSpPr/>
          <p:nvPr/>
        </p:nvSpPr>
        <p:spPr>
          <a:xfrm>
            <a:off x="640080" y="3977639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050791"/>
            <a:ext cx="36576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Scheduled Caste (SC)</a:t>
            </a:r>
          </a:p>
        </p:txBody>
      </p:sp>
      <p:sp>
        <p:nvSpPr>
          <p:cNvPr id="0" name="TB"/>
          <p:cNvSpPr txBox="1"/>
          <p:nvPr/>
        </p:nvSpPr>
        <p:spPr>
          <a:xfrm>
            <a:off x="5029200" y="4050791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800" b="1" dirty="0">
                <a:solidFill>
                  <a:srgbClr val="E0A458"/>
                </a:solidFill>
                <a:latin typeface="Calibri"/>
              </a:rPr>
              <a:t>120 - 125</a:t>
            </a:r>
          </a:p>
        </p:txBody>
      </p:sp>
      <p:sp>
        <p:nvSpPr>
          <p:cNvPr id="0" name="TB"/>
          <p:cNvSpPr txBox="1"/>
          <p:nvPr/>
        </p:nvSpPr>
        <p:spPr>
          <a:xfrm>
            <a:off x="8229600" y="4050791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C7CFDB"/>
                </a:solidFill>
                <a:latin typeface="Calibri"/>
              </a:rPr>
              <a:t>60% - 62.5%</a:t>
            </a:r>
          </a:p>
        </p:txBody>
      </p:sp>
      <p:sp>
        <p:nvSpPr>
          <p:cNvPr id="0" name="CT4"/>
          <p:cNvSpPr/>
          <p:nvPr/>
        </p:nvSpPr>
        <p:spPr>
          <a:xfrm>
            <a:off x="640080" y="461772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690872"/>
            <a:ext cx="36576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Scheduled Tribe (ST)</a:t>
            </a:r>
          </a:p>
        </p:txBody>
      </p:sp>
      <p:sp>
        <p:nvSpPr>
          <p:cNvPr id="0" name="TB"/>
          <p:cNvSpPr txBox="1"/>
          <p:nvPr/>
        </p:nvSpPr>
        <p:spPr>
          <a:xfrm>
            <a:off x="5029200" y="4690872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800" b="1" dirty="0">
                <a:solidFill>
                  <a:srgbClr val="E0A458"/>
                </a:solidFill>
                <a:latin typeface="Calibri"/>
              </a:rPr>
              <a:t>115 - 120</a:t>
            </a:r>
          </a:p>
        </p:txBody>
      </p:sp>
      <p:sp>
        <p:nvSpPr>
          <p:cNvPr id="0" name="TB"/>
          <p:cNvSpPr txBox="1"/>
          <p:nvPr/>
        </p:nvSpPr>
        <p:spPr>
          <a:xfrm>
            <a:off x="8229600" y="4690872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C7CFDB"/>
                </a:solidFill>
                <a:latin typeface="Calibri"/>
              </a:rPr>
              <a:t>57.5% - 60%</a:t>
            </a:r>
          </a:p>
        </p:txBody>
      </p:sp>
      <p:sp>
        <p:nvSpPr>
          <p:cNvPr id="0" name="Safe"/>
          <p:cNvSpPr/>
          <p:nvPr/>
        </p:nvSpPr>
        <p:spPr>
          <a:xfrm>
            <a:off x="1371600" y="5394960"/>
            <a:ext cx="9144000" cy="1097280"/>
          </a:xfrm>
          <a:prstGeom prst="roundRect">
            <a:avLst>
              <a:gd name="adj" fmla="val 5000"/>
            </a:avLst>
          </a:prstGeom>
          <a:solidFill>
            <a:srgbClr val="3F7D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1554480" y="5486400"/>
            <a:ext cx="877824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SAFE SCORE: 145+ Marks = Definitely Safe (General)</a:t>
            </a:r>
          </a:p>
          <a:p>
            <a:pPr algn="ctr"/>
            <a:r>
              <a:rPr lang="en-US" sz="1300" dirty="0">
                <a:solidFill>
                  <a:srgbClr val="FFFFFF"/>
                </a:solidFill>
                <a:latin typeface="Calibri"/>
              </a:rPr>
              <a:t>133-144 = Competitive Zone | 125-132 = Borderline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Calibri"/>
              </a:rPr>
              <a:t>Good Attempts — Section-wise Breakdown</a:t>
            </a:r>
          </a:p>
        </p:txBody>
      </p:sp>
      <p:sp>
        <p:nvSpPr>
          <p:cNvPr id="0" name="GH"/>
          <p:cNvSpPr/>
          <p:nvPr/>
        </p:nvSpPr>
        <p:spPr>
          <a:xfrm>
            <a:off x="640080" y="1005840"/>
            <a:ext cx="10698480" cy="4572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033271"/>
            <a:ext cx="3200400" cy="402336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1033271"/>
            <a:ext cx="1371600" cy="402336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0" name="TB"/>
          <p:cNvSpPr txBox="1"/>
          <p:nvPr/>
        </p:nvSpPr>
        <p:spPr>
          <a:xfrm>
            <a:off x="5669280" y="1033271"/>
            <a:ext cx="1828800" cy="402336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E0A458"/>
                </a:solidFill>
                <a:latin typeface="Calibri"/>
              </a:rPr>
              <a:t>Good Attempts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1033271"/>
            <a:ext cx="3383280" cy="402336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0" name="G0"/>
          <p:cNvSpPr/>
          <p:nvPr/>
        </p:nvSpPr>
        <p:spPr>
          <a:xfrm>
            <a:off x="640080" y="155448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160020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Legal Maxims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1600200"/>
            <a:ext cx="13716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C7CFDB"/>
                </a:solidFill>
                <a:latin typeface="Calibri"/>
              </a:rPr>
              <a:t>~10</a:t>
            </a:r>
          </a:p>
        </p:txBody>
      </p:sp>
      <p:sp>
        <p:nvSpPr>
          <p:cNvPr id="0" name="TB"/>
          <p:cNvSpPr txBox="1"/>
          <p:nvPr/>
        </p:nvSpPr>
        <p:spPr>
          <a:xfrm>
            <a:off x="5669280" y="1600200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6-8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1600200"/>
            <a:ext cx="338328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dirty="0">
                <a:solidFill>
                  <a:srgbClr val="C7CFDB"/>
                </a:solidFill>
                <a:latin typeface="Calibri"/>
              </a:rPr>
              <a:t>Skip unknown Latin terms</a:t>
            </a:r>
          </a:p>
        </p:txBody>
      </p:sp>
      <p:sp>
        <p:nvSpPr>
          <p:cNvPr id="0" name="G1"/>
          <p:cNvSpPr/>
          <p:nvPr/>
        </p:nvSpPr>
        <p:spPr>
          <a:xfrm>
            <a:off x="640080" y="210312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14884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Legal History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2148840"/>
            <a:ext cx="13716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C7CFDB"/>
                </a:solidFill>
                <a:latin typeface="Calibri"/>
              </a:rPr>
              <a:t>~15</a:t>
            </a:r>
          </a:p>
        </p:txBody>
      </p:sp>
      <p:sp>
        <p:nvSpPr>
          <p:cNvPr id="0" name="TB"/>
          <p:cNvSpPr txBox="1"/>
          <p:nvPr/>
        </p:nvSpPr>
        <p:spPr>
          <a:xfrm>
            <a:off x="5669280" y="2148840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10-12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2148840"/>
            <a:ext cx="338328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dirty="0">
                <a:solidFill>
                  <a:srgbClr val="C7CFDB"/>
                </a:solidFill>
                <a:latin typeface="Calibri"/>
              </a:rPr>
              <a:t>Mix of easy + tough</a:t>
            </a:r>
          </a:p>
        </p:txBody>
      </p:sp>
      <p:sp>
        <p:nvSpPr>
          <p:cNvPr id="0" name="G2"/>
          <p:cNvSpPr/>
          <p:nvPr/>
        </p:nvSpPr>
        <p:spPr>
          <a:xfrm>
            <a:off x="640080" y="265176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269748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UK GK (History+Geo)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2697480"/>
            <a:ext cx="13716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C7CFDB"/>
                </a:solidFill>
                <a:latin typeface="Calibri"/>
              </a:rPr>
              <a:t>~45</a:t>
            </a:r>
          </a:p>
        </p:txBody>
      </p:sp>
      <p:sp>
        <p:nvSpPr>
          <p:cNvPr id="0" name="TB"/>
          <p:cNvSpPr txBox="1"/>
          <p:nvPr/>
        </p:nvSpPr>
        <p:spPr>
          <a:xfrm>
            <a:off x="5669280" y="2697480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30-35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2697480"/>
            <a:ext cx="338328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dirty="0">
                <a:solidFill>
                  <a:srgbClr val="C7CFDB"/>
                </a:solidFill>
                <a:latin typeface="Calibri"/>
              </a:rPr>
              <a:t>Some very specific — skip uncertain</a:t>
            </a:r>
          </a:p>
        </p:txBody>
      </p:sp>
      <p:sp>
        <p:nvSpPr>
          <p:cNvPr id="0" name="G3"/>
          <p:cNvSpPr/>
          <p:nvPr/>
        </p:nvSpPr>
        <p:spPr>
          <a:xfrm>
            <a:off x="640080" y="320040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24612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Current Affairs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3246120"/>
            <a:ext cx="13716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C7CFDB"/>
                </a:solidFill>
                <a:latin typeface="Calibri"/>
              </a:rPr>
              <a:t>~20</a:t>
            </a:r>
          </a:p>
        </p:txBody>
      </p:sp>
      <p:sp>
        <p:nvSpPr>
          <p:cNvPr id="0" name="TB"/>
          <p:cNvSpPr txBox="1"/>
          <p:nvPr/>
        </p:nvSpPr>
        <p:spPr>
          <a:xfrm>
            <a:off x="5669280" y="3246120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15-17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3246120"/>
            <a:ext cx="338328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dirty="0">
                <a:solidFill>
                  <a:srgbClr val="C7CFDB"/>
                </a:solidFill>
                <a:latin typeface="Calibri"/>
              </a:rPr>
              <a:t>Mostly direct factual</a:t>
            </a:r>
          </a:p>
        </p:txBody>
      </p:sp>
      <p:sp>
        <p:nvSpPr>
          <p:cNvPr id="0" name="G4"/>
          <p:cNvSpPr/>
          <p:nvPr/>
        </p:nvSpPr>
        <p:spPr>
          <a:xfrm>
            <a:off x="640080" y="3749039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3794759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Indian Polity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3794759"/>
            <a:ext cx="13716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C7CFDB"/>
                </a:solidFill>
                <a:latin typeface="Calibri"/>
              </a:rPr>
              <a:t>~15</a:t>
            </a:r>
          </a:p>
        </p:txBody>
      </p:sp>
      <p:sp>
        <p:nvSpPr>
          <p:cNvPr id="0" name="TB"/>
          <p:cNvSpPr txBox="1"/>
          <p:nvPr/>
        </p:nvSpPr>
        <p:spPr>
          <a:xfrm>
            <a:off x="5669280" y="3794759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12-14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3794759"/>
            <a:ext cx="338328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dirty="0">
                <a:solidFill>
                  <a:srgbClr val="C7CFDB"/>
                </a:solidFill>
                <a:latin typeface="Calibri"/>
              </a:rPr>
              <a:t>Standard constitutional</a:t>
            </a:r>
          </a:p>
        </p:txBody>
      </p:sp>
      <p:sp>
        <p:nvSpPr>
          <p:cNvPr id="0" name="G5"/>
          <p:cNvSpPr/>
          <p:nvPr/>
        </p:nvSpPr>
        <p:spPr>
          <a:xfrm>
            <a:off x="640080" y="429768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34340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Science/Computer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4343400"/>
            <a:ext cx="13716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C7CFDB"/>
                </a:solidFill>
                <a:latin typeface="Calibri"/>
              </a:rPr>
              <a:t>~15</a:t>
            </a:r>
          </a:p>
        </p:txBody>
      </p:sp>
      <p:sp>
        <p:nvSpPr>
          <p:cNvPr id="0" name="TB"/>
          <p:cNvSpPr txBox="1"/>
          <p:nvPr/>
        </p:nvSpPr>
        <p:spPr>
          <a:xfrm>
            <a:off x="5669280" y="4343400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10-12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4343400"/>
            <a:ext cx="338328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dirty="0">
                <a:solidFill>
                  <a:srgbClr val="C7CFDB"/>
                </a:solidFill>
                <a:latin typeface="Calibri"/>
              </a:rPr>
              <a:t>Technical but doable</a:t>
            </a:r>
          </a:p>
        </p:txBody>
      </p:sp>
      <p:sp>
        <p:nvSpPr>
          <p:cNvPr id="0" name="G6"/>
          <p:cNvSpPr/>
          <p:nvPr/>
        </p:nvSpPr>
        <p:spPr>
          <a:xfrm>
            <a:off x="640080" y="484632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822960" y="4892040"/>
            <a:ext cx="32004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dirty="0">
                <a:solidFill>
                  <a:srgbClr val="FFFFFF"/>
                </a:solidFill>
                <a:latin typeface="Calibri"/>
              </a:rPr>
              <a:t>Maths/Reasoning</a:t>
            </a:r>
          </a:p>
        </p:txBody>
      </p:sp>
      <p:sp>
        <p:nvSpPr>
          <p:cNvPr id="0" name="TB"/>
          <p:cNvSpPr txBox="1"/>
          <p:nvPr/>
        </p:nvSpPr>
        <p:spPr>
          <a:xfrm>
            <a:off x="4114800" y="4892040"/>
            <a:ext cx="13716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C7CFDB"/>
                </a:solidFill>
                <a:latin typeface="Calibri"/>
              </a:rPr>
              <a:t>~20</a:t>
            </a:r>
          </a:p>
        </p:txBody>
      </p:sp>
      <p:sp>
        <p:nvSpPr>
          <p:cNvPr id="0" name="TB"/>
          <p:cNvSpPr txBox="1"/>
          <p:nvPr/>
        </p:nvSpPr>
        <p:spPr>
          <a:xfrm>
            <a:off x="5669280" y="4892040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E0A458"/>
                </a:solidFill>
                <a:latin typeface="Calibri"/>
              </a:rPr>
              <a:t>15-18</a:t>
            </a:r>
          </a:p>
        </p:txBody>
      </p:sp>
      <p:sp>
        <p:nvSpPr>
          <p:cNvPr id="0" name="TB"/>
          <p:cNvSpPr txBox="1"/>
          <p:nvPr/>
        </p:nvSpPr>
        <p:spPr>
          <a:xfrm>
            <a:off x="7772400" y="4892040"/>
            <a:ext cx="338328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000" dirty="0">
                <a:solidFill>
                  <a:srgbClr val="C7CFDB"/>
                </a:solidFill>
                <a:latin typeface="Calibri"/>
              </a:rPr>
              <a:t>Time-dependent</a:t>
            </a:r>
          </a:p>
        </p:txBody>
      </p:sp>
      <p:sp>
        <p:nvSpPr>
          <p:cNvPr id="0" name="Tot"/>
          <p:cNvSpPr/>
          <p:nvPr/>
        </p:nvSpPr>
        <p:spPr>
          <a:xfrm>
            <a:off x="640080" y="539496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914400" y="5440680"/>
            <a:ext cx="102412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16233A"/>
                </a:solidFill>
                <a:latin typeface="Calibri"/>
              </a:rPr>
              <a:t>TOTAL: 200 Questions | Good Attempts: 150-165 | With 75-80% accuracy = CUT-OFF CLEAR</a:t>
            </a:r>
          </a:p>
        </p:txBody>
      </p:sp>
      <p:sp>
        <p:nvSpPr>
          <p:cNvPr id="0" name="TB"/>
          <p:cNvSpPr txBox="1"/>
          <p:nvPr/>
        </p:nvSpPr>
        <p:spPr>
          <a:xfrm>
            <a:off x="640080" y="6217920"/>
            <a:ext cx="106984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TIP: 35-50 uncertain questions CHHODO — negative marking se bachna &gt; zyada attempt karna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B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4 Takeaways — Har UKPSC Aspirant Ke Liye</a:t>
            </a:r>
          </a:p>
        </p:txBody>
      </p:sp>
      <p:sp>
        <p:nvSpPr>
          <p:cNvPr id="0" name="Tn0"/>
          <p:cNvSpPr/>
          <p:nvPr/>
        </p:nvSpPr>
        <p:spPr>
          <a:xfrm>
            <a:off x="731520" y="1188720"/>
            <a:ext cx="640080" cy="6400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777240" y="1234440"/>
            <a:ext cx="54864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16233A"/>
                </a:solidFill>
                <a:latin typeface="Calibri"/>
              </a:rPr>
              <a:t>1</a:t>
            </a:r>
          </a:p>
        </p:txBody>
      </p:sp>
      <p:sp>
        <p:nvSpPr>
          <p:cNvPr id="0" name="TB"/>
          <p:cNvSpPr txBox="1"/>
          <p:nvPr/>
        </p:nvSpPr>
        <p:spPr>
          <a:xfrm>
            <a:off x="1554480" y="1170432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Calibri"/>
              </a:rPr>
              <a:t>Legal Maxims = New UKPSC Trend</a:t>
            </a:r>
          </a:p>
        </p:txBody>
      </p:sp>
      <p:sp>
        <p:nvSpPr>
          <p:cNvPr id="0" name="TB"/>
          <p:cNvSpPr txBox="1"/>
          <p:nvPr/>
        </p:nvSpPr>
        <p:spPr>
          <a:xfrm>
            <a:off x="1554480" y="1645920"/>
            <a:ext cx="96012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C7CFDB"/>
                </a:solidFill>
                <a:latin typeface="Calibri"/>
              </a:rPr>
              <a:t>25 common legal terms ki list bana lo. PCS Mains, Ethics, future RO/ARO — sab mein help karega.</a:t>
            </a:r>
          </a:p>
        </p:txBody>
      </p:sp>
      <p:sp>
        <p:nvSpPr>
          <p:cNvPr id="0" name="Tn1"/>
          <p:cNvSpPr/>
          <p:nvPr/>
        </p:nvSpPr>
        <p:spPr>
          <a:xfrm>
            <a:off x="731520" y="2468880"/>
            <a:ext cx="640080" cy="6400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16233A"/>
                </a:solidFill>
                <a:latin typeface="Calibri"/>
              </a:rPr>
              <a:t>2</a:t>
            </a:r>
          </a:p>
        </p:txBody>
      </p:sp>
      <p:sp>
        <p:nvSpPr>
          <p:cNvPr id="0" name="TB"/>
          <p:cNvSpPr txBox="1"/>
          <p:nvPr/>
        </p:nvSpPr>
        <p:spPr>
          <a:xfrm>
            <a:off x="1554480" y="2450592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Calibri"/>
              </a:rPr>
              <a:t>UCC Act 2024 — RATT LO!</a:t>
            </a:r>
          </a:p>
        </p:txBody>
      </p:sp>
      <p:sp>
        <p:nvSpPr>
          <p:cNvPr id="0" name="TB"/>
          <p:cNvSpPr txBox="1"/>
          <p:nvPr/>
        </p:nvSpPr>
        <p:spPr>
          <a:xfrm>
            <a:off x="1554480" y="2926080"/>
            <a:ext cx="96012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C7CFDB"/>
                </a:solidFill>
                <a:latin typeface="Calibri"/>
              </a:rPr>
              <a:t>Women: 18 | Men: 21 | Registration: Mandatory | Live-in: 60 days. Har exam mein aayega.</a:t>
            </a:r>
          </a:p>
        </p:txBody>
      </p:sp>
      <p:sp>
        <p:nvSpPr>
          <p:cNvPr id="0" name="Tn2"/>
          <p:cNvSpPr/>
          <p:nvPr/>
        </p:nvSpPr>
        <p:spPr>
          <a:xfrm>
            <a:off x="731520" y="3749039"/>
            <a:ext cx="640080" cy="6400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777240" y="3794759"/>
            <a:ext cx="54864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16233A"/>
                </a:solidFill>
                <a:latin typeface="Calibri"/>
              </a:rPr>
              <a:t>3</a:t>
            </a:r>
          </a:p>
        </p:txBody>
      </p:sp>
      <p:sp>
        <p:nvSpPr>
          <p:cNvPr id="0" name="TB"/>
          <p:cNvSpPr txBox="1"/>
          <p:nvPr/>
        </p:nvSpPr>
        <p:spPr>
          <a:xfrm>
            <a:off x="1554480" y="3730751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Calibri"/>
              </a:rPr>
              <a:t>UK Budget 2026-27 = 1,11,703.21 Cr</a:t>
            </a:r>
          </a:p>
        </p:txBody>
      </p:sp>
      <p:sp>
        <p:nvSpPr>
          <p:cNvPr id="0" name="TB"/>
          <p:cNvSpPr txBox="1"/>
          <p:nvPr/>
        </p:nvSpPr>
        <p:spPr>
          <a:xfrm>
            <a:off x="1554480" y="4206239"/>
            <a:ext cx="96012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C7CFDB"/>
                </a:solidFill>
                <a:latin typeface="Calibri"/>
              </a:rPr>
              <a:t>Ek line. Lower PCS, Secretariat, UKSSSC — next 6 months mein guaranteed question.</a:t>
            </a:r>
          </a:p>
        </p:txBody>
      </p:sp>
      <p:sp>
        <p:nvSpPr>
          <p:cNvPr id="0" name="Tn3"/>
          <p:cNvSpPr/>
          <p:nvPr/>
        </p:nvSpPr>
        <p:spPr>
          <a:xfrm>
            <a:off x="731520" y="5029199"/>
            <a:ext cx="640080" cy="6400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777240" y="5074919"/>
            <a:ext cx="54864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16233A"/>
                </a:solidFill>
                <a:latin typeface="Calibri"/>
              </a:rPr>
              <a:t>4</a:t>
            </a:r>
          </a:p>
        </p:txBody>
      </p:sp>
      <p:sp>
        <p:nvSpPr>
          <p:cNvPr id="0" name="TB"/>
          <p:cNvSpPr txBox="1"/>
          <p:nvPr/>
        </p:nvSpPr>
        <p:spPr>
          <a:xfrm>
            <a:off x="1554480" y="5010911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Calibri"/>
              </a:rPr>
              <a:t>39th National Games = Uttarakhand</a:t>
            </a:r>
          </a:p>
        </p:txBody>
      </p:sp>
      <p:sp>
        <p:nvSpPr>
          <p:cNvPr id="0" name="TB"/>
          <p:cNvSpPr txBox="1"/>
          <p:nvPr/>
        </p:nvSpPr>
        <p:spPr>
          <a:xfrm>
            <a:off x="1554480" y="5486399"/>
            <a:ext cx="96012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C7CFDB"/>
                </a:solidFill>
                <a:latin typeface="Calibri"/>
              </a:rPr>
              <a:t>Simple fact. 100% upcoming exams mein pucha jayega. Free mark.</a:t>
            </a:r>
          </a:p>
        </p:txBody>
      </p:sp>
      <p:sp>
        <p:nvSpPr>
          <p:cNvPr id="0" name="CTA"/>
          <p:cNvSpPr/>
          <p:nvPr/>
        </p:nvSpPr>
        <p:spPr>
          <a:xfrm>
            <a:off x="1371600" y="5669280"/>
            <a:ext cx="9418320" cy="91440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B"/>
          <p:cNvSpPr txBox="1"/>
          <p:nvPr/>
        </p:nvSpPr>
        <p:spPr>
          <a:xfrm>
            <a:off x="1554480" y="5760720"/>
            <a:ext cx="905256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16233A"/>
                </a:solidFill>
                <a:latin typeface="Calibri"/>
              </a:rPr>
              <a:t>SUBSCRIBE + Bell | Answer Key Video Coming Soon!</a:t>
            </a:r>
          </a:p>
          <a:p>
            <a:pPr algn="ctr"/>
            <a:r>
              <a:rPr lang="en-US" sz="1200" dirty="0">
                <a:solidFill>
                  <a:srgbClr val="16233A"/>
                </a:solidFill>
                <a:latin typeface="Calibri"/>
              </a:rPr>
              <a:t>Telegram: @UKPSCDECODED | Full Answer Key PDF + Mains Roadmap</a:t>
            </a:r>
          </a:p>
        </p:txBody>
      </p:sp>
    </p:spTree>
  </p:cSld>
  <p:clrMapOvr>
    <a:masterClrMapping/>
  </p:clrMapOvr>
</p:sld>
</file>