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73"/>
  </p:sldMasterIdLst>
  <p:sldIdLst>
    <p:sldId id="257" r:id="rId1"/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  <p:sldId id="304" r:id="rId48"/>
    <p:sldId id="305" r:id="rId49"/>
    <p:sldId id="306" r:id="rId50"/>
    <p:sldId id="307" r:id="rId51"/>
    <p:sldId id="308" r:id="rId52"/>
    <p:sldId id="309" r:id="rId53"/>
    <p:sldId id="310" r:id="rId54"/>
    <p:sldId id="311" r:id="rId55"/>
    <p:sldId id="312" r:id="rId56"/>
    <p:sldId id="313" r:id="rId57"/>
    <p:sldId id="314" r:id="rId58"/>
    <p:sldId id="315" r:id="rId59"/>
    <p:sldId id="316" r:id="rId60"/>
    <p:sldId id="317" r:id="rId61"/>
    <p:sldId id="318" r:id="rId62"/>
    <p:sldId id="319" r:id="rId63"/>
    <p:sldId id="320" r:id="rId64"/>
    <p:sldId id="321" r:id="rId65"/>
    <p:sldId id="322" r:id="rId66"/>
    <p:sldId id="323" r:id="rId67"/>
    <p:sldId id="324" r:id="rId68"/>
    <p:sldId id="325" r:id="rId69"/>
    <p:sldId id="326" r:id="rId70"/>
    <p:sldId id="327" r:id="rId71"/>
    <p:sldId id="328" r:id="rId72"/>
  </p:sldIdLst>
  <p:sldSz cx="12191695" cy="6858000"/>
  <p:notesSz cx="6858000" cy="12191695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22.xml"/><Relationship Id="rId23" Type="http://schemas.openxmlformats.org/officeDocument/2006/relationships/slide" Target="slides/slide23.xml"/><Relationship Id="rId24" Type="http://schemas.openxmlformats.org/officeDocument/2006/relationships/slide" Target="slides/slide24.xml"/><Relationship Id="rId25" Type="http://schemas.openxmlformats.org/officeDocument/2006/relationships/slide" Target="slides/slide25.xml"/><Relationship Id="rId26" Type="http://schemas.openxmlformats.org/officeDocument/2006/relationships/slide" Target="slides/slide26.xml"/><Relationship Id="rId27" Type="http://schemas.openxmlformats.org/officeDocument/2006/relationships/slide" Target="slides/slide27.xml"/><Relationship Id="rId28" Type="http://schemas.openxmlformats.org/officeDocument/2006/relationships/slide" Target="slides/slide28.xml"/><Relationship Id="rId29" Type="http://schemas.openxmlformats.org/officeDocument/2006/relationships/slide" Target="slides/slide29.xml"/><Relationship Id="rId30" Type="http://schemas.openxmlformats.org/officeDocument/2006/relationships/slide" Target="slides/slide30.xml"/><Relationship Id="rId31" Type="http://schemas.openxmlformats.org/officeDocument/2006/relationships/slide" Target="slides/slide31.xml"/><Relationship Id="rId32" Type="http://schemas.openxmlformats.org/officeDocument/2006/relationships/slide" Target="slides/slide32.xml"/><Relationship Id="rId33" Type="http://schemas.openxmlformats.org/officeDocument/2006/relationships/slide" Target="slides/slide33.xml"/><Relationship Id="rId34" Type="http://schemas.openxmlformats.org/officeDocument/2006/relationships/slide" Target="slides/slide34.xml"/><Relationship Id="rId35" Type="http://schemas.openxmlformats.org/officeDocument/2006/relationships/slide" Target="slides/slide35.xml"/><Relationship Id="rId36" Type="http://schemas.openxmlformats.org/officeDocument/2006/relationships/slide" Target="slides/slide36.xml"/><Relationship Id="rId37" Type="http://schemas.openxmlformats.org/officeDocument/2006/relationships/slide" Target="slides/slide37.xml"/><Relationship Id="rId38" Type="http://schemas.openxmlformats.org/officeDocument/2006/relationships/slide" Target="slides/slide38.xml"/><Relationship Id="rId39" Type="http://schemas.openxmlformats.org/officeDocument/2006/relationships/slide" Target="slides/slide39.xml"/><Relationship Id="rId40" Type="http://schemas.openxmlformats.org/officeDocument/2006/relationships/slide" Target="slides/slide40.xml"/><Relationship Id="rId41" Type="http://schemas.openxmlformats.org/officeDocument/2006/relationships/slide" Target="slides/slide41.xml"/><Relationship Id="rId42" Type="http://schemas.openxmlformats.org/officeDocument/2006/relationships/slide" Target="slides/slide42.xml"/><Relationship Id="rId43" Type="http://schemas.openxmlformats.org/officeDocument/2006/relationships/slide" Target="slides/slide43.xml"/><Relationship Id="rId44" Type="http://schemas.openxmlformats.org/officeDocument/2006/relationships/slide" Target="slides/slide44.xml"/><Relationship Id="rId45" Type="http://schemas.openxmlformats.org/officeDocument/2006/relationships/slide" Target="slides/slide45.xml"/><Relationship Id="rId46" Type="http://schemas.openxmlformats.org/officeDocument/2006/relationships/slide" Target="slides/slide46.xml"/><Relationship Id="rId47" Type="http://schemas.openxmlformats.org/officeDocument/2006/relationships/slide" Target="slides/slide47.xml"/><Relationship Id="rId48" Type="http://schemas.openxmlformats.org/officeDocument/2006/relationships/slide" Target="slides/slide48.xml"/><Relationship Id="rId49" Type="http://schemas.openxmlformats.org/officeDocument/2006/relationships/slide" Target="slides/slide49.xml"/><Relationship Id="rId50" Type="http://schemas.openxmlformats.org/officeDocument/2006/relationships/slide" Target="slides/slide50.xml"/><Relationship Id="rId51" Type="http://schemas.openxmlformats.org/officeDocument/2006/relationships/slide" Target="slides/slide51.xml"/><Relationship Id="rId52" Type="http://schemas.openxmlformats.org/officeDocument/2006/relationships/slide" Target="slides/slide52.xml"/><Relationship Id="rId53" Type="http://schemas.openxmlformats.org/officeDocument/2006/relationships/slide" Target="slides/slide53.xml"/><Relationship Id="rId54" Type="http://schemas.openxmlformats.org/officeDocument/2006/relationships/slide" Target="slides/slide54.xml"/><Relationship Id="rId55" Type="http://schemas.openxmlformats.org/officeDocument/2006/relationships/slide" Target="slides/slide55.xml"/><Relationship Id="rId56" Type="http://schemas.openxmlformats.org/officeDocument/2006/relationships/slide" Target="slides/slide56.xml"/><Relationship Id="rId57" Type="http://schemas.openxmlformats.org/officeDocument/2006/relationships/slide" Target="slides/slide57.xml"/><Relationship Id="rId58" Type="http://schemas.openxmlformats.org/officeDocument/2006/relationships/slide" Target="slides/slide58.xml"/><Relationship Id="rId59" Type="http://schemas.openxmlformats.org/officeDocument/2006/relationships/slide" Target="slides/slide59.xml"/><Relationship Id="rId60" Type="http://schemas.openxmlformats.org/officeDocument/2006/relationships/slide" Target="slides/slide60.xml"/><Relationship Id="rId61" Type="http://schemas.openxmlformats.org/officeDocument/2006/relationships/slide" Target="slides/slide61.xml"/><Relationship Id="rId62" Type="http://schemas.openxmlformats.org/officeDocument/2006/relationships/slide" Target="slides/slide62.xml"/><Relationship Id="rId63" Type="http://schemas.openxmlformats.org/officeDocument/2006/relationships/slide" Target="slides/slide63.xml"/><Relationship Id="rId64" Type="http://schemas.openxmlformats.org/officeDocument/2006/relationships/slide" Target="slides/slide64.xml"/><Relationship Id="rId65" Type="http://schemas.openxmlformats.org/officeDocument/2006/relationships/slide" Target="slides/slide65.xml"/><Relationship Id="rId66" Type="http://schemas.openxmlformats.org/officeDocument/2006/relationships/slide" Target="slides/slide66.xml"/><Relationship Id="rId67" Type="http://schemas.openxmlformats.org/officeDocument/2006/relationships/slide" Target="slides/slide67.xml"/><Relationship Id="rId68" Type="http://schemas.openxmlformats.org/officeDocument/2006/relationships/slide" Target="slides/slide68.xml"/><Relationship Id="rId69" Type="http://schemas.openxmlformats.org/officeDocument/2006/relationships/slide" Target="slides/slide69.xml"/><Relationship Id="rId70" Type="http://schemas.openxmlformats.org/officeDocument/2006/relationships/slide" Target="slides/slide70.xml"/><Relationship Id="rId71" Type="http://schemas.openxmlformats.org/officeDocument/2006/relationships/slide" Target="slides/slide71.xml"/><Relationship Id="rId72" Type="http://schemas.openxmlformats.org/officeDocument/2006/relationships/slide" Target="slides/slide72.xml"/><Relationship Id="rId73" Type="http://schemas.openxmlformats.org/officeDocument/2006/relationships/slideMaster" Target="slideMasters/slideMaster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"/>
          <p:cNvSpPr txBox="1"/>
          <p:nvPr/>
        </p:nvSpPr>
        <p:spPr>
          <a:xfrm>
            <a:off x="731520" y="731520"/>
            <a:ext cx="10972800" cy="45720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400" b="1" dirty="0">
                <a:solidFill>
                  <a:srgbClr val="E0A458"/>
                </a:solidFill>
                <a:latin typeface="Calibri"/>
              </a:rPr>
              <a:t>UKPSC DECODED PRESENTS</a:t>
            </a:r>
          </a:p>
        </p:txBody>
      </p:sp>
      <p:sp>
        <p:nvSpPr>
          <p:cNvPr id="0" name="T"/>
          <p:cNvSpPr txBox="1"/>
          <p:nvPr/>
        </p:nvSpPr>
        <p:spPr>
          <a:xfrm>
            <a:off x="731520" y="1463040"/>
            <a:ext cx="10972800" cy="137160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3600" b="1" dirty="0">
                <a:solidFill>
                  <a:srgbClr val="FFFFFF"/>
                </a:solidFill>
                <a:latin typeface="Calibri"/>
              </a:rPr>
              <a:t>UKPSC Latest Paper 2026</a:t>
            </a:r>
          </a:p>
          <a:p>
            <a:pPr algn="ctr"/>
            <a:r>
              <a:rPr lang="en-US" sz="2800" b="1" dirty="0">
                <a:solidFill>
                  <a:srgbClr val="FFFFFF"/>
                </a:solidFill>
                <a:latin typeface="Calibri"/>
              </a:rPr>
              <a:t>Uttarakhand GK + Current Affairs</a:t>
            </a:r>
          </a:p>
        </p:txBody>
      </p:sp>
      <p:sp>
        <p:nvSpPr>
          <p:cNvPr id="0" name="T"/>
          <p:cNvSpPr txBox="1"/>
          <p:nvPr/>
        </p:nvSpPr>
        <p:spPr>
          <a:xfrm>
            <a:off x="731520" y="3200400"/>
            <a:ext cx="1097280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500" dirty="0">
                <a:solidFill>
                  <a:srgbClr val="C7CFDB"/>
                </a:solidFill>
                <a:latin typeface="Calibri"/>
              </a:rPr>
              <a:t>HC ARO 19 July 2026 — Questions Jo AAPKE Exam Mein Repeat Honge</a:t>
            </a:r>
          </a:p>
        </p:txBody>
      </p:sp>
      <p:sp>
        <p:nvSpPr>
          <p:cNvPr id="0" name="S1"/>
          <p:cNvSpPr/>
          <p:nvPr/>
        </p:nvSpPr>
        <p:spPr>
          <a:xfrm>
            <a:off x="914400" y="4114800"/>
            <a:ext cx="3200400" cy="118872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1005840" y="4206240"/>
            <a:ext cx="3017520" cy="100584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3600" b="1" dirty="0">
                <a:solidFill>
                  <a:srgbClr val="E0A458"/>
                </a:solidFill>
                <a:latin typeface="Calibri"/>
              </a:rPr>
              <a:t>34</a:t>
            </a:r>
          </a:p>
          <a:p>
            <a:pPr algn="ctr"/>
            <a:r>
              <a:rPr lang="en-US" sz="1200" dirty="0">
                <a:solidFill>
                  <a:srgbClr val="C7CFDB"/>
                </a:solidFill>
                <a:latin typeface="Calibri"/>
              </a:rPr>
              <a:t>Questions</a:t>
            </a:r>
          </a:p>
        </p:txBody>
      </p:sp>
      <p:sp>
        <p:nvSpPr>
          <p:cNvPr id="0" name="S2"/>
          <p:cNvSpPr/>
          <p:nvPr/>
        </p:nvSpPr>
        <p:spPr>
          <a:xfrm>
            <a:off x="4572000" y="4114800"/>
            <a:ext cx="3200400" cy="118872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4663440" y="4206240"/>
            <a:ext cx="3017520" cy="100584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3600" b="1" dirty="0">
                <a:solidFill>
                  <a:srgbClr val="E0A458"/>
                </a:solidFill>
                <a:latin typeface="Calibri"/>
              </a:rPr>
              <a:t>2</a:t>
            </a:r>
          </a:p>
          <a:p>
            <a:pPr algn="ctr"/>
            <a:r>
              <a:rPr lang="en-US" sz="1200" dirty="0">
                <a:solidFill>
                  <a:srgbClr val="C7CFDB"/>
                </a:solidFill>
                <a:latin typeface="Calibri"/>
              </a:rPr>
              <a:t>Categories</a:t>
            </a:r>
          </a:p>
        </p:txBody>
      </p:sp>
      <p:sp>
        <p:nvSpPr>
          <p:cNvPr id="0" name="S3"/>
          <p:cNvSpPr/>
          <p:nvPr/>
        </p:nvSpPr>
        <p:spPr>
          <a:xfrm>
            <a:off x="8229600" y="4114800"/>
            <a:ext cx="3200400" cy="118872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8321040" y="4206240"/>
            <a:ext cx="3017520" cy="100584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3200" b="1" dirty="0">
                <a:solidFill>
                  <a:srgbClr val="E0A458"/>
                </a:solidFill>
                <a:latin typeface="Calibri"/>
              </a:rPr>
              <a:t>100%</a:t>
            </a:r>
          </a:p>
          <a:p>
            <a:pPr algn="ctr"/>
            <a:r>
              <a:rPr lang="en-US" sz="1200" dirty="0">
                <a:solidFill>
                  <a:srgbClr val="C7CFDB"/>
                </a:solidFill>
                <a:latin typeface="Calibri"/>
              </a:rPr>
              <a:t>Exam Relevant</a:t>
            </a:r>
          </a:p>
        </p:txBody>
      </p:sp>
      <p:sp>
        <p:nvSpPr>
          <p:cNvPr id="0" name="Inst"/>
          <p:cNvSpPr/>
          <p:nvPr/>
        </p:nvSpPr>
        <p:spPr>
          <a:xfrm>
            <a:off x="1371600" y="5669280"/>
            <a:ext cx="9418320" cy="731520"/>
          </a:xfrm>
          <a:prstGeom prst="roundRect">
            <a:avLst>
              <a:gd name="adj" fmla="val 5000"/>
            </a:avLst>
          </a:prstGeom>
          <a:solidFill>
            <a:srgbClr val="E0A45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1554480" y="5760720"/>
            <a:ext cx="905256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400" b="1" dirty="0">
                <a:solidFill>
                  <a:srgbClr val="16233A"/>
                </a:solidFill>
                <a:latin typeface="Calibri"/>
              </a:rPr>
              <a:t>Har question sochiye — phir answer dekhiye. Count karo kitne sahi aaye!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Div"/>
          <p:cNvSpPr/>
          <p:nvPr/>
        </p:nvSpPr>
        <p:spPr>
          <a:xfrm>
            <a:off x="1828800" y="2286000"/>
            <a:ext cx="8503920" cy="228600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2011680" y="2468880"/>
            <a:ext cx="8138160" cy="10972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3200" b="1" dirty="0">
                <a:solidFill>
                  <a:srgbClr val="E0A458"/>
                </a:solidFill>
                <a:latin typeface="Calibri"/>
              </a:rPr>
              <a:t>UTTARAKHAND GK</a:t>
            </a:r>
          </a:p>
        </p:txBody>
      </p:sp>
      <p:sp>
        <p:nvSpPr>
          <p:cNvPr id="0" name="T"/>
          <p:cNvSpPr txBox="1"/>
          <p:nvPr/>
        </p:nvSpPr>
        <p:spPr>
          <a:xfrm>
            <a:off x="2011680" y="3566160"/>
            <a:ext cx="813816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600" dirty="0">
                <a:solidFill>
                  <a:srgbClr val="FFFFFF"/>
                </a:solidFill>
                <a:latin typeface="Calibri"/>
              </a:rPr>
              <a:t>Static + Current UK Knowledge — 17 Questions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opBar"/>
          <p:cNvSpPr/>
          <p:nvPr/>
        </p:nvSpPr>
        <p:spPr>
          <a:xfrm>
            <a:off x="365760" y="274320"/>
            <a:ext cx="11430000" cy="64008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320040"/>
            <a:ext cx="365760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400" b="1" dirty="0">
                <a:solidFill>
                  <a:srgbClr val="FFFFFF"/>
                </a:solidFill>
                <a:latin typeface="Calibri"/>
              </a:rPr>
              <a:t>Q89 | 1/34</a:t>
            </a:r>
          </a:p>
        </p:txBody>
      </p:sp>
      <p:sp>
        <p:nvSpPr>
          <p:cNvPr id="0" name="T"/>
          <p:cNvSpPr txBox="1"/>
          <p:nvPr/>
        </p:nvSpPr>
        <p:spPr>
          <a:xfrm>
            <a:off x="7772400" y="320040"/>
            <a:ext cx="384048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r"/>
            <a:r>
              <a:rPr lang="en-US" sz="1400" b="1" dirty="0">
                <a:solidFill>
                  <a:srgbClr val="F39C12"/>
                </a:solidFill>
                <a:latin typeface="Calibri"/>
              </a:rPr>
              <a:t>MODERATE</a:t>
            </a:r>
          </a:p>
        </p:txBody>
      </p:sp>
      <p:sp>
        <p:nvSpPr>
          <p:cNvPr id="0" name="Cat"/>
          <p:cNvSpPr/>
          <p:nvPr/>
        </p:nvSpPr>
        <p:spPr>
          <a:xfrm>
            <a:off x="365760" y="1005840"/>
            <a:ext cx="2743200" cy="411480"/>
          </a:xfrm>
          <a:prstGeom prst="roundRect">
            <a:avLst>
              <a:gd name="adj" fmla="val 5000"/>
            </a:avLst>
          </a:prstGeom>
          <a:solidFill>
            <a:srgbClr val="E0A45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457200" y="1033271"/>
            <a:ext cx="2560320" cy="36576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100" b="1" dirty="0">
                <a:solidFill>
                  <a:srgbClr val="16233A"/>
                </a:solidFill>
                <a:latin typeface="Calibri"/>
              </a:rPr>
              <a:t>Geography</a:t>
            </a:r>
          </a:p>
        </p:txBody>
      </p:sp>
      <p:sp>
        <p:nvSpPr>
          <p:cNvPr id="0" name="T"/>
          <p:cNvSpPr txBox="1"/>
          <p:nvPr/>
        </p:nvSpPr>
        <p:spPr>
          <a:xfrm>
            <a:off x="457200" y="1645920"/>
            <a:ext cx="11247120" cy="16459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2200" b="1" dirty="0">
                <a:solidFill>
                  <a:srgbClr val="FFFFFF"/>
                </a:solidFill>
                <a:latin typeface="Calibri"/>
              </a:rPr>
              <a:t>Uttarakhand ke kitne jile apni seema kisi rajya/desh se share NAHI karte?</a:t>
            </a:r>
          </a:p>
        </p:txBody>
      </p:sp>
      <p:sp>
        <p:nvSpPr>
          <p:cNvPr id="0" name="O0"/>
          <p:cNvSpPr/>
          <p:nvPr/>
        </p:nvSpPr>
        <p:spPr>
          <a:xfrm>
            <a:off x="457200" y="365760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379476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(a) 02</a:t>
            </a:r>
          </a:p>
        </p:txBody>
      </p:sp>
      <p:sp>
        <p:nvSpPr>
          <p:cNvPr id="0" name="O1"/>
          <p:cNvSpPr/>
          <p:nvPr/>
        </p:nvSpPr>
        <p:spPr>
          <a:xfrm>
            <a:off x="6217920" y="365760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6492240" y="379476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(b) 03</a:t>
            </a:r>
          </a:p>
        </p:txBody>
      </p:sp>
      <p:sp>
        <p:nvSpPr>
          <p:cNvPr id="0" name="O2"/>
          <p:cNvSpPr/>
          <p:nvPr/>
        </p:nvSpPr>
        <p:spPr>
          <a:xfrm>
            <a:off x="457200" y="493776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507492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(c) 04</a:t>
            </a:r>
          </a:p>
        </p:txBody>
      </p:sp>
      <p:sp>
        <p:nvSpPr>
          <p:cNvPr id="0" name="O3"/>
          <p:cNvSpPr/>
          <p:nvPr/>
        </p:nvSpPr>
        <p:spPr>
          <a:xfrm>
            <a:off x="6217920" y="493776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6492240" y="507492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(d) 05</a:t>
            </a:r>
          </a:p>
        </p:txBody>
      </p:sp>
      <p:sp>
        <p:nvSpPr>
          <p:cNvPr id="0" name="Brand"/>
          <p:cNvSpPr/>
          <p:nvPr/>
        </p:nvSpPr>
        <p:spPr>
          <a:xfrm>
            <a:off x="365760" y="6217920"/>
            <a:ext cx="11430000" cy="457200"/>
          </a:xfrm>
          <a:prstGeom prst="roundRect">
            <a:avLst>
              <a:gd name="adj" fmla="val 5000"/>
            </a:avLst>
          </a:prstGeom>
          <a:solidFill>
            <a:srgbClr val="1623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6245352"/>
            <a:ext cx="109728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000" dirty="0">
                <a:solidFill>
                  <a:srgbClr val="C7CFDB"/>
                </a:solidFill>
                <a:latin typeface="Calibri"/>
              </a:rPr>
              <a:t>UKPSC DECODED  |  PCS  |  Lower PCS  |  RO/ARO  |  UKSSSC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ATop"/>
          <p:cNvSpPr/>
          <p:nvPr/>
        </p:nvSpPr>
        <p:spPr>
          <a:xfrm>
            <a:off x="365760" y="274320"/>
            <a:ext cx="11430000" cy="640080"/>
          </a:xfrm>
          <a:prstGeom prst="roundRect">
            <a:avLst>
              <a:gd name="adj" fmla="val 5000"/>
            </a:avLst>
          </a:prstGeom>
          <a:solidFill>
            <a:srgbClr val="2C6E4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320040"/>
            <a:ext cx="548640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b="1" dirty="0">
                <a:solidFill>
                  <a:srgbClr val="FFFFFF"/>
                </a:solidFill>
                <a:latin typeface="Calibri"/>
              </a:rPr>
              <a:t>Q89 — ANSWER REVEAL</a:t>
            </a:r>
          </a:p>
        </p:txBody>
      </p:sp>
      <p:sp>
        <p:nvSpPr>
          <p:cNvPr id="0" name="T"/>
          <p:cNvSpPr txBox="1"/>
          <p:nvPr/>
        </p:nvSpPr>
        <p:spPr>
          <a:xfrm>
            <a:off x="7772400" y="320040"/>
            <a:ext cx="384048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r"/>
            <a:r>
              <a:rPr lang="en-US" sz="1200" dirty="0">
                <a:solidFill>
                  <a:srgbClr val="C7CFDB"/>
                </a:solidFill>
                <a:latin typeface="Calibri"/>
              </a:rPr>
              <a:t>1/34</a:t>
            </a:r>
          </a:p>
        </p:txBody>
      </p:sp>
      <p:sp>
        <p:nvSpPr>
          <p:cNvPr id="0" name="T"/>
          <p:cNvSpPr txBox="1"/>
          <p:nvPr/>
        </p:nvSpPr>
        <p:spPr>
          <a:xfrm>
            <a:off x="457200" y="1097280"/>
            <a:ext cx="11247120" cy="109728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C7CFDB"/>
                </a:solidFill>
                <a:latin typeface="Calibri"/>
              </a:rPr>
              <a:t>Uttarakhand ke kitne jile apni seema kisi rajya/desh se share NAHI karte?</a:t>
            </a:r>
          </a:p>
        </p:txBody>
      </p:sp>
      <p:sp>
        <p:nvSpPr>
          <p:cNvPr id="0" name="AnsBox"/>
          <p:cNvSpPr/>
          <p:nvPr/>
        </p:nvSpPr>
        <p:spPr>
          <a:xfrm>
            <a:off x="457200" y="2560320"/>
            <a:ext cx="11247120" cy="1097280"/>
          </a:xfrm>
          <a:prstGeom prst="roundRect">
            <a:avLst>
              <a:gd name="adj" fmla="val 5000"/>
            </a:avLst>
          </a:prstGeom>
          <a:solidFill>
            <a:srgbClr val="27AE6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2651760"/>
            <a:ext cx="10698480" cy="9144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2400" b="1" dirty="0">
                <a:solidFill>
                  <a:srgbClr val="FFFFFF"/>
                </a:solidFill>
                <a:latin typeface="Calibri"/>
              </a:rPr>
              <a:t>Answer: (c) 04</a:t>
            </a:r>
          </a:p>
        </p:txBody>
      </p:sp>
      <p:sp>
        <p:nvSpPr>
          <p:cNvPr id="0" name="DetBox"/>
          <p:cNvSpPr/>
          <p:nvPr/>
        </p:nvSpPr>
        <p:spPr>
          <a:xfrm>
            <a:off x="457200" y="3931920"/>
            <a:ext cx="11247120" cy="182880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4069080"/>
            <a:ext cx="10698480" cy="1554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200" b="1" dirty="0">
                <a:solidFill>
                  <a:srgbClr val="E0A458"/>
                </a:solidFill>
                <a:latin typeface="Calibri"/>
              </a:rPr>
              <a:t>Details:</a:t>
            </a:r>
          </a:p>
          <a:p>
            <a:pPr algn="l"/>
            <a:r>
              <a:rPr lang="en-US" sz="1400" dirty="0">
                <a:solidFill>
                  <a:srgbClr val="FFFFFF"/>
                </a:solidFill>
                <a:latin typeface="Calibri"/>
              </a:rPr>
              <a:t>Almora, Bageshwar, Rudraprayag, Tehri Garhwal — fully interior.</a:t>
            </a:r>
          </a:p>
        </p:txBody>
      </p:sp>
      <p:sp>
        <p:nvSpPr>
          <p:cNvPr id="0" name="Brand2"/>
          <p:cNvSpPr/>
          <p:nvPr/>
        </p:nvSpPr>
        <p:spPr>
          <a:xfrm>
            <a:off x="365760" y="6217920"/>
            <a:ext cx="11430000" cy="457200"/>
          </a:xfrm>
          <a:prstGeom prst="roundRect">
            <a:avLst>
              <a:gd name="adj" fmla="val 5000"/>
            </a:avLst>
          </a:prstGeom>
          <a:solidFill>
            <a:srgbClr val="1623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6245352"/>
            <a:ext cx="109728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000" dirty="0">
                <a:solidFill>
                  <a:srgbClr val="C7CFDB"/>
                </a:solidFill>
                <a:latin typeface="Calibri"/>
              </a:rPr>
              <a:t>UKPSC DECODED  |  Telegram: @UKPSCDECODED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opBar"/>
          <p:cNvSpPr/>
          <p:nvPr/>
        </p:nvSpPr>
        <p:spPr>
          <a:xfrm>
            <a:off x="365760" y="274320"/>
            <a:ext cx="11430000" cy="64008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320040"/>
            <a:ext cx="365760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400" b="1" dirty="0">
                <a:solidFill>
                  <a:srgbClr val="FFFFFF"/>
                </a:solidFill>
                <a:latin typeface="Calibri"/>
              </a:rPr>
              <a:t>Q92 | 2/34</a:t>
            </a:r>
          </a:p>
        </p:txBody>
      </p:sp>
      <p:sp>
        <p:nvSpPr>
          <p:cNvPr id="0" name="T"/>
          <p:cNvSpPr txBox="1"/>
          <p:nvPr/>
        </p:nvSpPr>
        <p:spPr>
          <a:xfrm>
            <a:off x="7772400" y="320040"/>
            <a:ext cx="384048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r"/>
            <a:r>
              <a:rPr lang="en-US" sz="1400" b="1" dirty="0">
                <a:solidFill>
                  <a:srgbClr val="F39C12"/>
                </a:solidFill>
                <a:latin typeface="Calibri"/>
              </a:rPr>
              <a:t>MODERATE</a:t>
            </a:r>
          </a:p>
        </p:txBody>
      </p:sp>
      <p:sp>
        <p:nvSpPr>
          <p:cNvPr id="0" name="Cat"/>
          <p:cNvSpPr/>
          <p:nvPr/>
        </p:nvSpPr>
        <p:spPr>
          <a:xfrm>
            <a:off x="365760" y="1005840"/>
            <a:ext cx="2743200" cy="411480"/>
          </a:xfrm>
          <a:prstGeom prst="roundRect">
            <a:avLst>
              <a:gd name="adj" fmla="val 5000"/>
            </a:avLst>
          </a:prstGeom>
          <a:solidFill>
            <a:srgbClr val="E0A45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457200" y="1033271"/>
            <a:ext cx="2560320" cy="36576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100" b="1" dirty="0">
                <a:solidFill>
                  <a:srgbClr val="16233A"/>
                </a:solidFill>
                <a:latin typeface="Calibri"/>
              </a:rPr>
              <a:t>Geography</a:t>
            </a:r>
          </a:p>
        </p:txBody>
      </p:sp>
      <p:sp>
        <p:nvSpPr>
          <p:cNvPr id="0" name="T"/>
          <p:cNvSpPr txBox="1"/>
          <p:nvPr/>
        </p:nvSpPr>
        <p:spPr>
          <a:xfrm>
            <a:off x="457200" y="1645920"/>
            <a:ext cx="11247120" cy="16459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2200" b="1" dirty="0">
                <a:solidFill>
                  <a:srgbClr val="FFFFFF"/>
                </a:solidFill>
                <a:latin typeface="Calibri"/>
              </a:rPr>
              <a:t>Match: Lampiya Dhura=?, Niti=?, Muling La=?, Mayali=?</a:t>
            </a:r>
          </a:p>
        </p:txBody>
      </p:sp>
      <p:sp>
        <p:nvSpPr>
          <p:cNvPr id="0" name="O0"/>
          <p:cNvSpPr/>
          <p:nvPr/>
        </p:nvSpPr>
        <p:spPr>
          <a:xfrm>
            <a:off x="457200" y="365760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379476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(a) Pithoragarh, Chamoli, Uttarkashi, Tehri</a:t>
            </a:r>
          </a:p>
        </p:txBody>
      </p:sp>
      <p:sp>
        <p:nvSpPr>
          <p:cNvPr id="0" name="O1"/>
          <p:cNvSpPr/>
          <p:nvPr/>
        </p:nvSpPr>
        <p:spPr>
          <a:xfrm>
            <a:off x="6217920" y="365760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6492240" y="379476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(b) Pithoragarh, Chamoli, Tehri, Uttarkashi</a:t>
            </a:r>
          </a:p>
        </p:txBody>
      </p:sp>
      <p:sp>
        <p:nvSpPr>
          <p:cNvPr id="0" name="O2"/>
          <p:cNvSpPr/>
          <p:nvPr/>
        </p:nvSpPr>
        <p:spPr>
          <a:xfrm>
            <a:off x="457200" y="493776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507492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(c) Chamoli, Pithoragarh, Uttarkashi, Tehri</a:t>
            </a:r>
          </a:p>
        </p:txBody>
      </p:sp>
      <p:sp>
        <p:nvSpPr>
          <p:cNvPr id="0" name="O3"/>
          <p:cNvSpPr/>
          <p:nvPr/>
        </p:nvSpPr>
        <p:spPr>
          <a:xfrm>
            <a:off x="6217920" y="493776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6492240" y="507492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(d) Uttarkashi, Chamoli, Pithoragarh, Tehri</a:t>
            </a:r>
          </a:p>
        </p:txBody>
      </p:sp>
      <p:sp>
        <p:nvSpPr>
          <p:cNvPr id="0" name="Brand"/>
          <p:cNvSpPr/>
          <p:nvPr/>
        </p:nvSpPr>
        <p:spPr>
          <a:xfrm>
            <a:off x="365760" y="6217920"/>
            <a:ext cx="11430000" cy="457200"/>
          </a:xfrm>
          <a:prstGeom prst="roundRect">
            <a:avLst>
              <a:gd name="adj" fmla="val 5000"/>
            </a:avLst>
          </a:prstGeom>
          <a:solidFill>
            <a:srgbClr val="1623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6245352"/>
            <a:ext cx="109728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000" dirty="0">
                <a:solidFill>
                  <a:srgbClr val="C7CFDB"/>
                </a:solidFill>
                <a:latin typeface="Calibri"/>
              </a:rPr>
              <a:t>UKPSC DECODED  |  PCS  |  Lower PCS  |  RO/ARO  |  UKSSSC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ATop"/>
          <p:cNvSpPr/>
          <p:nvPr/>
        </p:nvSpPr>
        <p:spPr>
          <a:xfrm>
            <a:off x="365760" y="274320"/>
            <a:ext cx="11430000" cy="640080"/>
          </a:xfrm>
          <a:prstGeom prst="roundRect">
            <a:avLst>
              <a:gd name="adj" fmla="val 5000"/>
            </a:avLst>
          </a:prstGeom>
          <a:solidFill>
            <a:srgbClr val="2C6E4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320040"/>
            <a:ext cx="548640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b="1" dirty="0">
                <a:solidFill>
                  <a:srgbClr val="FFFFFF"/>
                </a:solidFill>
                <a:latin typeface="Calibri"/>
              </a:rPr>
              <a:t>Q92 — ANSWER REVEAL</a:t>
            </a:r>
          </a:p>
        </p:txBody>
      </p:sp>
      <p:sp>
        <p:nvSpPr>
          <p:cNvPr id="0" name="T"/>
          <p:cNvSpPr txBox="1"/>
          <p:nvPr/>
        </p:nvSpPr>
        <p:spPr>
          <a:xfrm>
            <a:off x="7772400" y="320040"/>
            <a:ext cx="384048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r"/>
            <a:r>
              <a:rPr lang="en-US" sz="1200" dirty="0">
                <a:solidFill>
                  <a:srgbClr val="C7CFDB"/>
                </a:solidFill>
                <a:latin typeface="Calibri"/>
              </a:rPr>
              <a:t>2/34</a:t>
            </a:r>
          </a:p>
        </p:txBody>
      </p:sp>
      <p:sp>
        <p:nvSpPr>
          <p:cNvPr id="0" name="T"/>
          <p:cNvSpPr txBox="1"/>
          <p:nvPr/>
        </p:nvSpPr>
        <p:spPr>
          <a:xfrm>
            <a:off x="457200" y="1097280"/>
            <a:ext cx="11247120" cy="109728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C7CFDB"/>
                </a:solidFill>
                <a:latin typeface="Calibri"/>
              </a:rPr>
              <a:t>Match: Lampiya Dhura=?, Niti=?, Muling La=?, Mayali=?</a:t>
            </a:r>
          </a:p>
        </p:txBody>
      </p:sp>
      <p:sp>
        <p:nvSpPr>
          <p:cNvPr id="0" name="AnsBox"/>
          <p:cNvSpPr/>
          <p:nvPr/>
        </p:nvSpPr>
        <p:spPr>
          <a:xfrm>
            <a:off x="457200" y="2560320"/>
            <a:ext cx="11247120" cy="1097280"/>
          </a:xfrm>
          <a:prstGeom prst="roundRect">
            <a:avLst>
              <a:gd name="adj" fmla="val 5000"/>
            </a:avLst>
          </a:prstGeom>
          <a:solidFill>
            <a:srgbClr val="27AE6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2651760"/>
            <a:ext cx="10698480" cy="9144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2400" b="1" dirty="0">
                <a:solidFill>
                  <a:srgbClr val="FFFFFF"/>
                </a:solidFill>
                <a:latin typeface="Calibri"/>
              </a:rPr>
              <a:t>Answer: (a) Pithoragarh, Chamoli, Uttarkashi, Tehri</a:t>
            </a:r>
          </a:p>
        </p:txBody>
      </p:sp>
      <p:sp>
        <p:nvSpPr>
          <p:cNvPr id="0" name="DetBox"/>
          <p:cNvSpPr/>
          <p:nvPr/>
        </p:nvSpPr>
        <p:spPr>
          <a:xfrm>
            <a:off x="457200" y="3931920"/>
            <a:ext cx="11247120" cy="182880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4069080"/>
            <a:ext cx="10698480" cy="1554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200" b="1" dirty="0">
                <a:solidFill>
                  <a:srgbClr val="E0A458"/>
                </a:solidFill>
                <a:latin typeface="Calibri"/>
              </a:rPr>
              <a:t>Details:</a:t>
            </a:r>
          </a:p>
          <a:p>
            <a:pPr algn="l"/>
            <a:r>
              <a:rPr lang="en-US" sz="1400" dirty="0">
                <a:solidFill>
                  <a:srgbClr val="FFFFFF"/>
                </a:solidFill>
                <a:latin typeface="Calibri"/>
              </a:rPr>
              <a:t>Lampiya Dhura=Pithoragarh | Niti=Chamoli | Muling La=Uttarkashi | Mayali=Tehri Garhwal</a:t>
            </a:r>
          </a:p>
        </p:txBody>
      </p:sp>
      <p:sp>
        <p:nvSpPr>
          <p:cNvPr id="0" name="Brand2"/>
          <p:cNvSpPr/>
          <p:nvPr/>
        </p:nvSpPr>
        <p:spPr>
          <a:xfrm>
            <a:off x="365760" y="6217920"/>
            <a:ext cx="11430000" cy="457200"/>
          </a:xfrm>
          <a:prstGeom prst="roundRect">
            <a:avLst>
              <a:gd name="adj" fmla="val 5000"/>
            </a:avLst>
          </a:prstGeom>
          <a:solidFill>
            <a:srgbClr val="1623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6245352"/>
            <a:ext cx="109728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000" dirty="0">
                <a:solidFill>
                  <a:srgbClr val="C7CFDB"/>
                </a:solidFill>
                <a:latin typeface="Calibri"/>
              </a:rPr>
              <a:t>UKPSC DECODED  |  Telegram: @UKPSCDECODED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opBar"/>
          <p:cNvSpPr/>
          <p:nvPr/>
        </p:nvSpPr>
        <p:spPr>
          <a:xfrm>
            <a:off x="365760" y="274320"/>
            <a:ext cx="11430000" cy="64008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320040"/>
            <a:ext cx="365760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400" b="1" dirty="0">
                <a:solidFill>
                  <a:srgbClr val="FFFFFF"/>
                </a:solidFill>
                <a:latin typeface="Calibri"/>
              </a:rPr>
              <a:t>Q94 | 3/34</a:t>
            </a:r>
          </a:p>
        </p:txBody>
      </p:sp>
      <p:sp>
        <p:nvSpPr>
          <p:cNvPr id="0" name="T"/>
          <p:cNvSpPr txBox="1"/>
          <p:nvPr/>
        </p:nvSpPr>
        <p:spPr>
          <a:xfrm>
            <a:off x="7772400" y="320040"/>
            <a:ext cx="384048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r"/>
            <a:r>
              <a:rPr lang="en-US" sz="1400" b="1" dirty="0">
                <a:solidFill>
                  <a:srgbClr val="E74C3C"/>
                </a:solidFill>
                <a:latin typeface="Calibri"/>
              </a:rPr>
              <a:t>TOUGH</a:t>
            </a:r>
          </a:p>
        </p:txBody>
      </p:sp>
      <p:sp>
        <p:nvSpPr>
          <p:cNvPr id="0" name="Cat"/>
          <p:cNvSpPr/>
          <p:nvPr/>
        </p:nvSpPr>
        <p:spPr>
          <a:xfrm>
            <a:off x="365760" y="1005840"/>
            <a:ext cx="2743200" cy="411480"/>
          </a:xfrm>
          <a:prstGeom prst="roundRect">
            <a:avLst>
              <a:gd name="adj" fmla="val 5000"/>
            </a:avLst>
          </a:prstGeom>
          <a:solidFill>
            <a:srgbClr val="E0A45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457200" y="1033271"/>
            <a:ext cx="2560320" cy="36576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100" b="1" dirty="0">
                <a:solidFill>
                  <a:srgbClr val="16233A"/>
                </a:solidFill>
                <a:latin typeface="Calibri"/>
              </a:rPr>
              <a:t>Culture</a:t>
            </a:r>
          </a:p>
        </p:txBody>
      </p:sp>
      <p:sp>
        <p:nvSpPr>
          <p:cNvPr id="0" name="T"/>
          <p:cNvSpPr txBox="1"/>
          <p:nvPr/>
        </p:nvSpPr>
        <p:spPr>
          <a:xfrm>
            <a:off x="457200" y="1645920"/>
            <a:ext cx="11247120" cy="16459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2200" b="1" dirty="0">
                <a:solidFill>
                  <a:srgbClr val="FFFFFF"/>
                </a:solidFill>
                <a:latin typeface="Calibri"/>
              </a:rPr>
              <a:t>Match: Bagwal=?, Chaiti=?, Gabladeve=?, Mostamanu=?</a:t>
            </a:r>
          </a:p>
        </p:txBody>
      </p:sp>
      <p:sp>
        <p:nvSpPr>
          <p:cNvPr id="0" name="O0"/>
          <p:cNvSpPr/>
          <p:nvPr/>
        </p:nvSpPr>
        <p:spPr>
          <a:xfrm>
            <a:off x="457200" y="365760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379476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(a) Darma, Kashipur, Devidhura, Pithoragarh</a:t>
            </a:r>
          </a:p>
        </p:txBody>
      </p:sp>
      <p:sp>
        <p:nvSpPr>
          <p:cNvPr id="0" name="O1"/>
          <p:cNvSpPr/>
          <p:nvPr/>
        </p:nvSpPr>
        <p:spPr>
          <a:xfrm>
            <a:off x="6217920" y="365760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6492240" y="379476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(b) Devidhura, Kashipur, Darma Valley, Pithoragarh</a:t>
            </a:r>
          </a:p>
        </p:txBody>
      </p:sp>
      <p:sp>
        <p:nvSpPr>
          <p:cNvPr id="0" name="O2"/>
          <p:cNvSpPr/>
          <p:nvPr/>
        </p:nvSpPr>
        <p:spPr>
          <a:xfrm>
            <a:off x="457200" y="493776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507492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(c) Kashipur, Devidhura, Pithoragarh, Darma</a:t>
            </a:r>
          </a:p>
        </p:txBody>
      </p:sp>
      <p:sp>
        <p:nvSpPr>
          <p:cNvPr id="0" name="O3"/>
          <p:cNvSpPr/>
          <p:nvPr/>
        </p:nvSpPr>
        <p:spPr>
          <a:xfrm>
            <a:off x="6217920" y="493776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6492240" y="507492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(d) Devidhura, Darma, Kashipur, Pithoragarh</a:t>
            </a:r>
          </a:p>
        </p:txBody>
      </p:sp>
      <p:sp>
        <p:nvSpPr>
          <p:cNvPr id="0" name="Brand"/>
          <p:cNvSpPr/>
          <p:nvPr/>
        </p:nvSpPr>
        <p:spPr>
          <a:xfrm>
            <a:off x="365760" y="6217920"/>
            <a:ext cx="11430000" cy="457200"/>
          </a:xfrm>
          <a:prstGeom prst="roundRect">
            <a:avLst>
              <a:gd name="adj" fmla="val 5000"/>
            </a:avLst>
          </a:prstGeom>
          <a:solidFill>
            <a:srgbClr val="1623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6245352"/>
            <a:ext cx="109728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000" dirty="0">
                <a:solidFill>
                  <a:srgbClr val="C7CFDB"/>
                </a:solidFill>
                <a:latin typeface="Calibri"/>
              </a:rPr>
              <a:t>UKPSC DECODED  |  PCS  |  Lower PCS  |  RO/ARO  |  UKSSSC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ATop"/>
          <p:cNvSpPr/>
          <p:nvPr/>
        </p:nvSpPr>
        <p:spPr>
          <a:xfrm>
            <a:off x="365760" y="274320"/>
            <a:ext cx="11430000" cy="640080"/>
          </a:xfrm>
          <a:prstGeom prst="roundRect">
            <a:avLst>
              <a:gd name="adj" fmla="val 5000"/>
            </a:avLst>
          </a:prstGeom>
          <a:solidFill>
            <a:srgbClr val="2C6E4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320040"/>
            <a:ext cx="548640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b="1" dirty="0">
                <a:solidFill>
                  <a:srgbClr val="FFFFFF"/>
                </a:solidFill>
                <a:latin typeface="Calibri"/>
              </a:rPr>
              <a:t>Q94 — ANSWER REVEAL</a:t>
            </a:r>
          </a:p>
        </p:txBody>
      </p:sp>
      <p:sp>
        <p:nvSpPr>
          <p:cNvPr id="0" name="T"/>
          <p:cNvSpPr txBox="1"/>
          <p:nvPr/>
        </p:nvSpPr>
        <p:spPr>
          <a:xfrm>
            <a:off x="7772400" y="320040"/>
            <a:ext cx="384048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r"/>
            <a:r>
              <a:rPr lang="en-US" sz="1200" dirty="0">
                <a:solidFill>
                  <a:srgbClr val="C7CFDB"/>
                </a:solidFill>
                <a:latin typeface="Calibri"/>
              </a:rPr>
              <a:t>3/34</a:t>
            </a:r>
          </a:p>
        </p:txBody>
      </p:sp>
      <p:sp>
        <p:nvSpPr>
          <p:cNvPr id="0" name="T"/>
          <p:cNvSpPr txBox="1"/>
          <p:nvPr/>
        </p:nvSpPr>
        <p:spPr>
          <a:xfrm>
            <a:off x="457200" y="1097280"/>
            <a:ext cx="11247120" cy="109728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C7CFDB"/>
                </a:solidFill>
                <a:latin typeface="Calibri"/>
              </a:rPr>
              <a:t>Match: Bagwal=?, Chaiti=?, Gabladeve=?, Mostamanu=?</a:t>
            </a:r>
          </a:p>
        </p:txBody>
      </p:sp>
      <p:sp>
        <p:nvSpPr>
          <p:cNvPr id="0" name="AnsBox"/>
          <p:cNvSpPr/>
          <p:nvPr/>
        </p:nvSpPr>
        <p:spPr>
          <a:xfrm>
            <a:off x="457200" y="2560320"/>
            <a:ext cx="11247120" cy="1097280"/>
          </a:xfrm>
          <a:prstGeom prst="roundRect">
            <a:avLst>
              <a:gd name="adj" fmla="val 5000"/>
            </a:avLst>
          </a:prstGeom>
          <a:solidFill>
            <a:srgbClr val="27AE6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2651760"/>
            <a:ext cx="10698480" cy="9144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2400" b="1" dirty="0">
                <a:solidFill>
                  <a:srgbClr val="FFFFFF"/>
                </a:solidFill>
                <a:latin typeface="Calibri"/>
              </a:rPr>
              <a:t>Answer: (b) Devidhura, Kashipur, Darma Valley, Pithoragarh</a:t>
            </a:r>
          </a:p>
        </p:txBody>
      </p:sp>
      <p:sp>
        <p:nvSpPr>
          <p:cNvPr id="0" name="DetBox"/>
          <p:cNvSpPr/>
          <p:nvPr/>
        </p:nvSpPr>
        <p:spPr>
          <a:xfrm>
            <a:off x="457200" y="3931920"/>
            <a:ext cx="11247120" cy="182880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4069080"/>
            <a:ext cx="10698480" cy="1554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200" b="1" dirty="0">
                <a:solidFill>
                  <a:srgbClr val="E0A458"/>
                </a:solidFill>
                <a:latin typeface="Calibri"/>
              </a:rPr>
              <a:t>Details:</a:t>
            </a:r>
          </a:p>
          <a:p>
            <a:pPr algn="l"/>
            <a:r>
              <a:rPr lang="en-US" sz="1400" dirty="0">
                <a:solidFill>
                  <a:srgbClr val="FFFFFF"/>
                </a:solidFill>
                <a:latin typeface="Calibri"/>
              </a:rPr>
              <a:t>Bagwal (stone festival) = Devidhura. Chaiti = Kashipur. Gabladeve = Bhotia tribe, Darma.</a:t>
            </a:r>
          </a:p>
        </p:txBody>
      </p:sp>
      <p:sp>
        <p:nvSpPr>
          <p:cNvPr id="0" name="Brand2"/>
          <p:cNvSpPr/>
          <p:nvPr/>
        </p:nvSpPr>
        <p:spPr>
          <a:xfrm>
            <a:off x="365760" y="6217920"/>
            <a:ext cx="11430000" cy="457200"/>
          </a:xfrm>
          <a:prstGeom prst="roundRect">
            <a:avLst>
              <a:gd name="adj" fmla="val 5000"/>
            </a:avLst>
          </a:prstGeom>
          <a:solidFill>
            <a:srgbClr val="1623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6245352"/>
            <a:ext cx="109728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000" dirty="0">
                <a:solidFill>
                  <a:srgbClr val="C7CFDB"/>
                </a:solidFill>
                <a:latin typeface="Calibri"/>
              </a:rPr>
              <a:t>UKPSC DECODED  |  Telegram: @UKPSCDECODED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opBar"/>
          <p:cNvSpPr/>
          <p:nvPr/>
        </p:nvSpPr>
        <p:spPr>
          <a:xfrm>
            <a:off x="365760" y="274320"/>
            <a:ext cx="11430000" cy="64008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320040"/>
            <a:ext cx="365760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400" b="1" dirty="0">
                <a:solidFill>
                  <a:srgbClr val="FFFFFF"/>
                </a:solidFill>
                <a:latin typeface="Calibri"/>
              </a:rPr>
              <a:t>Q97 | 4/34</a:t>
            </a:r>
          </a:p>
        </p:txBody>
      </p:sp>
      <p:sp>
        <p:nvSpPr>
          <p:cNvPr id="0" name="T"/>
          <p:cNvSpPr txBox="1"/>
          <p:nvPr/>
        </p:nvSpPr>
        <p:spPr>
          <a:xfrm>
            <a:off x="7772400" y="320040"/>
            <a:ext cx="384048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r"/>
            <a:r>
              <a:rPr lang="en-US" sz="1400" b="1" dirty="0">
                <a:solidFill>
                  <a:srgbClr val="27AE60"/>
                </a:solidFill>
                <a:latin typeface="Calibri"/>
              </a:rPr>
              <a:t>EASY</a:t>
            </a:r>
          </a:p>
        </p:txBody>
      </p:sp>
      <p:sp>
        <p:nvSpPr>
          <p:cNvPr id="0" name="Cat"/>
          <p:cNvSpPr/>
          <p:nvPr/>
        </p:nvSpPr>
        <p:spPr>
          <a:xfrm>
            <a:off x="365760" y="1005840"/>
            <a:ext cx="2743200" cy="411480"/>
          </a:xfrm>
          <a:prstGeom prst="roundRect">
            <a:avLst>
              <a:gd name="adj" fmla="val 5000"/>
            </a:avLst>
          </a:prstGeom>
          <a:solidFill>
            <a:srgbClr val="E0A45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457200" y="1033271"/>
            <a:ext cx="2560320" cy="36576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100" b="1" dirty="0">
                <a:solidFill>
                  <a:srgbClr val="16233A"/>
                </a:solidFill>
                <a:latin typeface="Calibri"/>
              </a:rPr>
              <a:t>Geography</a:t>
            </a:r>
          </a:p>
        </p:txBody>
      </p:sp>
      <p:sp>
        <p:nvSpPr>
          <p:cNvPr id="0" name="T"/>
          <p:cNvSpPr txBox="1"/>
          <p:nvPr/>
        </p:nvSpPr>
        <p:spPr>
          <a:xfrm>
            <a:off x="457200" y="1645920"/>
            <a:ext cx="11247120" cy="16459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2200" b="1" dirty="0">
                <a:solidFill>
                  <a:srgbClr val="FFFFFF"/>
                </a:solidFill>
                <a:latin typeface="Calibri"/>
              </a:rPr>
              <a:t>Kshetraphal mein Uttarakhand ka sabse bada Wildlife Sanctuary kaun sa hai?</a:t>
            </a:r>
          </a:p>
        </p:txBody>
      </p:sp>
      <p:sp>
        <p:nvSpPr>
          <p:cNvPr id="0" name="O0"/>
          <p:cNvSpPr/>
          <p:nvPr/>
        </p:nvSpPr>
        <p:spPr>
          <a:xfrm>
            <a:off x="457200" y="365760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379476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(a) Govind</a:t>
            </a:r>
          </a:p>
        </p:txBody>
      </p:sp>
      <p:sp>
        <p:nvSpPr>
          <p:cNvPr id="0" name="O1"/>
          <p:cNvSpPr/>
          <p:nvPr/>
        </p:nvSpPr>
        <p:spPr>
          <a:xfrm>
            <a:off x="6217920" y="365760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6492240" y="379476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(b) Binsar</a:t>
            </a:r>
          </a:p>
        </p:txBody>
      </p:sp>
      <p:sp>
        <p:nvSpPr>
          <p:cNvPr id="0" name="O2"/>
          <p:cNvSpPr/>
          <p:nvPr/>
        </p:nvSpPr>
        <p:spPr>
          <a:xfrm>
            <a:off x="457200" y="493776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507492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(c) Askot</a:t>
            </a:r>
          </a:p>
        </p:txBody>
      </p:sp>
      <p:sp>
        <p:nvSpPr>
          <p:cNvPr id="0" name="O3"/>
          <p:cNvSpPr/>
          <p:nvPr/>
        </p:nvSpPr>
        <p:spPr>
          <a:xfrm>
            <a:off x="6217920" y="493776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6492240" y="507492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(d) Kedarnath</a:t>
            </a:r>
          </a:p>
        </p:txBody>
      </p:sp>
      <p:sp>
        <p:nvSpPr>
          <p:cNvPr id="0" name="Brand"/>
          <p:cNvSpPr/>
          <p:nvPr/>
        </p:nvSpPr>
        <p:spPr>
          <a:xfrm>
            <a:off x="365760" y="6217920"/>
            <a:ext cx="11430000" cy="457200"/>
          </a:xfrm>
          <a:prstGeom prst="roundRect">
            <a:avLst>
              <a:gd name="adj" fmla="val 5000"/>
            </a:avLst>
          </a:prstGeom>
          <a:solidFill>
            <a:srgbClr val="1623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6245352"/>
            <a:ext cx="109728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000" dirty="0">
                <a:solidFill>
                  <a:srgbClr val="C7CFDB"/>
                </a:solidFill>
                <a:latin typeface="Calibri"/>
              </a:rPr>
              <a:t>UKPSC DECODED  |  PCS  |  Lower PCS  |  RO/ARO  |  UKSSSC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ATop"/>
          <p:cNvSpPr/>
          <p:nvPr/>
        </p:nvSpPr>
        <p:spPr>
          <a:xfrm>
            <a:off x="365760" y="274320"/>
            <a:ext cx="11430000" cy="640080"/>
          </a:xfrm>
          <a:prstGeom prst="roundRect">
            <a:avLst>
              <a:gd name="adj" fmla="val 5000"/>
            </a:avLst>
          </a:prstGeom>
          <a:solidFill>
            <a:srgbClr val="2C6E4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320040"/>
            <a:ext cx="548640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b="1" dirty="0">
                <a:solidFill>
                  <a:srgbClr val="FFFFFF"/>
                </a:solidFill>
                <a:latin typeface="Calibri"/>
              </a:rPr>
              <a:t>Q97 — ANSWER REVEAL</a:t>
            </a:r>
          </a:p>
        </p:txBody>
      </p:sp>
      <p:sp>
        <p:nvSpPr>
          <p:cNvPr id="0" name="T"/>
          <p:cNvSpPr txBox="1"/>
          <p:nvPr/>
        </p:nvSpPr>
        <p:spPr>
          <a:xfrm>
            <a:off x="7772400" y="320040"/>
            <a:ext cx="384048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r"/>
            <a:r>
              <a:rPr lang="en-US" sz="1200" dirty="0">
                <a:solidFill>
                  <a:srgbClr val="C7CFDB"/>
                </a:solidFill>
                <a:latin typeface="Calibri"/>
              </a:rPr>
              <a:t>4/34</a:t>
            </a:r>
          </a:p>
        </p:txBody>
      </p:sp>
      <p:sp>
        <p:nvSpPr>
          <p:cNvPr id="0" name="T"/>
          <p:cNvSpPr txBox="1"/>
          <p:nvPr/>
        </p:nvSpPr>
        <p:spPr>
          <a:xfrm>
            <a:off x="457200" y="1097280"/>
            <a:ext cx="11247120" cy="109728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C7CFDB"/>
                </a:solidFill>
                <a:latin typeface="Calibri"/>
              </a:rPr>
              <a:t>Kshetraphal mein Uttarakhand ka sabse bada Wildlife Sanctuary kaun sa hai?</a:t>
            </a:r>
          </a:p>
        </p:txBody>
      </p:sp>
      <p:sp>
        <p:nvSpPr>
          <p:cNvPr id="0" name="AnsBox"/>
          <p:cNvSpPr/>
          <p:nvPr/>
        </p:nvSpPr>
        <p:spPr>
          <a:xfrm>
            <a:off x="457200" y="2560320"/>
            <a:ext cx="11247120" cy="1097280"/>
          </a:xfrm>
          <a:prstGeom prst="roundRect">
            <a:avLst>
              <a:gd name="adj" fmla="val 5000"/>
            </a:avLst>
          </a:prstGeom>
          <a:solidFill>
            <a:srgbClr val="27AE6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2651760"/>
            <a:ext cx="10698480" cy="9144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2400" b="1" dirty="0">
                <a:solidFill>
                  <a:srgbClr val="FFFFFF"/>
                </a:solidFill>
                <a:latin typeface="Calibri"/>
              </a:rPr>
              <a:t>Answer: (d) Kedarnath</a:t>
            </a:r>
          </a:p>
        </p:txBody>
      </p:sp>
      <p:sp>
        <p:nvSpPr>
          <p:cNvPr id="0" name="DetBox"/>
          <p:cNvSpPr/>
          <p:nvPr/>
        </p:nvSpPr>
        <p:spPr>
          <a:xfrm>
            <a:off x="457200" y="3931920"/>
            <a:ext cx="11247120" cy="182880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4069080"/>
            <a:ext cx="10698480" cy="1554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200" b="1" dirty="0">
                <a:solidFill>
                  <a:srgbClr val="E0A458"/>
                </a:solidFill>
                <a:latin typeface="Calibri"/>
              </a:rPr>
              <a:t>Details:</a:t>
            </a:r>
          </a:p>
          <a:p>
            <a:pPr algn="l"/>
            <a:r>
              <a:rPr lang="en-US" sz="1400" dirty="0">
                <a:solidFill>
                  <a:srgbClr val="FFFFFF"/>
                </a:solidFill>
                <a:latin typeface="Calibri"/>
              </a:rPr>
              <a:t>975.20 sq km. Chamoli + Rudraprayag districts.</a:t>
            </a:r>
          </a:p>
        </p:txBody>
      </p:sp>
      <p:sp>
        <p:nvSpPr>
          <p:cNvPr id="0" name="Brand2"/>
          <p:cNvSpPr/>
          <p:nvPr/>
        </p:nvSpPr>
        <p:spPr>
          <a:xfrm>
            <a:off x="365760" y="6217920"/>
            <a:ext cx="11430000" cy="457200"/>
          </a:xfrm>
          <a:prstGeom prst="roundRect">
            <a:avLst>
              <a:gd name="adj" fmla="val 5000"/>
            </a:avLst>
          </a:prstGeom>
          <a:solidFill>
            <a:srgbClr val="1623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6245352"/>
            <a:ext cx="109728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000" dirty="0">
                <a:solidFill>
                  <a:srgbClr val="C7CFDB"/>
                </a:solidFill>
                <a:latin typeface="Calibri"/>
              </a:rPr>
              <a:t>UKPSC DECODED  |  Telegram: @UKPSCDECODED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opBar"/>
          <p:cNvSpPr/>
          <p:nvPr/>
        </p:nvSpPr>
        <p:spPr>
          <a:xfrm>
            <a:off x="365760" y="274320"/>
            <a:ext cx="11430000" cy="64008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320040"/>
            <a:ext cx="365760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400" b="1" dirty="0">
                <a:solidFill>
                  <a:srgbClr val="FFFFFF"/>
                </a:solidFill>
                <a:latin typeface="Calibri"/>
              </a:rPr>
              <a:t>Q100 | 5/34</a:t>
            </a:r>
          </a:p>
        </p:txBody>
      </p:sp>
      <p:sp>
        <p:nvSpPr>
          <p:cNvPr id="0" name="T"/>
          <p:cNvSpPr txBox="1"/>
          <p:nvPr/>
        </p:nvSpPr>
        <p:spPr>
          <a:xfrm>
            <a:off x="7772400" y="320040"/>
            <a:ext cx="384048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r"/>
            <a:r>
              <a:rPr lang="en-US" sz="1400" b="1" dirty="0">
                <a:solidFill>
                  <a:srgbClr val="F39C12"/>
                </a:solidFill>
                <a:latin typeface="Calibri"/>
              </a:rPr>
              <a:t>MODERATE</a:t>
            </a:r>
          </a:p>
        </p:txBody>
      </p:sp>
      <p:sp>
        <p:nvSpPr>
          <p:cNvPr id="0" name="Cat"/>
          <p:cNvSpPr/>
          <p:nvPr/>
        </p:nvSpPr>
        <p:spPr>
          <a:xfrm>
            <a:off x="365760" y="1005840"/>
            <a:ext cx="2743200" cy="411480"/>
          </a:xfrm>
          <a:prstGeom prst="roundRect">
            <a:avLst>
              <a:gd name="adj" fmla="val 5000"/>
            </a:avLst>
          </a:prstGeom>
          <a:solidFill>
            <a:srgbClr val="E0A45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457200" y="1033271"/>
            <a:ext cx="2560320" cy="36576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100" b="1" dirty="0">
                <a:solidFill>
                  <a:srgbClr val="16233A"/>
                </a:solidFill>
                <a:latin typeface="Calibri"/>
              </a:rPr>
              <a:t>Economy</a:t>
            </a:r>
          </a:p>
        </p:txBody>
      </p:sp>
      <p:sp>
        <p:nvSpPr>
          <p:cNvPr id="0" name="T"/>
          <p:cNvSpPr txBox="1"/>
          <p:nvPr/>
        </p:nvSpPr>
        <p:spPr>
          <a:xfrm>
            <a:off x="457200" y="1645920"/>
            <a:ext cx="11247120" cy="16459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2200" b="1" dirty="0">
                <a:solidFill>
                  <a:srgbClr val="FFFFFF"/>
                </a:solidFill>
                <a:latin typeface="Calibri"/>
              </a:rPr>
              <a:t>Uttarakhand Budget 2026-27 ka kul budgetiya parivyay kitna hai?</a:t>
            </a:r>
          </a:p>
        </p:txBody>
      </p:sp>
      <p:sp>
        <p:nvSpPr>
          <p:cNvPr id="0" name="O0"/>
          <p:cNvSpPr/>
          <p:nvPr/>
        </p:nvSpPr>
        <p:spPr>
          <a:xfrm>
            <a:off x="457200" y="365760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379476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(a) Rs 1,12,703.21 Cr</a:t>
            </a:r>
          </a:p>
        </p:txBody>
      </p:sp>
      <p:sp>
        <p:nvSpPr>
          <p:cNvPr id="0" name="O1"/>
          <p:cNvSpPr/>
          <p:nvPr/>
        </p:nvSpPr>
        <p:spPr>
          <a:xfrm>
            <a:off x="6217920" y="365760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6492240" y="379476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(b) Rs 1,10,703.21 Cr</a:t>
            </a:r>
          </a:p>
        </p:txBody>
      </p:sp>
      <p:sp>
        <p:nvSpPr>
          <p:cNvPr id="0" name="O2"/>
          <p:cNvSpPr/>
          <p:nvPr/>
        </p:nvSpPr>
        <p:spPr>
          <a:xfrm>
            <a:off x="457200" y="493776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507492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(c) Rs 1,11,703.21 Cr</a:t>
            </a:r>
          </a:p>
        </p:txBody>
      </p:sp>
      <p:sp>
        <p:nvSpPr>
          <p:cNvPr id="0" name="O3"/>
          <p:cNvSpPr/>
          <p:nvPr/>
        </p:nvSpPr>
        <p:spPr>
          <a:xfrm>
            <a:off x="6217920" y="493776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6492240" y="507492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(d) Rs 1,15,703.21 Cr</a:t>
            </a:r>
          </a:p>
        </p:txBody>
      </p:sp>
      <p:sp>
        <p:nvSpPr>
          <p:cNvPr id="0" name="Brand"/>
          <p:cNvSpPr/>
          <p:nvPr/>
        </p:nvSpPr>
        <p:spPr>
          <a:xfrm>
            <a:off x="365760" y="6217920"/>
            <a:ext cx="11430000" cy="457200"/>
          </a:xfrm>
          <a:prstGeom prst="roundRect">
            <a:avLst>
              <a:gd name="adj" fmla="val 5000"/>
            </a:avLst>
          </a:prstGeom>
          <a:solidFill>
            <a:srgbClr val="1623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6245352"/>
            <a:ext cx="109728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000" dirty="0">
                <a:solidFill>
                  <a:srgbClr val="C7CFDB"/>
                </a:solidFill>
                <a:latin typeface="Calibri"/>
              </a:rPr>
              <a:t>UKPSC DECODED  |  PCS  |  Lower PCS  |  RO/ARO  |  UKSSSC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ATop"/>
          <p:cNvSpPr/>
          <p:nvPr/>
        </p:nvSpPr>
        <p:spPr>
          <a:xfrm>
            <a:off x="365760" y="274320"/>
            <a:ext cx="11430000" cy="640080"/>
          </a:xfrm>
          <a:prstGeom prst="roundRect">
            <a:avLst>
              <a:gd name="adj" fmla="val 5000"/>
            </a:avLst>
          </a:prstGeom>
          <a:solidFill>
            <a:srgbClr val="2C6E4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320040"/>
            <a:ext cx="548640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b="1" dirty="0">
                <a:solidFill>
                  <a:srgbClr val="FFFFFF"/>
                </a:solidFill>
                <a:latin typeface="Calibri"/>
              </a:rPr>
              <a:t>Q100 — ANSWER REVEAL</a:t>
            </a:r>
          </a:p>
        </p:txBody>
      </p:sp>
      <p:sp>
        <p:nvSpPr>
          <p:cNvPr id="0" name="T"/>
          <p:cNvSpPr txBox="1"/>
          <p:nvPr/>
        </p:nvSpPr>
        <p:spPr>
          <a:xfrm>
            <a:off x="7772400" y="320040"/>
            <a:ext cx="384048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r"/>
            <a:r>
              <a:rPr lang="en-US" sz="1200" dirty="0">
                <a:solidFill>
                  <a:srgbClr val="C7CFDB"/>
                </a:solidFill>
                <a:latin typeface="Calibri"/>
              </a:rPr>
              <a:t>5/34</a:t>
            </a:r>
          </a:p>
        </p:txBody>
      </p:sp>
      <p:sp>
        <p:nvSpPr>
          <p:cNvPr id="0" name="T"/>
          <p:cNvSpPr txBox="1"/>
          <p:nvPr/>
        </p:nvSpPr>
        <p:spPr>
          <a:xfrm>
            <a:off x="457200" y="1097280"/>
            <a:ext cx="11247120" cy="109728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C7CFDB"/>
                </a:solidFill>
                <a:latin typeface="Calibri"/>
              </a:rPr>
              <a:t>Uttarakhand Budget 2026-27 ka kul budgetiya parivyay kitna hai?</a:t>
            </a:r>
          </a:p>
        </p:txBody>
      </p:sp>
      <p:sp>
        <p:nvSpPr>
          <p:cNvPr id="0" name="AnsBox"/>
          <p:cNvSpPr/>
          <p:nvPr/>
        </p:nvSpPr>
        <p:spPr>
          <a:xfrm>
            <a:off x="457200" y="2560320"/>
            <a:ext cx="11247120" cy="1097280"/>
          </a:xfrm>
          <a:prstGeom prst="roundRect">
            <a:avLst>
              <a:gd name="adj" fmla="val 5000"/>
            </a:avLst>
          </a:prstGeom>
          <a:solidFill>
            <a:srgbClr val="27AE6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2651760"/>
            <a:ext cx="10698480" cy="9144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2400" b="1" dirty="0">
                <a:solidFill>
                  <a:srgbClr val="FFFFFF"/>
                </a:solidFill>
                <a:latin typeface="Calibri"/>
              </a:rPr>
              <a:t>Answer: (c) Rs 1,11,703.21 Cr</a:t>
            </a:r>
          </a:p>
        </p:txBody>
      </p:sp>
      <p:sp>
        <p:nvSpPr>
          <p:cNvPr id="0" name="DetBox"/>
          <p:cNvSpPr/>
          <p:nvPr/>
        </p:nvSpPr>
        <p:spPr>
          <a:xfrm>
            <a:off x="457200" y="3931920"/>
            <a:ext cx="11247120" cy="182880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4069080"/>
            <a:ext cx="10698480" cy="1554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200" b="1" dirty="0">
                <a:solidFill>
                  <a:srgbClr val="E0A458"/>
                </a:solidFill>
                <a:latin typeface="Calibri"/>
              </a:rPr>
              <a:t>Details:</a:t>
            </a:r>
          </a:p>
          <a:p>
            <a:pPr algn="l"/>
            <a:r>
              <a:rPr lang="en-US" sz="1400" dirty="0">
                <a:solidFill>
                  <a:srgbClr val="FFFFFF"/>
                </a:solidFill>
                <a:latin typeface="Calibri"/>
              </a:rPr>
              <a:t>Presented in Gairsain Assembly. Yaad karo: 1-1-1-703.</a:t>
            </a:r>
          </a:p>
        </p:txBody>
      </p:sp>
      <p:sp>
        <p:nvSpPr>
          <p:cNvPr id="0" name="Brand2"/>
          <p:cNvSpPr/>
          <p:nvPr/>
        </p:nvSpPr>
        <p:spPr>
          <a:xfrm>
            <a:off x="365760" y="6217920"/>
            <a:ext cx="11430000" cy="457200"/>
          </a:xfrm>
          <a:prstGeom prst="roundRect">
            <a:avLst>
              <a:gd name="adj" fmla="val 5000"/>
            </a:avLst>
          </a:prstGeom>
          <a:solidFill>
            <a:srgbClr val="1623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6245352"/>
            <a:ext cx="109728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000" dirty="0">
                <a:solidFill>
                  <a:srgbClr val="C7CFDB"/>
                </a:solidFill>
                <a:latin typeface="Calibri"/>
              </a:rPr>
              <a:t>UKPSC DECODED  |  Telegram: @UKPSCDECODED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opBar"/>
          <p:cNvSpPr/>
          <p:nvPr/>
        </p:nvSpPr>
        <p:spPr>
          <a:xfrm>
            <a:off x="365760" y="274320"/>
            <a:ext cx="11430000" cy="64008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320040"/>
            <a:ext cx="365760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400" b="1" dirty="0">
                <a:solidFill>
                  <a:srgbClr val="FFFFFF"/>
                </a:solidFill>
                <a:latin typeface="Calibri"/>
              </a:rPr>
              <a:t>Q103 | 6/34</a:t>
            </a:r>
          </a:p>
        </p:txBody>
      </p:sp>
      <p:sp>
        <p:nvSpPr>
          <p:cNvPr id="0" name="T"/>
          <p:cNvSpPr txBox="1"/>
          <p:nvPr/>
        </p:nvSpPr>
        <p:spPr>
          <a:xfrm>
            <a:off x="7772400" y="320040"/>
            <a:ext cx="384048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r"/>
            <a:r>
              <a:rPr lang="en-US" sz="1400" b="1" dirty="0">
                <a:solidFill>
                  <a:srgbClr val="27AE60"/>
                </a:solidFill>
                <a:latin typeface="Calibri"/>
              </a:rPr>
              <a:t>EASY</a:t>
            </a:r>
          </a:p>
        </p:txBody>
      </p:sp>
      <p:sp>
        <p:nvSpPr>
          <p:cNvPr id="0" name="Cat"/>
          <p:cNvSpPr/>
          <p:nvPr/>
        </p:nvSpPr>
        <p:spPr>
          <a:xfrm>
            <a:off x="365760" y="1005840"/>
            <a:ext cx="2743200" cy="411480"/>
          </a:xfrm>
          <a:prstGeom prst="roundRect">
            <a:avLst>
              <a:gd name="adj" fmla="val 5000"/>
            </a:avLst>
          </a:prstGeom>
          <a:solidFill>
            <a:srgbClr val="E0A45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457200" y="1033271"/>
            <a:ext cx="2560320" cy="36576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100" b="1" dirty="0">
                <a:solidFill>
                  <a:srgbClr val="16233A"/>
                </a:solidFill>
                <a:latin typeface="Calibri"/>
              </a:rPr>
              <a:t>Economy</a:t>
            </a:r>
          </a:p>
        </p:txBody>
      </p:sp>
      <p:sp>
        <p:nvSpPr>
          <p:cNvPr id="0" name="T"/>
          <p:cNvSpPr txBox="1"/>
          <p:nvPr/>
        </p:nvSpPr>
        <p:spPr>
          <a:xfrm>
            <a:off x="457200" y="1645920"/>
            <a:ext cx="11247120" cy="16459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2200" b="1" dirty="0">
                <a:solidFill>
                  <a:srgbClr val="FFFFFF"/>
                </a:solidFill>
                <a:latin typeface="Calibri"/>
              </a:rPr>
              <a:t>Uttarakhand ko 'Money Order Economy' kyun kaha jaata hai?</a:t>
            </a:r>
          </a:p>
        </p:txBody>
      </p:sp>
      <p:sp>
        <p:nvSpPr>
          <p:cNvPr id="0" name="O0"/>
          <p:cNvSpPr/>
          <p:nvPr/>
        </p:nvSpPr>
        <p:spPr>
          <a:xfrm>
            <a:off x="457200" y="365760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379476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(a) A aur R dono sahi, R sahi vyakhya nahi</a:t>
            </a:r>
          </a:p>
        </p:txBody>
      </p:sp>
      <p:sp>
        <p:nvSpPr>
          <p:cNvPr id="0" name="O1"/>
          <p:cNvSpPr/>
          <p:nvPr/>
        </p:nvSpPr>
        <p:spPr>
          <a:xfrm>
            <a:off x="6217920" y="365760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6492240" y="379476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(b) A galat, R sahi</a:t>
            </a:r>
          </a:p>
        </p:txBody>
      </p:sp>
      <p:sp>
        <p:nvSpPr>
          <p:cNvPr id="0" name="O2"/>
          <p:cNvSpPr/>
          <p:nvPr/>
        </p:nvSpPr>
        <p:spPr>
          <a:xfrm>
            <a:off x="457200" y="493776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507492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(c) A sahi, R galat</a:t>
            </a:r>
          </a:p>
        </p:txBody>
      </p:sp>
      <p:sp>
        <p:nvSpPr>
          <p:cNvPr id="0" name="O3"/>
          <p:cNvSpPr/>
          <p:nvPr/>
        </p:nvSpPr>
        <p:spPr>
          <a:xfrm>
            <a:off x="6217920" y="493776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6492240" y="507492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(d) A aur R dono sahi, R sahi vyakhya hai</a:t>
            </a:r>
          </a:p>
        </p:txBody>
      </p:sp>
      <p:sp>
        <p:nvSpPr>
          <p:cNvPr id="0" name="Brand"/>
          <p:cNvSpPr/>
          <p:nvPr/>
        </p:nvSpPr>
        <p:spPr>
          <a:xfrm>
            <a:off x="365760" y="6217920"/>
            <a:ext cx="11430000" cy="457200"/>
          </a:xfrm>
          <a:prstGeom prst="roundRect">
            <a:avLst>
              <a:gd name="adj" fmla="val 5000"/>
            </a:avLst>
          </a:prstGeom>
          <a:solidFill>
            <a:srgbClr val="1623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6245352"/>
            <a:ext cx="109728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000" dirty="0">
                <a:solidFill>
                  <a:srgbClr val="C7CFDB"/>
                </a:solidFill>
                <a:latin typeface="Calibri"/>
              </a:rPr>
              <a:t>UKPSC DECODED  |  PCS  |  Lower PCS  |  RO/ARO  |  UKSSSC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ATop"/>
          <p:cNvSpPr/>
          <p:nvPr/>
        </p:nvSpPr>
        <p:spPr>
          <a:xfrm>
            <a:off x="365760" y="274320"/>
            <a:ext cx="11430000" cy="640080"/>
          </a:xfrm>
          <a:prstGeom prst="roundRect">
            <a:avLst>
              <a:gd name="adj" fmla="val 5000"/>
            </a:avLst>
          </a:prstGeom>
          <a:solidFill>
            <a:srgbClr val="2C6E4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320040"/>
            <a:ext cx="548640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b="1" dirty="0">
                <a:solidFill>
                  <a:srgbClr val="FFFFFF"/>
                </a:solidFill>
                <a:latin typeface="Calibri"/>
              </a:rPr>
              <a:t>Q103 — ANSWER REVEAL</a:t>
            </a:r>
          </a:p>
        </p:txBody>
      </p:sp>
      <p:sp>
        <p:nvSpPr>
          <p:cNvPr id="0" name="T"/>
          <p:cNvSpPr txBox="1"/>
          <p:nvPr/>
        </p:nvSpPr>
        <p:spPr>
          <a:xfrm>
            <a:off x="7772400" y="320040"/>
            <a:ext cx="384048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r"/>
            <a:r>
              <a:rPr lang="en-US" sz="1200" dirty="0">
                <a:solidFill>
                  <a:srgbClr val="C7CFDB"/>
                </a:solidFill>
                <a:latin typeface="Calibri"/>
              </a:rPr>
              <a:t>6/34</a:t>
            </a:r>
          </a:p>
        </p:txBody>
      </p:sp>
      <p:sp>
        <p:nvSpPr>
          <p:cNvPr id="0" name="T"/>
          <p:cNvSpPr txBox="1"/>
          <p:nvPr/>
        </p:nvSpPr>
        <p:spPr>
          <a:xfrm>
            <a:off x="457200" y="1097280"/>
            <a:ext cx="11247120" cy="109728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C7CFDB"/>
                </a:solidFill>
                <a:latin typeface="Calibri"/>
              </a:rPr>
              <a:t>Uttarakhand ko 'Money Order Economy' kyun kaha jaata hai?</a:t>
            </a:r>
          </a:p>
        </p:txBody>
      </p:sp>
      <p:sp>
        <p:nvSpPr>
          <p:cNvPr id="0" name="AnsBox"/>
          <p:cNvSpPr/>
          <p:nvPr/>
        </p:nvSpPr>
        <p:spPr>
          <a:xfrm>
            <a:off x="457200" y="2560320"/>
            <a:ext cx="11247120" cy="1097280"/>
          </a:xfrm>
          <a:prstGeom prst="roundRect">
            <a:avLst>
              <a:gd name="adj" fmla="val 5000"/>
            </a:avLst>
          </a:prstGeom>
          <a:solidFill>
            <a:srgbClr val="27AE6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2651760"/>
            <a:ext cx="10698480" cy="9144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2400" b="1" dirty="0">
                <a:solidFill>
                  <a:srgbClr val="FFFFFF"/>
                </a:solidFill>
                <a:latin typeface="Calibri"/>
              </a:rPr>
              <a:t>Answer: (d) Dono sahi, R sahi vyakhya hai</a:t>
            </a:r>
          </a:p>
        </p:txBody>
      </p:sp>
      <p:sp>
        <p:nvSpPr>
          <p:cNvPr id="0" name="DetBox"/>
          <p:cNvSpPr/>
          <p:nvPr/>
        </p:nvSpPr>
        <p:spPr>
          <a:xfrm>
            <a:off x="457200" y="3931920"/>
            <a:ext cx="11247120" cy="182880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4069080"/>
            <a:ext cx="10698480" cy="1554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200" b="1" dirty="0">
                <a:solidFill>
                  <a:srgbClr val="E0A458"/>
                </a:solidFill>
                <a:latin typeface="Calibri"/>
              </a:rPr>
              <a:t>Details:</a:t>
            </a:r>
          </a:p>
          <a:p>
            <a:pPr algn="l"/>
            <a:r>
              <a:rPr lang="en-US" sz="1400" dirty="0">
                <a:solidFill>
                  <a:srgbClr val="FFFFFF"/>
                </a:solidFill>
                <a:latin typeface="Calibri"/>
              </a:rPr>
              <a:t>Youth migrate for jobs, send money orders home. R explains A perfectly.</a:t>
            </a:r>
          </a:p>
        </p:txBody>
      </p:sp>
      <p:sp>
        <p:nvSpPr>
          <p:cNvPr id="0" name="Brand2"/>
          <p:cNvSpPr/>
          <p:nvPr/>
        </p:nvSpPr>
        <p:spPr>
          <a:xfrm>
            <a:off x="365760" y="6217920"/>
            <a:ext cx="11430000" cy="457200"/>
          </a:xfrm>
          <a:prstGeom prst="roundRect">
            <a:avLst>
              <a:gd name="adj" fmla="val 5000"/>
            </a:avLst>
          </a:prstGeom>
          <a:solidFill>
            <a:srgbClr val="1623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6245352"/>
            <a:ext cx="109728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000" dirty="0">
                <a:solidFill>
                  <a:srgbClr val="C7CFDB"/>
                </a:solidFill>
                <a:latin typeface="Calibri"/>
              </a:rPr>
              <a:t>UKPSC DECODED  |  Telegram: @UKPSCDECODED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opBar"/>
          <p:cNvSpPr/>
          <p:nvPr/>
        </p:nvSpPr>
        <p:spPr>
          <a:xfrm>
            <a:off x="365760" y="274320"/>
            <a:ext cx="11430000" cy="64008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320040"/>
            <a:ext cx="365760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400" b="1" dirty="0">
                <a:solidFill>
                  <a:srgbClr val="FFFFFF"/>
                </a:solidFill>
                <a:latin typeface="Calibri"/>
              </a:rPr>
              <a:t>Q105 | 7/34</a:t>
            </a:r>
          </a:p>
        </p:txBody>
      </p:sp>
      <p:sp>
        <p:nvSpPr>
          <p:cNvPr id="0" name="T"/>
          <p:cNvSpPr txBox="1"/>
          <p:nvPr/>
        </p:nvSpPr>
        <p:spPr>
          <a:xfrm>
            <a:off x="7772400" y="320040"/>
            <a:ext cx="384048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r"/>
            <a:r>
              <a:rPr lang="en-US" sz="1400" b="1" dirty="0">
                <a:solidFill>
                  <a:srgbClr val="27AE60"/>
                </a:solidFill>
                <a:latin typeface="Calibri"/>
              </a:rPr>
              <a:t>EASY</a:t>
            </a:r>
          </a:p>
        </p:txBody>
      </p:sp>
      <p:sp>
        <p:nvSpPr>
          <p:cNvPr id="0" name="Cat"/>
          <p:cNvSpPr/>
          <p:nvPr/>
        </p:nvSpPr>
        <p:spPr>
          <a:xfrm>
            <a:off x="365760" y="1005840"/>
            <a:ext cx="2743200" cy="411480"/>
          </a:xfrm>
          <a:prstGeom prst="roundRect">
            <a:avLst>
              <a:gd name="adj" fmla="val 5000"/>
            </a:avLst>
          </a:prstGeom>
          <a:solidFill>
            <a:srgbClr val="E0A45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457200" y="1033271"/>
            <a:ext cx="2560320" cy="36576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100" b="1" dirty="0">
                <a:solidFill>
                  <a:srgbClr val="16233A"/>
                </a:solidFill>
                <a:latin typeface="Calibri"/>
              </a:rPr>
              <a:t>Polity</a:t>
            </a:r>
          </a:p>
        </p:txBody>
      </p:sp>
      <p:sp>
        <p:nvSpPr>
          <p:cNvPr id="0" name="T"/>
          <p:cNvSpPr txBox="1"/>
          <p:nvPr/>
        </p:nvSpPr>
        <p:spPr>
          <a:xfrm>
            <a:off x="457200" y="1645920"/>
            <a:ext cx="11247120" cy="16459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2200" b="1" dirty="0">
                <a:solidFill>
                  <a:srgbClr val="FFFFFF"/>
                </a:solidFill>
                <a:latin typeface="Calibri"/>
              </a:rPr>
              <a:t>UKPSC apni varshik report kise saunpti hai?</a:t>
            </a:r>
          </a:p>
        </p:txBody>
      </p:sp>
      <p:sp>
        <p:nvSpPr>
          <p:cNvPr id="0" name="O0"/>
          <p:cNvSpPr/>
          <p:nvPr/>
        </p:nvSpPr>
        <p:spPr>
          <a:xfrm>
            <a:off x="457200" y="365760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379476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(a) Rajyapal ko</a:t>
            </a:r>
          </a:p>
        </p:txBody>
      </p:sp>
      <p:sp>
        <p:nvSpPr>
          <p:cNvPr id="0" name="O1"/>
          <p:cNvSpPr/>
          <p:nvPr/>
        </p:nvSpPr>
        <p:spPr>
          <a:xfrm>
            <a:off x="6217920" y="365760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6492240" y="379476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(b) Mukhyamantri ko</a:t>
            </a:r>
          </a:p>
        </p:txBody>
      </p:sp>
      <p:sp>
        <p:nvSpPr>
          <p:cNvPr id="0" name="O2"/>
          <p:cNvSpPr/>
          <p:nvPr/>
        </p:nvSpPr>
        <p:spPr>
          <a:xfrm>
            <a:off x="457200" y="493776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507492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(c) Kendriya Grihamantri ko</a:t>
            </a:r>
          </a:p>
        </p:txBody>
      </p:sp>
      <p:sp>
        <p:nvSpPr>
          <p:cNvPr id="0" name="O3"/>
          <p:cNvSpPr/>
          <p:nvPr/>
        </p:nvSpPr>
        <p:spPr>
          <a:xfrm>
            <a:off x="6217920" y="493776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6492240" y="507492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(d) Rashtrapati ko</a:t>
            </a:r>
          </a:p>
        </p:txBody>
      </p:sp>
      <p:sp>
        <p:nvSpPr>
          <p:cNvPr id="0" name="Brand"/>
          <p:cNvSpPr/>
          <p:nvPr/>
        </p:nvSpPr>
        <p:spPr>
          <a:xfrm>
            <a:off x="365760" y="6217920"/>
            <a:ext cx="11430000" cy="457200"/>
          </a:xfrm>
          <a:prstGeom prst="roundRect">
            <a:avLst>
              <a:gd name="adj" fmla="val 5000"/>
            </a:avLst>
          </a:prstGeom>
          <a:solidFill>
            <a:srgbClr val="1623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6245352"/>
            <a:ext cx="109728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000" dirty="0">
                <a:solidFill>
                  <a:srgbClr val="C7CFDB"/>
                </a:solidFill>
                <a:latin typeface="Calibri"/>
              </a:rPr>
              <a:t>UKPSC DECODED  |  PCS  |  Lower PCS  |  RO/ARO  |  UKSSSC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ATop"/>
          <p:cNvSpPr/>
          <p:nvPr/>
        </p:nvSpPr>
        <p:spPr>
          <a:xfrm>
            <a:off x="365760" y="274320"/>
            <a:ext cx="11430000" cy="640080"/>
          </a:xfrm>
          <a:prstGeom prst="roundRect">
            <a:avLst>
              <a:gd name="adj" fmla="val 5000"/>
            </a:avLst>
          </a:prstGeom>
          <a:solidFill>
            <a:srgbClr val="2C6E4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320040"/>
            <a:ext cx="548640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b="1" dirty="0">
                <a:solidFill>
                  <a:srgbClr val="FFFFFF"/>
                </a:solidFill>
                <a:latin typeface="Calibri"/>
              </a:rPr>
              <a:t>Q105 — ANSWER REVEAL</a:t>
            </a:r>
          </a:p>
        </p:txBody>
      </p:sp>
      <p:sp>
        <p:nvSpPr>
          <p:cNvPr id="0" name="T"/>
          <p:cNvSpPr txBox="1"/>
          <p:nvPr/>
        </p:nvSpPr>
        <p:spPr>
          <a:xfrm>
            <a:off x="7772400" y="320040"/>
            <a:ext cx="384048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r"/>
            <a:r>
              <a:rPr lang="en-US" sz="1200" dirty="0">
                <a:solidFill>
                  <a:srgbClr val="C7CFDB"/>
                </a:solidFill>
                <a:latin typeface="Calibri"/>
              </a:rPr>
              <a:t>7/34</a:t>
            </a:r>
          </a:p>
        </p:txBody>
      </p:sp>
      <p:sp>
        <p:nvSpPr>
          <p:cNvPr id="0" name="T"/>
          <p:cNvSpPr txBox="1"/>
          <p:nvPr/>
        </p:nvSpPr>
        <p:spPr>
          <a:xfrm>
            <a:off x="457200" y="1097280"/>
            <a:ext cx="11247120" cy="109728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C7CFDB"/>
                </a:solidFill>
                <a:latin typeface="Calibri"/>
              </a:rPr>
              <a:t>UKPSC apni varshik report kise saunpti hai?</a:t>
            </a:r>
          </a:p>
        </p:txBody>
      </p:sp>
      <p:sp>
        <p:nvSpPr>
          <p:cNvPr id="0" name="AnsBox"/>
          <p:cNvSpPr/>
          <p:nvPr/>
        </p:nvSpPr>
        <p:spPr>
          <a:xfrm>
            <a:off x="457200" y="2560320"/>
            <a:ext cx="11247120" cy="1097280"/>
          </a:xfrm>
          <a:prstGeom prst="roundRect">
            <a:avLst>
              <a:gd name="adj" fmla="val 5000"/>
            </a:avLst>
          </a:prstGeom>
          <a:solidFill>
            <a:srgbClr val="27AE6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2651760"/>
            <a:ext cx="10698480" cy="9144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2400" b="1" dirty="0">
                <a:solidFill>
                  <a:srgbClr val="FFFFFF"/>
                </a:solidFill>
                <a:latin typeface="Calibri"/>
              </a:rPr>
              <a:t>Answer: (a) Rajyapal ko</a:t>
            </a:r>
          </a:p>
        </p:txBody>
      </p:sp>
      <p:sp>
        <p:nvSpPr>
          <p:cNvPr id="0" name="DetBox"/>
          <p:cNvSpPr/>
          <p:nvPr/>
        </p:nvSpPr>
        <p:spPr>
          <a:xfrm>
            <a:off x="457200" y="3931920"/>
            <a:ext cx="11247120" cy="182880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4069080"/>
            <a:ext cx="10698480" cy="1554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200" b="1" dirty="0">
                <a:solidFill>
                  <a:srgbClr val="E0A458"/>
                </a:solidFill>
                <a:latin typeface="Calibri"/>
              </a:rPr>
              <a:t>Details:</a:t>
            </a:r>
          </a:p>
          <a:p>
            <a:pPr algn="l"/>
            <a:r>
              <a:rPr lang="en-US" sz="1400" dirty="0">
                <a:solidFill>
                  <a:srgbClr val="FFFFFF"/>
                </a:solidFill>
                <a:latin typeface="Calibri"/>
              </a:rPr>
              <a:t>Article 323(2) — State PSC reports to Governor.</a:t>
            </a:r>
          </a:p>
        </p:txBody>
      </p:sp>
      <p:sp>
        <p:nvSpPr>
          <p:cNvPr id="0" name="Brand2"/>
          <p:cNvSpPr/>
          <p:nvPr/>
        </p:nvSpPr>
        <p:spPr>
          <a:xfrm>
            <a:off x="365760" y="6217920"/>
            <a:ext cx="11430000" cy="457200"/>
          </a:xfrm>
          <a:prstGeom prst="roundRect">
            <a:avLst>
              <a:gd name="adj" fmla="val 5000"/>
            </a:avLst>
          </a:prstGeom>
          <a:solidFill>
            <a:srgbClr val="1623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6245352"/>
            <a:ext cx="109728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000" dirty="0">
                <a:solidFill>
                  <a:srgbClr val="C7CFDB"/>
                </a:solidFill>
                <a:latin typeface="Calibri"/>
              </a:rPr>
              <a:t>UKPSC DECODED  |  Telegram: @UKPSCDECODED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opBar"/>
          <p:cNvSpPr/>
          <p:nvPr/>
        </p:nvSpPr>
        <p:spPr>
          <a:xfrm>
            <a:off x="365760" y="274320"/>
            <a:ext cx="11430000" cy="64008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320040"/>
            <a:ext cx="365760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400" b="1" dirty="0">
                <a:solidFill>
                  <a:srgbClr val="FFFFFF"/>
                </a:solidFill>
                <a:latin typeface="Calibri"/>
              </a:rPr>
              <a:t>Q108 | 8/34</a:t>
            </a:r>
          </a:p>
        </p:txBody>
      </p:sp>
      <p:sp>
        <p:nvSpPr>
          <p:cNvPr id="0" name="T"/>
          <p:cNvSpPr txBox="1"/>
          <p:nvPr/>
        </p:nvSpPr>
        <p:spPr>
          <a:xfrm>
            <a:off x="7772400" y="320040"/>
            <a:ext cx="384048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r"/>
            <a:r>
              <a:rPr lang="en-US" sz="1400" b="1" dirty="0">
                <a:solidFill>
                  <a:srgbClr val="E74C3C"/>
                </a:solidFill>
                <a:latin typeface="Calibri"/>
              </a:rPr>
              <a:t>TOUGH</a:t>
            </a:r>
          </a:p>
        </p:txBody>
      </p:sp>
      <p:sp>
        <p:nvSpPr>
          <p:cNvPr id="0" name="Cat"/>
          <p:cNvSpPr/>
          <p:nvPr/>
        </p:nvSpPr>
        <p:spPr>
          <a:xfrm>
            <a:off x="365760" y="1005840"/>
            <a:ext cx="2743200" cy="411480"/>
          </a:xfrm>
          <a:prstGeom prst="roundRect">
            <a:avLst>
              <a:gd name="adj" fmla="val 5000"/>
            </a:avLst>
          </a:prstGeom>
          <a:solidFill>
            <a:srgbClr val="E0A45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457200" y="1033271"/>
            <a:ext cx="2560320" cy="36576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100" b="1" dirty="0">
                <a:solidFill>
                  <a:srgbClr val="16233A"/>
                </a:solidFill>
                <a:latin typeface="Calibri"/>
              </a:rPr>
              <a:t>Polity</a:t>
            </a:r>
          </a:p>
        </p:txBody>
      </p:sp>
      <p:sp>
        <p:nvSpPr>
          <p:cNvPr id="0" name="T"/>
          <p:cNvSpPr txBox="1"/>
          <p:nvPr/>
        </p:nvSpPr>
        <p:spPr>
          <a:xfrm>
            <a:off x="457200" y="1645920"/>
            <a:ext cx="11247120" cy="16459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2200" b="1" dirty="0">
                <a:solidFill>
                  <a:srgbClr val="FFFFFF"/>
                </a:solidFill>
                <a:latin typeface="Calibri"/>
              </a:rPr>
              <a:t>UCC Uttarakhand 2024: Mahila vivah aayu=?, Purush=?, Vivah registration=?, Live-in=?</a:t>
            </a:r>
          </a:p>
        </p:txBody>
      </p:sp>
      <p:sp>
        <p:nvSpPr>
          <p:cNvPr id="0" name="O0"/>
          <p:cNvSpPr/>
          <p:nvPr/>
        </p:nvSpPr>
        <p:spPr>
          <a:xfrm>
            <a:off x="457200" y="365760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379476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(a) II, III, IV, I</a:t>
            </a:r>
          </a:p>
        </p:txBody>
      </p:sp>
      <p:sp>
        <p:nvSpPr>
          <p:cNvPr id="0" name="O1"/>
          <p:cNvSpPr/>
          <p:nvPr/>
        </p:nvSpPr>
        <p:spPr>
          <a:xfrm>
            <a:off x="6217920" y="365760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6492240" y="379476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(b) II, IV, I, III</a:t>
            </a:r>
          </a:p>
        </p:txBody>
      </p:sp>
      <p:sp>
        <p:nvSpPr>
          <p:cNvPr id="0" name="O2"/>
          <p:cNvSpPr/>
          <p:nvPr/>
        </p:nvSpPr>
        <p:spPr>
          <a:xfrm>
            <a:off x="457200" y="493776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507492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(c) III, II, IV, I</a:t>
            </a:r>
          </a:p>
        </p:txBody>
      </p:sp>
      <p:sp>
        <p:nvSpPr>
          <p:cNvPr id="0" name="O3"/>
          <p:cNvSpPr/>
          <p:nvPr/>
        </p:nvSpPr>
        <p:spPr>
          <a:xfrm>
            <a:off x="6217920" y="493776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6492240" y="507492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(d) IV, III, I, II</a:t>
            </a:r>
          </a:p>
        </p:txBody>
      </p:sp>
      <p:sp>
        <p:nvSpPr>
          <p:cNvPr id="0" name="Brand"/>
          <p:cNvSpPr/>
          <p:nvPr/>
        </p:nvSpPr>
        <p:spPr>
          <a:xfrm>
            <a:off x="365760" y="6217920"/>
            <a:ext cx="11430000" cy="457200"/>
          </a:xfrm>
          <a:prstGeom prst="roundRect">
            <a:avLst>
              <a:gd name="adj" fmla="val 5000"/>
            </a:avLst>
          </a:prstGeom>
          <a:solidFill>
            <a:srgbClr val="1623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6245352"/>
            <a:ext cx="109728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000" dirty="0">
                <a:solidFill>
                  <a:srgbClr val="C7CFDB"/>
                </a:solidFill>
                <a:latin typeface="Calibri"/>
              </a:rPr>
              <a:t>UKPSC DECODED  |  PCS  |  Lower PCS  |  RO/ARO  |  UKSSSC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ATop"/>
          <p:cNvSpPr/>
          <p:nvPr/>
        </p:nvSpPr>
        <p:spPr>
          <a:xfrm>
            <a:off x="365760" y="274320"/>
            <a:ext cx="11430000" cy="640080"/>
          </a:xfrm>
          <a:prstGeom prst="roundRect">
            <a:avLst>
              <a:gd name="adj" fmla="val 5000"/>
            </a:avLst>
          </a:prstGeom>
          <a:solidFill>
            <a:srgbClr val="2C6E4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320040"/>
            <a:ext cx="548640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b="1" dirty="0">
                <a:solidFill>
                  <a:srgbClr val="FFFFFF"/>
                </a:solidFill>
                <a:latin typeface="Calibri"/>
              </a:rPr>
              <a:t>Q108 — ANSWER REVEAL</a:t>
            </a:r>
          </a:p>
        </p:txBody>
      </p:sp>
      <p:sp>
        <p:nvSpPr>
          <p:cNvPr id="0" name="T"/>
          <p:cNvSpPr txBox="1"/>
          <p:nvPr/>
        </p:nvSpPr>
        <p:spPr>
          <a:xfrm>
            <a:off x="7772400" y="320040"/>
            <a:ext cx="384048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r"/>
            <a:r>
              <a:rPr lang="en-US" sz="1200" dirty="0">
                <a:solidFill>
                  <a:srgbClr val="C7CFDB"/>
                </a:solidFill>
                <a:latin typeface="Calibri"/>
              </a:rPr>
              <a:t>8/34</a:t>
            </a:r>
          </a:p>
        </p:txBody>
      </p:sp>
      <p:sp>
        <p:nvSpPr>
          <p:cNvPr id="0" name="T"/>
          <p:cNvSpPr txBox="1"/>
          <p:nvPr/>
        </p:nvSpPr>
        <p:spPr>
          <a:xfrm>
            <a:off x="457200" y="1097280"/>
            <a:ext cx="11247120" cy="109728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C7CFDB"/>
                </a:solidFill>
                <a:latin typeface="Calibri"/>
              </a:rPr>
              <a:t>UCC Uttarakhand 2024: Mahila vivah aayu=?, Purush=?, Vivah registration=?, Live-in=?</a:t>
            </a:r>
          </a:p>
        </p:txBody>
      </p:sp>
      <p:sp>
        <p:nvSpPr>
          <p:cNvPr id="0" name="AnsBox"/>
          <p:cNvSpPr/>
          <p:nvPr/>
        </p:nvSpPr>
        <p:spPr>
          <a:xfrm>
            <a:off x="457200" y="2560320"/>
            <a:ext cx="11247120" cy="1097280"/>
          </a:xfrm>
          <a:prstGeom prst="roundRect">
            <a:avLst>
              <a:gd name="adj" fmla="val 5000"/>
            </a:avLst>
          </a:prstGeom>
          <a:solidFill>
            <a:srgbClr val="27AE6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2651760"/>
            <a:ext cx="10698480" cy="9144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2400" b="1" dirty="0">
                <a:solidFill>
                  <a:srgbClr val="FFFFFF"/>
                </a:solidFill>
                <a:latin typeface="Calibri"/>
              </a:rPr>
              <a:t>Answer: (b) Women=18yr, Registration=60 days, Men=21yr, Live-in=1 month</a:t>
            </a:r>
          </a:p>
        </p:txBody>
      </p:sp>
      <p:sp>
        <p:nvSpPr>
          <p:cNvPr id="0" name="DetBox"/>
          <p:cNvSpPr/>
          <p:nvPr/>
        </p:nvSpPr>
        <p:spPr>
          <a:xfrm>
            <a:off x="457200" y="3931920"/>
            <a:ext cx="11247120" cy="182880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4069080"/>
            <a:ext cx="10698480" cy="1554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200" b="1" dirty="0">
                <a:solidFill>
                  <a:srgbClr val="E0A458"/>
                </a:solidFill>
                <a:latin typeface="Calibri"/>
              </a:rPr>
              <a:t>Details:</a:t>
            </a:r>
          </a:p>
          <a:p>
            <a:pPr algn="l"/>
            <a:r>
              <a:rPr lang="en-US" sz="1400" dirty="0">
                <a:solidFill>
                  <a:srgbClr val="FFFFFF"/>
                </a:solidFill>
                <a:latin typeface="Calibri"/>
              </a:rPr>
              <a:t>UCC: Women 18, Men 21, Marriage reg = 60 days, Live-in = 30 days mein register.</a:t>
            </a:r>
          </a:p>
        </p:txBody>
      </p:sp>
      <p:sp>
        <p:nvSpPr>
          <p:cNvPr id="0" name="Brand2"/>
          <p:cNvSpPr/>
          <p:nvPr/>
        </p:nvSpPr>
        <p:spPr>
          <a:xfrm>
            <a:off x="365760" y="6217920"/>
            <a:ext cx="11430000" cy="457200"/>
          </a:xfrm>
          <a:prstGeom prst="roundRect">
            <a:avLst>
              <a:gd name="adj" fmla="val 5000"/>
            </a:avLst>
          </a:prstGeom>
          <a:solidFill>
            <a:srgbClr val="1623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6245352"/>
            <a:ext cx="109728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000" dirty="0">
                <a:solidFill>
                  <a:srgbClr val="C7CFDB"/>
                </a:solidFill>
                <a:latin typeface="Calibri"/>
              </a:rPr>
              <a:t>UKPSC DECODED  |  Telegram: @UKPSCDECODED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opBar"/>
          <p:cNvSpPr/>
          <p:nvPr/>
        </p:nvSpPr>
        <p:spPr>
          <a:xfrm>
            <a:off x="365760" y="274320"/>
            <a:ext cx="11430000" cy="64008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320040"/>
            <a:ext cx="365760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400" b="1" dirty="0">
                <a:solidFill>
                  <a:srgbClr val="FFFFFF"/>
                </a:solidFill>
                <a:latin typeface="Calibri"/>
              </a:rPr>
              <a:t>Q112 | 9/34</a:t>
            </a:r>
          </a:p>
        </p:txBody>
      </p:sp>
      <p:sp>
        <p:nvSpPr>
          <p:cNvPr id="0" name="T"/>
          <p:cNvSpPr txBox="1"/>
          <p:nvPr/>
        </p:nvSpPr>
        <p:spPr>
          <a:xfrm>
            <a:off x="7772400" y="320040"/>
            <a:ext cx="384048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r"/>
            <a:r>
              <a:rPr lang="en-US" sz="1400" b="1" dirty="0">
                <a:solidFill>
                  <a:srgbClr val="E74C3C"/>
                </a:solidFill>
                <a:latin typeface="Calibri"/>
              </a:rPr>
              <a:t>TOUGH</a:t>
            </a:r>
          </a:p>
        </p:txBody>
      </p:sp>
      <p:sp>
        <p:nvSpPr>
          <p:cNvPr id="0" name="Cat"/>
          <p:cNvSpPr/>
          <p:nvPr/>
        </p:nvSpPr>
        <p:spPr>
          <a:xfrm>
            <a:off x="365760" y="1005840"/>
            <a:ext cx="2743200" cy="411480"/>
          </a:xfrm>
          <a:prstGeom prst="roundRect">
            <a:avLst>
              <a:gd name="adj" fmla="val 5000"/>
            </a:avLst>
          </a:prstGeom>
          <a:solidFill>
            <a:srgbClr val="E0A45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457200" y="1033271"/>
            <a:ext cx="2560320" cy="36576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100" b="1" dirty="0">
                <a:solidFill>
                  <a:srgbClr val="16233A"/>
                </a:solidFill>
                <a:latin typeface="Calibri"/>
              </a:rPr>
              <a:t>Polity</a:t>
            </a:r>
          </a:p>
        </p:txBody>
      </p:sp>
      <p:sp>
        <p:nvSpPr>
          <p:cNvPr id="0" name="T"/>
          <p:cNvSpPr txBox="1"/>
          <p:nvPr/>
        </p:nvSpPr>
        <p:spPr>
          <a:xfrm>
            <a:off x="457200" y="1645920"/>
            <a:ext cx="11247120" cy="16459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2200" b="1" dirty="0">
                <a:solidFill>
                  <a:srgbClr val="FFFFFF"/>
                </a:solidFill>
                <a:latin typeface="Calibri"/>
              </a:rPr>
              <a:t>Uttarakhand ke pehle Lokayukta kaun the?</a:t>
            </a:r>
          </a:p>
        </p:txBody>
      </p:sp>
      <p:sp>
        <p:nvSpPr>
          <p:cNvPr id="0" name="O0"/>
          <p:cNvSpPr/>
          <p:nvPr/>
        </p:nvSpPr>
        <p:spPr>
          <a:xfrm>
            <a:off x="457200" y="365760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379476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(a) M.M. Ghildiyal</a:t>
            </a:r>
          </a:p>
        </p:txBody>
      </p:sp>
      <p:sp>
        <p:nvSpPr>
          <p:cNvPr id="0" name="O1"/>
          <p:cNvSpPr/>
          <p:nvPr/>
        </p:nvSpPr>
        <p:spPr>
          <a:xfrm>
            <a:off x="6217920" y="365760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6492240" y="379476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(b) S.H.A. Raza</a:t>
            </a:r>
          </a:p>
        </p:txBody>
      </p:sp>
      <p:sp>
        <p:nvSpPr>
          <p:cNvPr id="0" name="O2"/>
          <p:cNvSpPr/>
          <p:nvPr/>
        </p:nvSpPr>
        <p:spPr>
          <a:xfrm>
            <a:off x="457200" y="493776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507492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(c) D.D. Joshi</a:t>
            </a:r>
          </a:p>
        </p:txBody>
      </p:sp>
      <p:sp>
        <p:nvSpPr>
          <p:cNvPr id="0" name="O3"/>
          <p:cNvSpPr/>
          <p:nvPr/>
        </p:nvSpPr>
        <p:spPr>
          <a:xfrm>
            <a:off x="6217920" y="493776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6492240" y="507492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(d) Shivraj Patil</a:t>
            </a:r>
          </a:p>
        </p:txBody>
      </p:sp>
      <p:sp>
        <p:nvSpPr>
          <p:cNvPr id="0" name="Brand"/>
          <p:cNvSpPr/>
          <p:nvPr/>
        </p:nvSpPr>
        <p:spPr>
          <a:xfrm>
            <a:off x="365760" y="6217920"/>
            <a:ext cx="11430000" cy="457200"/>
          </a:xfrm>
          <a:prstGeom prst="roundRect">
            <a:avLst>
              <a:gd name="adj" fmla="val 5000"/>
            </a:avLst>
          </a:prstGeom>
          <a:solidFill>
            <a:srgbClr val="1623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6245352"/>
            <a:ext cx="109728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000" dirty="0">
                <a:solidFill>
                  <a:srgbClr val="C7CFDB"/>
                </a:solidFill>
                <a:latin typeface="Calibri"/>
              </a:rPr>
              <a:t>UKPSC DECODED  |  PCS  |  Lower PCS  |  RO/ARO  |  UKSSSC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ATop"/>
          <p:cNvSpPr/>
          <p:nvPr/>
        </p:nvSpPr>
        <p:spPr>
          <a:xfrm>
            <a:off x="365760" y="274320"/>
            <a:ext cx="11430000" cy="640080"/>
          </a:xfrm>
          <a:prstGeom prst="roundRect">
            <a:avLst>
              <a:gd name="adj" fmla="val 5000"/>
            </a:avLst>
          </a:prstGeom>
          <a:solidFill>
            <a:srgbClr val="2C6E4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320040"/>
            <a:ext cx="548640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b="1" dirty="0">
                <a:solidFill>
                  <a:srgbClr val="FFFFFF"/>
                </a:solidFill>
                <a:latin typeface="Calibri"/>
              </a:rPr>
              <a:t>Q112 — ANSWER REVEAL</a:t>
            </a:r>
          </a:p>
        </p:txBody>
      </p:sp>
      <p:sp>
        <p:nvSpPr>
          <p:cNvPr id="0" name="T"/>
          <p:cNvSpPr txBox="1"/>
          <p:nvPr/>
        </p:nvSpPr>
        <p:spPr>
          <a:xfrm>
            <a:off x="7772400" y="320040"/>
            <a:ext cx="384048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r"/>
            <a:r>
              <a:rPr lang="en-US" sz="1200" dirty="0">
                <a:solidFill>
                  <a:srgbClr val="C7CFDB"/>
                </a:solidFill>
                <a:latin typeface="Calibri"/>
              </a:rPr>
              <a:t>9/34</a:t>
            </a:r>
          </a:p>
        </p:txBody>
      </p:sp>
      <p:sp>
        <p:nvSpPr>
          <p:cNvPr id="0" name="T"/>
          <p:cNvSpPr txBox="1"/>
          <p:nvPr/>
        </p:nvSpPr>
        <p:spPr>
          <a:xfrm>
            <a:off x="457200" y="1097280"/>
            <a:ext cx="11247120" cy="109728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C7CFDB"/>
                </a:solidFill>
                <a:latin typeface="Calibri"/>
              </a:rPr>
              <a:t>Uttarakhand ke pehle Lokayukta kaun the?</a:t>
            </a:r>
          </a:p>
        </p:txBody>
      </p:sp>
      <p:sp>
        <p:nvSpPr>
          <p:cNvPr id="0" name="AnsBox"/>
          <p:cNvSpPr/>
          <p:nvPr/>
        </p:nvSpPr>
        <p:spPr>
          <a:xfrm>
            <a:off x="457200" y="2560320"/>
            <a:ext cx="11247120" cy="1097280"/>
          </a:xfrm>
          <a:prstGeom prst="roundRect">
            <a:avLst>
              <a:gd name="adj" fmla="val 5000"/>
            </a:avLst>
          </a:prstGeom>
          <a:solidFill>
            <a:srgbClr val="27AE6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2651760"/>
            <a:ext cx="10698480" cy="9144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2400" b="1" dirty="0">
                <a:solidFill>
                  <a:srgbClr val="FFFFFF"/>
                </a:solidFill>
                <a:latin typeface="Calibri"/>
              </a:rPr>
              <a:t>Answer: (b) S.H.A. Raza</a:t>
            </a:r>
          </a:p>
        </p:txBody>
      </p:sp>
      <p:sp>
        <p:nvSpPr>
          <p:cNvPr id="0" name="DetBox"/>
          <p:cNvSpPr/>
          <p:nvPr/>
        </p:nvSpPr>
        <p:spPr>
          <a:xfrm>
            <a:off x="457200" y="3931920"/>
            <a:ext cx="11247120" cy="182880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4069080"/>
            <a:ext cx="10698480" cy="1554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200" b="1" dirty="0">
                <a:solidFill>
                  <a:srgbClr val="E0A458"/>
                </a:solidFill>
                <a:latin typeface="Calibri"/>
              </a:rPr>
              <a:t>Details:</a:t>
            </a:r>
          </a:p>
          <a:p>
            <a:pPr algn="l"/>
            <a:r>
              <a:rPr lang="en-US" sz="1400" dirty="0">
                <a:solidFill>
                  <a:srgbClr val="FFFFFF"/>
                </a:solidFill>
                <a:latin typeface="Calibri"/>
              </a:rPr>
              <a:t>Justice Syed Haider Abbas Raza. Appointed 2002.</a:t>
            </a:r>
          </a:p>
        </p:txBody>
      </p:sp>
      <p:sp>
        <p:nvSpPr>
          <p:cNvPr id="0" name="Brand2"/>
          <p:cNvSpPr/>
          <p:nvPr/>
        </p:nvSpPr>
        <p:spPr>
          <a:xfrm>
            <a:off x="365760" y="6217920"/>
            <a:ext cx="11430000" cy="457200"/>
          </a:xfrm>
          <a:prstGeom prst="roundRect">
            <a:avLst>
              <a:gd name="adj" fmla="val 5000"/>
            </a:avLst>
          </a:prstGeom>
          <a:solidFill>
            <a:srgbClr val="1623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6245352"/>
            <a:ext cx="109728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000" dirty="0">
                <a:solidFill>
                  <a:srgbClr val="C7CFDB"/>
                </a:solidFill>
                <a:latin typeface="Calibri"/>
              </a:rPr>
              <a:t>UKPSC DECODED  |  Telegram: @UKPSCDECODED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opBar"/>
          <p:cNvSpPr/>
          <p:nvPr/>
        </p:nvSpPr>
        <p:spPr>
          <a:xfrm>
            <a:off x="365760" y="274320"/>
            <a:ext cx="11430000" cy="64008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320040"/>
            <a:ext cx="365760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400" b="1" dirty="0">
                <a:solidFill>
                  <a:srgbClr val="FFFFFF"/>
                </a:solidFill>
                <a:latin typeface="Calibri"/>
              </a:rPr>
              <a:t>Q113 | 10/34</a:t>
            </a:r>
          </a:p>
        </p:txBody>
      </p:sp>
      <p:sp>
        <p:nvSpPr>
          <p:cNvPr id="0" name="T"/>
          <p:cNvSpPr txBox="1"/>
          <p:nvPr/>
        </p:nvSpPr>
        <p:spPr>
          <a:xfrm>
            <a:off x="7772400" y="320040"/>
            <a:ext cx="384048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r"/>
            <a:r>
              <a:rPr lang="en-US" sz="1400" b="1" dirty="0">
                <a:solidFill>
                  <a:srgbClr val="F39C12"/>
                </a:solidFill>
                <a:latin typeface="Calibri"/>
              </a:rPr>
              <a:t>MODERATE</a:t>
            </a:r>
          </a:p>
        </p:txBody>
      </p:sp>
      <p:sp>
        <p:nvSpPr>
          <p:cNvPr id="0" name="Cat"/>
          <p:cNvSpPr/>
          <p:nvPr/>
        </p:nvSpPr>
        <p:spPr>
          <a:xfrm>
            <a:off x="365760" y="1005840"/>
            <a:ext cx="2743200" cy="411480"/>
          </a:xfrm>
          <a:prstGeom prst="roundRect">
            <a:avLst>
              <a:gd name="adj" fmla="val 5000"/>
            </a:avLst>
          </a:prstGeom>
          <a:solidFill>
            <a:srgbClr val="E0A45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457200" y="1033271"/>
            <a:ext cx="2560320" cy="36576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100" b="1" dirty="0">
                <a:solidFill>
                  <a:srgbClr val="16233A"/>
                </a:solidFill>
                <a:latin typeface="Calibri"/>
              </a:rPr>
              <a:t>Polity</a:t>
            </a:r>
          </a:p>
        </p:txBody>
      </p:sp>
      <p:sp>
        <p:nvSpPr>
          <p:cNvPr id="0" name="T"/>
          <p:cNvSpPr txBox="1"/>
          <p:nvPr/>
        </p:nvSpPr>
        <p:spPr>
          <a:xfrm>
            <a:off x="457200" y="1645920"/>
            <a:ext cx="11247120" cy="16459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2200" b="1" dirty="0">
                <a:solidFill>
                  <a:srgbClr val="FFFFFF"/>
                </a:solidFill>
                <a:latin typeface="Calibri"/>
              </a:rPr>
              <a:t>Uttarakhand High Court ki pratham mahila Chief Justice kaun hain?</a:t>
            </a:r>
          </a:p>
        </p:txBody>
      </p:sp>
      <p:sp>
        <p:nvSpPr>
          <p:cNvPr id="0" name="O0"/>
          <p:cNvSpPr/>
          <p:nvPr/>
        </p:nvSpPr>
        <p:spPr>
          <a:xfrm>
            <a:off x="457200" y="365760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379476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(a) Ranjana Desai</a:t>
            </a:r>
          </a:p>
        </p:txBody>
      </p:sp>
      <p:sp>
        <p:nvSpPr>
          <p:cNvPr id="0" name="O1"/>
          <p:cNvSpPr/>
          <p:nvPr/>
        </p:nvSpPr>
        <p:spPr>
          <a:xfrm>
            <a:off x="6217920" y="365760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6492240" y="379476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(b) Sudipti Sharma</a:t>
            </a:r>
          </a:p>
        </p:txBody>
      </p:sp>
      <p:sp>
        <p:nvSpPr>
          <p:cNvPr id="0" name="O2"/>
          <p:cNvSpPr/>
          <p:nvPr/>
        </p:nvSpPr>
        <p:spPr>
          <a:xfrm>
            <a:off x="457200" y="493776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507492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(c) Ritu Bahri</a:t>
            </a:r>
          </a:p>
        </p:txBody>
      </p:sp>
      <p:sp>
        <p:nvSpPr>
          <p:cNvPr id="0" name="O3"/>
          <p:cNvSpPr/>
          <p:nvPr/>
        </p:nvSpPr>
        <p:spPr>
          <a:xfrm>
            <a:off x="6217920" y="493776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6492240" y="507492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(d) Sukhvinder Kaur</a:t>
            </a:r>
          </a:p>
        </p:txBody>
      </p:sp>
      <p:sp>
        <p:nvSpPr>
          <p:cNvPr id="0" name="Brand"/>
          <p:cNvSpPr/>
          <p:nvPr/>
        </p:nvSpPr>
        <p:spPr>
          <a:xfrm>
            <a:off x="365760" y="6217920"/>
            <a:ext cx="11430000" cy="457200"/>
          </a:xfrm>
          <a:prstGeom prst="roundRect">
            <a:avLst>
              <a:gd name="adj" fmla="val 5000"/>
            </a:avLst>
          </a:prstGeom>
          <a:solidFill>
            <a:srgbClr val="1623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6245352"/>
            <a:ext cx="109728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000" dirty="0">
                <a:solidFill>
                  <a:srgbClr val="C7CFDB"/>
                </a:solidFill>
                <a:latin typeface="Calibri"/>
              </a:rPr>
              <a:t>UKPSC DECODED  |  PCS  |  Lower PCS  |  RO/ARO  |  UKSSSC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ATop"/>
          <p:cNvSpPr/>
          <p:nvPr/>
        </p:nvSpPr>
        <p:spPr>
          <a:xfrm>
            <a:off x="365760" y="274320"/>
            <a:ext cx="11430000" cy="640080"/>
          </a:xfrm>
          <a:prstGeom prst="roundRect">
            <a:avLst>
              <a:gd name="adj" fmla="val 5000"/>
            </a:avLst>
          </a:prstGeom>
          <a:solidFill>
            <a:srgbClr val="2C6E4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320040"/>
            <a:ext cx="548640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b="1" dirty="0">
                <a:solidFill>
                  <a:srgbClr val="FFFFFF"/>
                </a:solidFill>
                <a:latin typeface="Calibri"/>
              </a:rPr>
              <a:t>Q113 — ANSWER REVEAL</a:t>
            </a:r>
          </a:p>
        </p:txBody>
      </p:sp>
      <p:sp>
        <p:nvSpPr>
          <p:cNvPr id="0" name="T"/>
          <p:cNvSpPr txBox="1"/>
          <p:nvPr/>
        </p:nvSpPr>
        <p:spPr>
          <a:xfrm>
            <a:off x="7772400" y="320040"/>
            <a:ext cx="384048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r"/>
            <a:r>
              <a:rPr lang="en-US" sz="1200" dirty="0">
                <a:solidFill>
                  <a:srgbClr val="C7CFDB"/>
                </a:solidFill>
                <a:latin typeface="Calibri"/>
              </a:rPr>
              <a:t>10/34</a:t>
            </a:r>
          </a:p>
        </p:txBody>
      </p:sp>
      <p:sp>
        <p:nvSpPr>
          <p:cNvPr id="0" name="T"/>
          <p:cNvSpPr txBox="1"/>
          <p:nvPr/>
        </p:nvSpPr>
        <p:spPr>
          <a:xfrm>
            <a:off x="457200" y="1097280"/>
            <a:ext cx="11247120" cy="109728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C7CFDB"/>
                </a:solidFill>
                <a:latin typeface="Calibri"/>
              </a:rPr>
              <a:t>Uttarakhand High Court ki pratham mahila Chief Justice kaun hain?</a:t>
            </a:r>
          </a:p>
        </p:txBody>
      </p:sp>
      <p:sp>
        <p:nvSpPr>
          <p:cNvPr id="0" name="AnsBox"/>
          <p:cNvSpPr/>
          <p:nvPr/>
        </p:nvSpPr>
        <p:spPr>
          <a:xfrm>
            <a:off x="457200" y="2560320"/>
            <a:ext cx="11247120" cy="1097280"/>
          </a:xfrm>
          <a:prstGeom prst="roundRect">
            <a:avLst>
              <a:gd name="adj" fmla="val 5000"/>
            </a:avLst>
          </a:prstGeom>
          <a:solidFill>
            <a:srgbClr val="27AE6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2651760"/>
            <a:ext cx="10698480" cy="9144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2400" b="1" dirty="0">
                <a:solidFill>
                  <a:srgbClr val="FFFFFF"/>
                </a:solidFill>
                <a:latin typeface="Calibri"/>
              </a:rPr>
              <a:t>Answer: (c) Justice Ritu Bahri</a:t>
            </a:r>
          </a:p>
        </p:txBody>
      </p:sp>
      <p:sp>
        <p:nvSpPr>
          <p:cNvPr id="0" name="DetBox"/>
          <p:cNvSpPr/>
          <p:nvPr/>
        </p:nvSpPr>
        <p:spPr>
          <a:xfrm>
            <a:off x="457200" y="3931920"/>
            <a:ext cx="11247120" cy="182880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4069080"/>
            <a:ext cx="10698480" cy="1554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200" b="1" dirty="0">
                <a:solidFill>
                  <a:srgbClr val="E0A458"/>
                </a:solidFill>
                <a:latin typeface="Calibri"/>
              </a:rPr>
              <a:t>Details:</a:t>
            </a:r>
          </a:p>
          <a:p>
            <a:pPr algn="l"/>
            <a:r>
              <a:rPr lang="en-US" sz="1400" dirty="0">
                <a:solidFill>
                  <a:srgbClr val="FFFFFF"/>
                </a:solidFill>
                <a:latin typeface="Calibri"/>
              </a:rPr>
              <a:t>Took oath February 2024. Nainital HC.</a:t>
            </a:r>
          </a:p>
        </p:txBody>
      </p:sp>
      <p:sp>
        <p:nvSpPr>
          <p:cNvPr id="0" name="Brand2"/>
          <p:cNvSpPr/>
          <p:nvPr/>
        </p:nvSpPr>
        <p:spPr>
          <a:xfrm>
            <a:off x="365760" y="6217920"/>
            <a:ext cx="11430000" cy="457200"/>
          </a:xfrm>
          <a:prstGeom prst="roundRect">
            <a:avLst>
              <a:gd name="adj" fmla="val 5000"/>
            </a:avLst>
          </a:prstGeom>
          <a:solidFill>
            <a:srgbClr val="1623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6245352"/>
            <a:ext cx="109728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000" dirty="0">
                <a:solidFill>
                  <a:srgbClr val="C7CFDB"/>
                </a:solidFill>
                <a:latin typeface="Calibri"/>
              </a:rPr>
              <a:t>UKPSC DECODED  |  Telegram: @UKPSCDECODED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opBar"/>
          <p:cNvSpPr/>
          <p:nvPr/>
        </p:nvSpPr>
        <p:spPr>
          <a:xfrm>
            <a:off x="365760" y="274320"/>
            <a:ext cx="11430000" cy="64008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320040"/>
            <a:ext cx="365760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400" b="1" dirty="0">
                <a:solidFill>
                  <a:srgbClr val="FFFFFF"/>
                </a:solidFill>
                <a:latin typeface="Calibri"/>
              </a:rPr>
              <a:t>Q72 | 11/34</a:t>
            </a:r>
          </a:p>
        </p:txBody>
      </p:sp>
      <p:sp>
        <p:nvSpPr>
          <p:cNvPr id="0" name="T"/>
          <p:cNvSpPr txBox="1"/>
          <p:nvPr/>
        </p:nvSpPr>
        <p:spPr>
          <a:xfrm>
            <a:off x="7772400" y="320040"/>
            <a:ext cx="384048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r"/>
            <a:r>
              <a:rPr lang="en-US" sz="1400" b="1" dirty="0">
                <a:solidFill>
                  <a:srgbClr val="27AE60"/>
                </a:solidFill>
                <a:latin typeface="Calibri"/>
              </a:rPr>
              <a:t>EASY</a:t>
            </a:r>
          </a:p>
        </p:txBody>
      </p:sp>
      <p:sp>
        <p:nvSpPr>
          <p:cNvPr id="0" name="Cat"/>
          <p:cNvSpPr/>
          <p:nvPr/>
        </p:nvSpPr>
        <p:spPr>
          <a:xfrm>
            <a:off x="365760" y="1005840"/>
            <a:ext cx="2743200" cy="411480"/>
          </a:xfrm>
          <a:prstGeom prst="roundRect">
            <a:avLst>
              <a:gd name="adj" fmla="val 5000"/>
            </a:avLst>
          </a:prstGeom>
          <a:solidFill>
            <a:srgbClr val="E0A45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457200" y="1033271"/>
            <a:ext cx="2560320" cy="36576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100" b="1" dirty="0">
                <a:solidFill>
                  <a:srgbClr val="16233A"/>
                </a:solidFill>
                <a:latin typeface="Calibri"/>
              </a:rPr>
              <a:t>History</a:t>
            </a:r>
          </a:p>
        </p:txBody>
      </p:sp>
      <p:sp>
        <p:nvSpPr>
          <p:cNvPr id="0" name="T"/>
          <p:cNvSpPr txBox="1"/>
          <p:nvPr/>
        </p:nvSpPr>
        <p:spPr>
          <a:xfrm>
            <a:off x="457200" y="1645920"/>
            <a:ext cx="11247120" cy="16459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2200" b="1" dirty="0">
                <a:solidFill>
                  <a:srgbClr val="FFFFFF"/>
                </a:solidFill>
                <a:latin typeface="Calibri"/>
              </a:rPr>
              <a:t>Bharat mein pehla Mayor's Court kahan sthaapit kiya gaya?</a:t>
            </a:r>
          </a:p>
        </p:txBody>
      </p:sp>
      <p:sp>
        <p:nvSpPr>
          <p:cNvPr id="0" name="O0"/>
          <p:cNvSpPr/>
          <p:nvPr/>
        </p:nvSpPr>
        <p:spPr>
          <a:xfrm>
            <a:off x="457200" y="365760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379476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(a) Madras</a:t>
            </a:r>
          </a:p>
        </p:txBody>
      </p:sp>
      <p:sp>
        <p:nvSpPr>
          <p:cNvPr id="0" name="O1"/>
          <p:cNvSpPr/>
          <p:nvPr/>
        </p:nvSpPr>
        <p:spPr>
          <a:xfrm>
            <a:off x="6217920" y="365760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6492240" y="379476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(b) Bombay</a:t>
            </a:r>
          </a:p>
        </p:txBody>
      </p:sp>
      <p:sp>
        <p:nvSpPr>
          <p:cNvPr id="0" name="O2"/>
          <p:cNvSpPr/>
          <p:nvPr/>
        </p:nvSpPr>
        <p:spPr>
          <a:xfrm>
            <a:off x="457200" y="493776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507492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(c) Calcutta</a:t>
            </a:r>
          </a:p>
        </p:txBody>
      </p:sp>
      <p:sp>
        <p:nvSpPr>
          <p:cNvPr id="0" name="O3"/>
          <p:cNvSpPr/>
          <p:nvPr/>
        </p:nvSpPr>
        <p:spPr>
          <a:xfrm>
            <a:off x="6217920" y="493776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6492240" y="507492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(d) Surat</a:t>
            </a:r>
          </a:p>
        </p:txBody>
      </p:sp>
      <p:sp>
        <p:nvSpPr>
          <p:cNvPr id="0" name="Brand"/>
          <p:cNvSpPr/>
          <p:nvPr/>
        </p:nvSpPr>
        <p:spPr>
          <a:xfrm>
            <a:off x="365760" y="6217920"/>
            <a:ext cx="11430000" cy="457200"/>
          </a:xfrm>
          <a:prstGeom prst="roundRect">
            <a:avLst>
              <a:gd name="adj" fmla="val 5000"/>
            </a:avLst>
          </a:prstGeom>
          <a:solidFill>
            <a:srgbClr val="1623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6245352"/>
            <a:ext cx="109728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000" dirty="0">
                <a:solidFill>
                  <a:srgbClr val="C7CFDB"/>
                </a:solidFill>
                <a:latin typeface="Calibri"/>
              </a:rPr>
              <a:t>UKPSC DECODED  |  PCS  |  Lower PCS  |  RO/ARO  |  UKSSSC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ATop"/>
          <p:cNvSpPr/>
          <p:nvPr/>
        </p:nvSpPr>
        <p:spPr>
          <a:xfrm>
            <a:off x="365760" y="274320"/>
            <a:ext cx="11430000" cy="640080"/>
          </a:xfrm>
          <a:prstGeom prst="roundRect">
            <a:avLst>
              <a:gd name="adj" fmla="val 5000"/>
            </a:avLst>
          </a:prstGeom>
          <a:solidFill>
            <a:srgbClr val="2C6E4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320040"/>
            <a:ext cx="548640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b="1" dirty="0">
                <a:solidFill>
                  <a:srgbClr val="FFFFFF"/>
                </a:solidFill>
                <a:latin typeface="Calibri"/>
              </a:rPr>
              <a:t>Q72 — ANSWER REVEAL</a:t>
            </a:r>
          </a:p>
        </p:txBody>
      </p:sp>
      <p:sp>
        <p:nvSpPr>
          <p:cNvPr id="0" name="T"/>
          <p:cNvSpPr txBox="1"/>
          <p:nvPr/>
        </p:nvSpPr>
        <p:spPr>
          <a:xfrm>
            <a:off x="7772400" y="320040"/>
            <a:ext cx="384048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r"/>
            <a:r>
              <a:rPr lang="en-US" sz="1200" dirty="0">
                <a:solidFill>
                  <a:srgbClr val="C7CFDB"/>
                </a:solidFill>
                <a:latin typeface="Calibri"/>
              </a:rPr>
              <a:t>11/34</a:t>
            </a:r>
          </a:p>
        </p:txBody>
      </p:sp>
      <p:sp>
        <p:nvSpPr>
          <p:cNvPr id="0" name="T"/>
          <p:cNvSpPr txBox="1"/>
          <p:nvPr/>
        </p:nvSpPr>
        <p:spPr>
          <a:xfrm>
            <a:off x="457200" y="1097280"/>
            <a:ext cx="11247120" cy="109728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C7CFDB"/>
                </a:solidFill>
                <a:latin typeface="Calibri"/>
              </a:rPr>
              <a:t>Bharat mein pehla Mayor's Court kahan sthaapit kiya gaya?</a:t>
            </a:r>
          </a:p>
        </p:txBody>
      </p:sp>
      <p:sp>
        <p:nvSpPr>
          <p:cNvPr id="0" name="AnsBox"/>
          <p:cNvSpPr/>
          <p:nvPr/>
        </p:nvSpPr>
        <p:spPr>
          <a:xfrm>
            <a:off x="457200" y="2560320"/>
            <a:ext cx="11247120" cy="1097280"/>
          </a:xfrm>
          <a:prstGeom prst="roundRect">
            <a:avLst>
              <a:gd name="adj" fmla="val 5000"/>
            </a:avLst>
          </a:prstGeom>
          <a:solidFill>
            <a:srgbClr val="27AE6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2651760"/>
            <a:ext cx="10698480" cy="9144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2400" b="1" dirty="0">
                <a:solidFill>
                  <a:srgbClr val="FFFFFF"/>
                </a:solidFill>
                <a:latin typeface="Calibri"/>
              </a:rPr>
              <a:t>Answer: (a) Madras</a:t>
            </a:r>
          </a:p>
        </p:txBody>
      </p:sp>
      <p:sp>
        <p:nvSpPr>
          <p:cNvPr id="0" name="DetBox"/>
          <p:cNvSpPr/>
          <p:nvPr/>
        </p:nvSpPr>
        <p:spPr>
          <a:xfrm>
            <a:off x="457200" y="3931920"/>
            <a:ext cx="11247120" cy="182880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4069080"/>
            <a:ext cx="10698480" cy="1554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200" b="1" dirty="0">
                <a:solidFill>
                  <a:srgbClr val="E0A458"/>
                </a:solidFill>
                <a:latin typeface="Calibri"/>
              </a:rPr>
              <a:t>Details:</a:t>
            </a:r>
          </a:p>
          <a:p>
            <a:pPr algn="l"/>
            <a:r>
              <a:rPr lang="en-US" sz="1400" dirty="0">
                <a:solidFill>
                  <a:srgbClr val="FFFFFF"/>
                </a:solidFill>
                <a:latin typeface="Calibri"/>
              </a:rPr>
              <a:t>1688 by East India Company. Charter of 1726 added Bombay + Calcutta.</a:t>
            </a:r>
          </a:p>
        </p:txBody>
      </p:sp>
      <p:sp>
        <p:nvSpPr>
          <p:cNvPr id="0" name="Brand2"/>
          <p:cNvSpPr/>
          <p:nvPr/>
        </p:nvSpPr>
        <p:spPr>
          <a:xfrm>
            <a:off x="365760" y="6217920"/>
            <a:ext cx="11430000" cy="457200"/>
          </a:xfrm>
          <a:prstGeom prst="roundRect">
            <a:avLst>
              <a:gd name="adj" fmla="val 5000"/>
            </a:avLst>
          </a:prstGeom>
          <a:solidFill>
            <a:srgbClr val="1623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6245352"/>
            <a:ext cx="109728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000" dirty="0">
                <a:solidFill>
                  <a:srgbClr val="C7CFDB"/>
                </a:solidFill>
                <a:latin typeface="Calibri"/>
              </a:rPr>
              <a:t>UKPSC DECODED  |  Telegram: @UKPSCDECODED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opBar"/>
          <p:cNvSpPr/>
          <p:nvPr/>
        </p:nvSpPr>
        <p:spPr>
          <a:xfrm>
            <a:off x="365760" y="274320"/>
            <a:ext cx="11430000" cy="64008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320040"/>
            <a:ext cx="365760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400" b="1" dirty="0">
                <a:solidFill>
                  <a:srgbClr val="FFFFFF"/>
                </a:solidFill>
                <a:latin typeface="Calibri"/>
              </a:rPr>
              <a:t>Q74 | 12/34</a:t>
            </a:r>
          </a:p>
        </p:txBody>
      </p:sp>
      <p:sp>
        <p:nvSpPr>
          <p:cNvPr id="0" name="T"/>
          <p:cNvSpPr txBox="1"/>
          <p:nvPr/>
        </p:nvSpPr>
        <p:spPr>
          <a:xfrm>
            <a:off x="7772400" y="320040"/>
            <a:ext cx="384048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r"/>
            <a:r>
              <a:rPr lang="en-US" sz="1400" b="1" dirty="0">
                <a:solidFill>
                  <a:srgbClr val="27AE60"/>
                </a:solidFill>
                <a:latin typeface="Calibri"/>
              </a:rPr>
              <a:t>EASY</a:t>
            </a:r>
          </a:p>
        </p:txBody>
      </p:sp>
      <p:sp>
        <p:nvSpPr>
          <p:cNvPr id="0" name="Cat"/>
          <p:cNvSpPr/>
          <p:nvPr/>
        </p:nvSpPr>
        <p:spPr>
          <a:xfrm>
            <a:off x="365760" y="1005840"/>
            <a:ext cx="2743200" cy="411480"/>
          </a:xfrm>
          <a:prstGeom prst="roundRect">
            <a:avLst>
              <a:gd name="adj" fmla="val 5000"/>
            </a:avLst>
          </a:prstGeom>
          <a:solidFill>
            <a:srgbClr val="E0A45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457200" y="1033271"/>
            <a:ext cx="2560320" cy="36576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100" b="1" dirty="0">
                <a:solidFill>
                  <a:srgbClr val="16233A"/>
                </a:solidFill>
                <a:latin typeface="Calibri"/>
              </a:rPr>
              <a:t>History</a:t>
            </a:r>
          </a:p>
        </p:txBody>
      </p:sp>
      <p:sp>
        <p:nvSpPr>
          <p:cNvPr id="0" name="T"/>
          <p:cNvSpPr txBox="1"/>
          <p:nvPr/>
        </p:nvSpPr>
        <p:spPr>
          <a:xfrm>
            <a:off x="457200" y="1645920"/>
            <a:ext cx="11247120" cy="16459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2200" b="1" dirty="0">
                <a:solidFill>
                  <a:srgbClr val="FFFFFF"/>
                </a:solidFill>
                <a:latin typeface="Calibri"/>
              </a:rPr>
              <a:t>Bharat ka Federal Court kiske dwara sthaapit kiya gaya?</a:t>
            </a:r>
          </a:p>
        </p:txBody>
      </p:sp>
      <p:sp>
        <p:nvSpPr>
          <p:cNvPr id="0" name="O0"/>
          <p:cNvSpPr/>
          <p:nvPr/>
        </p:nvSpPr>
        <p:spPr>
          <a:xfrm>
            <a:off x="457200" y="365760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379476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(a) GoI Act, 1935</a:t>
            </a:r>
          </a:p>
        </p:txBody>
      </p:sp>
      <p:sp>
        <p:nvSpPr>
          <p:cNvPr id="0" name="O1"/>
          <p:cNvSpPr/>
          <p:nvPr/>
        </p:nvSpPr>
        <p:spPr>
          <a:xfrm>
            <a:off x="6217920" y="365760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6492240" y="379476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(b) GoI Act, 1919</a:t>
            </a:r>
          </a:p>
        </p:txBody>
      </p:sp>
      <p:sp>
        <p:nvSpPr>
          <p:cNvPr id="0" name="O2"/>
          <p:cNvSpPr/>
          <p:nvPr/>
        </p:nvSpPr>
        <p:spPr>
          <a:xfrm>
            <a:off x="457200" y="493776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507492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(c) Regulating Act, 1773</a:t>
            </a:r>
          </a:p>
        </p:txBody>
      </p:sp>
      <p:sp>
        <p:nvSpPr>
          <p:cNvPr id="0" name="O3"/>
          <p:cNvSpPr/>
          <p:nvPr/>
        </p:nvSpPr>
        <p:spPr>
          <a:xfrm>
            <a:off x="6217920" y="493776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6492240" y="507492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(d) Indian HC Act, 1911</a:t>
            </a:r>
          </a:p>
        </p:txBody>
      </p:sp>
      <p:sp>
        <p:nvSpPr>
          <p:cNvPr id="0" name="Brand"/>
          <p:cNvSpPr/>
          <p:nvPr/>
        </p:nvSpPr>
        <p:spPr>
          <a:xfrm>
            <a:off x="365760" y="6217920"/>
            <a:ext cx="11430000" cy="457200"/>
          </a:xfrm>
          <a:prstGeom prst="roundRect">
            <a:avLst>
              <a:gd name="adj" fmla="val 5000"/>
            </a:avLst>
          </a:prstGeom>
          <a:solidFill>
            <a:srgbClr val="1623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6245352"/>
            <a:ext cx="109728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000" dirty="0">
                <a:solidFill>
                  <a:srgbClr val="C7CFDB"/>
                </a:solidFill>
                <a:latin typeface="Calibri"/>
              </a:rPr>
              <a:t>UKPSC DECODED  |  PCS  |  Lower PCS  |  RO/ARO  |  UKSSSC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ATop"/>
          <p:cNvSpPr/>
          <p:nvPr/>
        </p:nvSpPr>
        <p:spPr>
          <a:xfrm>
            <a:off x="365760" y="274320"/>
            <a:ext cx="11430000" cy="640080"/>
          </a:xfrm>
          <a:prstGeom prst="roundRect">
            <a:avLst>
              <a:gd name="adj" fmla="val 5000"/>
            </a:avLst>
          </a:prstGeom>
          <a:solidFill>
            <a:srgbClr val="2C6E4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320040"/>
            <a:ext cx="548640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b="1" dirty="0">
                <a:solidFill>
                  <a:srgbClr val="FFFFFF"/>
                </a:solidFill>
                <a:latin typeface="Calibri"/>
              </a:rPr>
              <a:t>Q74 — ANSWER REVEAL</a:t>
            </a:r>
          </a:p>
        </p:txBody>
      </p:sp>
      <p:sp>
        <p:nvSpPr>
          <p:cNvPr id="0" name="T"/>
          <p:cNvSpPr txBox="1"/>
          <p:nvPr/>
        </p:nvSpPr>
        <p:spPr>
          <a:xfrm>
            <a:off x="7772400" y="320040"/>
            <a:ext cx="384048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r"/>
            <a:r>
              <a:rPr lang="en-US" sz="1200" dirty="0">
                <a:solidFill>
                  <a:srgbClr val="C7CFDB"/>
                </a:solidFill>
                <a:latin typeface="Calibri"/>
              </a:rPr>
              <a:t>12/34</a:t>
            </a:r>
          </a:p>
        </p:txBody>
      </p:sp>
      <p:sp>
        <p:nvSpPr>
          <p:cNvPr id="0" name="T"/>
          <p:cNvSpPr txBox="1"/>
          <p:nvPr/>
        </p:nvSpPr>
        <p:spPr>
          <a:xfrm>
            <a:off x="457200" y="1097280"/>
            <a:ext cx="11247120" cy="109728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C7CFDB"/>
                </a:solidFill>
                <a:latin typeface="Calibri"/>
              </a:rPr>
              <a:t>Bharat ka Federal Court kiske dwara sthaapit kiya gaya?</a:t>
            </a:r>
          </a:p>
        </p:txBody>
      </p:sp>
      <p:sp>
        <p:nvSpPr>
          <p:cNvPr id="0" name="AnsBox"/>
          <p:cNvSpPr/>
          <p:nvPr/>
        </p:nvSpPr>
        <p:spPr>
          <a:xfrm>
            <a:off x="457200" y="2560320"/>
            <a:ext cx="11247120" cy="1097280"/>
          </a:xfrm>
          <a:prstGeom prst="roundRect">
            <a:avLst>
              <a:gd name="adj" fmla="val 5000"/>
            </a:avLst>
          </a:prstGeom>
          <a:solidFill>
            <a:srgbClr val="27AE6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2651760"/>
            <a:ext cx="10698480" cy="9144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2400" b="1" dirty="0">
                <a:solidFill>
                  <a:srgbClr val="FFFFFF"/>
                </a:solidFill>
                <a:latin typeface="Calibri"/>
              </a:rPr>
              <a:t>Answer: (a) Government of India Act, 1935</a:t>
            </a:r>
          </a:p>
        </p:txBody>
      </p:sp>
      <p:sp>
        <p:nvSpPr>
          <p:cNvPr id="0" name="DetBox"/>
          <p:cNvSpPr/>
          <p:nvPr/>
        </p:nvSpPr>
        <p:spPr>
          <a:xfrm>
            <a:off x="457200" y="3931920"/>
            <a:ext cx="11247120" cy="182880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4069080"/>
            <a:ext cx="10698480" cy="1554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200" b="1" dirty="0">
                <a:solidFill>
                  <a:srgbClr val="E0A458"/>
                </a:solidFill>
                <a:latin typeface="Calibri"/>
              </a:rPr>
              <a:t>Details:</a:t>
            </a:r>
          </a:p>
          <a:p>
            <a:pPr algn="l"/>
            <a:r>
              <a:rPr lang="en-US" sz="1400" dirty="0">
                <a:solidFill>
                  <a:srgbClr val="FFFFFF"/>
                </a:solidFill>
                <a:latin typeface="Calibri"/>
              </a:rPr>
              <a:t>Federal Court started Oct 1, 1937.</a:t>
            </a:r>
          </a:p>
        </p:txBody>
      </p:sp>
      <p:sp>
        <p:nvSpPr>
          <p:cNvPr id="0" name="Brand2"/>
          <p:cNvSpPr/>
          <p:nvPr/>
        </p:nvSpPr>
        <p:spPr>
          <a:xfrm>
            <a:off x="365760" y="6217920"/>
            <a:ext cx="11430000" cy="457200"/>
          </a:xfrm>
          <a:prstGeom prst="roundRect">
            <a:avLst>
              <a:gd name="adj" fmla="val 5000"/>
            </a:avLst>
          </a:prstGeom>
          <a:solidFill>
            <a:srgbClr val="1623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6245352"/>
            <a:ext cx="109728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000" dirty="0">
                <a:solidFill>
                  <a:srgbClr val="C7CFDB"/>
                </a:solidFill>
                <a:latin typeface="Calibri"/>
              </a:rPr>
              <a:t>UKPSC DECODED  |  Telegram: @UKPSCDECODED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opBar"/>
          <p:cNvSpPr/>
          <p:nvPr/>
        </p:nvSpPr>
        <p:spPr>
          <a:xfrm>
            <a:off x="365760" y="274320"/>
            <a:ext cx="11430000" cy="64008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320040"/>
            <a:ext cx="365760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400" b="1" dirty="0">
                <a:solidFill>
                  <a:srgbClr val="FFFFFF"/>
                </a:solidFill>
                <a:latin typeface="Calibri"/>
              </a:rPr>
              <a:t>Q76 | 13/34</a:t>
            </a:r>
          </a:p>
        </p:txBody>
      </p:sp>
      <p:sp>
        <p:nvSpPr>
          <p:cNvPr id="0" name="T"/>
          <p:cNvSpPr txBox="1"/>
          <p:nvPr/>
        </p:nvSpPr>
        <p:spPr>
          <a:xfrm>
            <a:off x="7772400" y="320040"/>
            <a:ext cx="384048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r"/>
            <a:r>
              <a:rPr lang="en-US" sz="1400" b="1" dirty="0">
                <a:solidFill>
                  <a:srgbClr val="E74C3C"/>
                </a:solidFill>
                <a:latin typeface="Calibri"/>
              </a:rPr>
              <a:t>TOUGH</a:t>
            </a:r>
          </a:p>
        </p:txBody>
      </p:sp>
      <p:sp>
        <p:nvSpPr>
          <p:cNvPr id="0" name="Cat"/>
          <p:cNvSpPr/>
          <p:nvPr/>
        </p:nvSpPr>
        <p:spPr>
          <a:xfrm>
            <a:off x="365760" y="1005840"/>
            <a:ext cx="2743200" cy="411480"/>
          </a:xfrm>
          <a:prstGeom prst="roundRect">
            <a:avLst>
              <a:gd name="adj" fmla="val 5000"/>
            </a:avLst>
          </a:prstGeom>
          <a:solidFill>
            <a:srgbClr val="E0A45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457200" y="1033271"/>
            <a:ext cx="2560320" cy="36576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100" b="1" dirty="0">
                <a:solidFill>
                  <a:srgbClr val="16233A"/>
                </a:solidFill>
                <a:latin typeface="Calibri"/>
              </a:rPr>
              <a:t>UK History</a:t>
            </a:r>
          </a:p>
        </p:txBody>
      </p:sp>
      <p:sp>
        <p:nvSpPr>
          <p:cNvPr id="0" name="T"/>
          <p:cNvSpPr txBox="1"/>
          <p:nvPr/>
        </p:nvSpPr>
        <p:spPr>
          <a:xfrm>
            <a:off x="457200" y="1645920"/>
            <a:ext cx="11247120" cy="16459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2200" b="1" dirty="0">
                <a:solidFill>
                  <a:srgbClr val="FFFFFF"/>
                </a:solidFill>
                <a:latin typeface="Calibri"/>
              </a:rPr>
              <a:t>'Historical and Statistical Memoirs of Dehra Doon' ke lekhak kaun the?</a:t>
            </a:r>
          </a:p>
        </p:txBody>
      </p:sp>
      <p:sp>
        <p:nvSpPr>
          <p:cNvPr id="0" name="O0"/>
          <p:cNvSpPr/>
          <p:nvPr/>
        </p:nvSpPr>
        <p:spPr>
          <a:xfrm>
            <a:off x="457200" y="365760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379476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(a) G.R.C. Williams</a:t>
            </a:r>
          </a:p>
        </p:txBody>
      </p:sp>
      <p:sp>
        <p:nvSpPr>
          <p:cNvPr id="0" name="O1"/>
          <p:cNvSpPr/>
          <p:nvPr/>
        </p:nvSpPr>
        <p:spPr>
          <a:xfrm>
            <a:off x="6217920" y="365760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6492240" y="379476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(b) Bhakt Darshan</a:t>
            </a:r>
          </a:p>
        </p:txBody>
      </p:sp>
      <p:sp>
        <p:nvSpPr>
          <p:cNvPr id="0" name="O2"/>
          <p:cNvSpPr/>
          <p:nvPr/>
        </p:nvSpPr>
        <p:spPr>
          <a:xfrm>
            <a:off x="457200" y="493776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507492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(c) H.G. Walton</a:t>
            </a:r>
          </a:p>
        </p:txBody>
      </p:sp>
      <p:sp>
        <p:nvSpPr>
          <p:cNvPr id="0" name="O3"/>
          <p:cNvSpPr/>
          <p:nvPr/>
        </p:nvSpPr>
        <p:spPr>
          <a:xfrm>
            <a:off x="6217920" y="493776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6492240" y="507492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(d) E.T. Atkinson</a:t>
            </a:r>
          </a:p>
        </p:txBody>
      </p:sp>
      <p:sp>
        <p:nvSpPr>
          <p:cNvPr id="0" name="Brand"/>
          <p:cNvSpPr/>
          <p:nvPr/>
        </p:nvSpPr>
        <p:spPr>
          <a:xfrm>
            <a:off x="365760" y="6217920"/>
            <a:ext cx="11430000" cy="457200"/>
          </a:xfrm>
          <a:prstGeom prst="roundRect">
            <a:avLst>
              <a:gd name="adj" fmla="val 5000"/>
            </a:avLst>
          </a:prstGeom>
          <a:solidFill>
            <a:srgbClr val="1623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6245352"/>
            <a:ext cx="109728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000" dirty="0">
                <a:solidFill>
                  <a:srgbClr val="C7CFDB"/>
                </a:solidFill>
                <a:latin typeface="Calibri"/>
              </a:rPr>
              <a:t>UKPSC DECODED  |  PCS  |  Lower PCS  |  RO/ARO  |  UKSSSC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ATop"/>
          <p:cNvSpPr/>
          <p:nvPr/>
        </p:nvSpPr>
        <p:spPr>
          <a:xfrm>
            <a:off x="365760" y="274320"/>
            <a:ext cx="11430000" cy="640080"/>
          </a:xfrm>
          <a:prstGeom prst="roundRect">
            <a:avLst>
              <a:gd name="adj" fmla="val 5000"/>
            </a:avLst>
          </a:prstGeom>
          <a:solidFill>
            <a:srgbClr val="2C6E4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320040"/>
            <a:ext cx="548640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b="1" dirty="0">
                <a:solidFill>
                  <a:srgbClr val="FFFFFF"/>
                </a:solidFill>
                <a:latin typeface="Calibri"/>
              </a:rPr>
              <a:t>Q76 — ANSWER REVEAL</a:t>
            </a:r>
          </a:p>
        </p:txBody>
      </p:sp>
      <p:sp>
        <p:nvSpPr>
          <p:cNvPr id="0" name="T"/>
          <p:cNvSpPr txBox="1"/>
          <p:nvPr/>
        </p:nvSpPr>
        <p:spPr>
          <a:xfrm>
            <a:off x="7772400" y="320040"/>
            <a:ext cx="384048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r"/>
            <a:r>
              <a:rPr lang="en-US" sz="1200" dirty="0">
                <a:solidFill>
                  <a:srgbClr val="C7CFDB"/>
                </a:solidFill>
                <a:latin typeface="Calibri"/>
              </a:rPr>
              <a:t>13/34</a:t>
            </a:r>
          </a:p>
        </p:txBody>
      </p:sp>
      <p:sp>
        <p:nvSpPr>
          <p:cNvPr id="0" name="T"/>
          <p:cNvSpPr txBox="1"/>
          <p:nvPr/>
        </p:nvSpPr>
        <p:spPr>
          <a:xfrm>
            <a:off x="457200" y="1097280"/>
            <a:ext cx="11247120" cy="109728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C7CFDB"/>
                </a:solidFill>
                <a:latin typeface="Calibri"/>
              </a:rPr>
              <a:t>'Historical and Statistical Memoirs of Dehra Doon' ke lekhak kaun the?</a:t>
            </a:r>
          </a:p>
        </p:txBody>
      </p:sp>
      <p:sp>
        <p:nvSpPr>
          <p:cNvPr id="0" name="AnsBox"/>
          <p:cNvSpPr/>
          <p:nvPr/>
        </p:nvSpPr>
        <p:spPr>
          <a:xfrm>
            <a:off x="457200" y="2560320"/>
            <a:ext cx="11247120" cy="1097280"/>
          </a:xfrm>
          <a:prstGeom prst="roundRect">
            <a:avLst>
              <a:gd name="adj" fmla="val 5000"/>
            </a:avLst>
          </a:prstGeom>
          <a:solidFill>
            <a:srgbClr val="27AE6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2651760"/>
            <a:ext cx="10698480" cy="9144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2400" b="1" dirty="0">
                <a:solidFill>
                  <a:srgbClr val="FFFFFF"/>
                </a:solidFill>
                <a:latin typeface="Calibri"/>
              </a:rPr>
              <a:t>Answer: (a) G.R.C. Williams</a:t>
            </a:r>
          </a:p>
        </p:txBody>
      </p:sp>
      <p:sp>
        <p:nvSpPr>
          <p:cNvPr id="0" name="DetBox"/>
          <p:cNvSpPr/>
          <p:nvPr/>
        </p:nvSpPr>
        <p:spPr>
          <a:xfrm>
            <a:off x="457200" y="3931920"/>
            <a:ext cx="11247120" cy="182880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4069080"/>
            <a:ext cx="10698480" cy="1554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200" b="1" dirty="0">
                <a:solidFill>
                  <a:srgbClr val="E0A458"/>
                </a:solidFill>
                <a:latin typeface="Calibri"/>
              </a:rPr>
              <a:t>Details:</a:t>
            </a:r>
          </a:p>
          <a:p>
            <a:pPr algn="l"/>
            <a:r>
              <a:rPr lang="en-US" sz="1400" dirty="0">
                <a:solidFill>
                  <a:srgbClr val="FFFFFF"/>
                </a:solidFill>
                <a:latin typeface="Calibri"/>
              </a:rPr>
              <a:t>Published 1874. British civil servant.</a:t>
            </a:r>
          </a:p>
        </p:txBody>
      </p:sp>
      <p:sp>
        <p:nvSpPr>
          <p:cNvPr id="0" name="Brand2"/>
          <p:cNvSpPr/>
          <p:nvPr/>
        </p:nvSpPr>
        <p:spPr>
          <a:xfrm>
            <a:off x="365760" y="6217920"/>
            <a:ext cx="11430000" cy="457200"/>
          </a:xfrm>
          <a:prstGeom prst="roundRect">
            <a:avLst>
              <a:gd name="adj" fmla="val 5000"/>
            </a:avLst>
          </a:prstGeom>
          <a:solidFill>
            <a:srgbClr val="1623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6245352"/>
            <a:ext cx="109728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000" dirty="0">
                <a:solidFill>
                  <a:srgbClr val="C7CFDB"/>
                </a:solidFill>
                <a:latin typeface="Calibri"/>
              </a:rPr>
              <a:t>UKPSC DECODED  |  Telegram: @UKPSCDECODED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opBar"/>
          <p:cNvSpPr/>
          <p:nvPr/>
        </p:nvSpPr>
        <p:spPr>
          <a:xfrm>
            <a:off x="365760" y="274320"/>
            <a:ext cx="11430000" cy="64008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320040"/>
            <a:ext cx="365760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400" b="1" dirty="0">
                <a:solidFill>
                  <a:srgbClr val="FFFFFF"/>
                </a:solidFill>
                <a:latin typeface="Calibri"/>
              </a:rPr>
              <a:t>Q77 | 14/34</a:t>
            </a:r>
          </a:p>
        </p:txBody>
      </p:sp>
      <p:sp>
        <p:nvSpPr>
          <p:cNvPr id="0" name="T"/>
          <p:cNvSpPr txBox="1"/>
          <p:nvPr/>
        </p:nvSpPr>
        <p:spPr>
          <a:xfrm>
            <a:off x="7772400" y="320040"/>
            <a:ext cx="384048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r"/>
            <a:r>
              <a:rPr lang="en-US" sz="1400" b="1" dirty="0">
                <a:solidFill>
                  <a:srgbClr val="E74C3C"/>
                </a:solidFill>
                <a:latin typeface="Calibri"/>
              </a:rPr>
              <a:t>TOUGH</a:t>
            </a:r>
          </a:p>
        </p:txBody>
      </p:sp>
      <p:sp>
        <p:nvSpPr>
          <p:cNvPr id="0" name="Cat"/>
          <p:cNvSpPr/>
          <p:nvPr/>
        </p:nvSpPr>
        <p:spPr>
          <a:xfrm>
            <a:off x="365760" y="1005840"/>
            <a:ext cx="2743200" cy="411480"/>
          </a:xfrm>
          <a:prstGeom prst="roundRect">
            <a:avLst>
              <a:gd name="adj" fmla="val 5000"/>
            </a:avLst>
          </a:prstGeom>
          <a:solidFill>
            <a:srgbClr val="E0A45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457200" y="1033271"/>
            <a:ext cx="2560320" cy="36576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100" b="1" dirty="0">
                <a:solidFill>
                  <a:srgbClr val="16233A"/>
                </a:solidFill>
                <a:latin typeface="Calibri"/>
              </a:rPr>
              <a:t>UK History</a:t>
            </a:r>
          </a:p>
        </p:txBody>
      </p:sp>
      <p:sp>
        <p:nvSpPr>
          <p:cNvPr id="0" name="T"/>
          <p:cNvSpPr txBox="1"/>
          <p:nvPr/>
        </p:nvSpPr>
        <p:spPr>
          <a:xfrm>
            <a:off x="457200" y="1645920"/>
            <a:ext cx="11247120" cy="16459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2200" b="1" dirty="0">
                <a:solidFill>
                  <a:srgbClr val="FFFFFF"/>
                </a:solidFill>
                <a:latin typeface="Calibri"/>
              </a:rPr>
              <a:t>Jahangirnama mein Kumaon ke kis Chand Raja ka varnan hai?</a:t>
            </a:r>
          </a:p>
        </p:txBody>
      </p:sp>
      <p:sp>
        <p:nvSpPr>
          <p:cNvPr id="0" name="O0"/>
          <p:cNvSpPr/>
          <p:nvPr/>
        </p:nvSpPr>
        <p:spPr>
          <a:xfrm>
            <a:off x="457200" y="365760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379476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(a) Sansarchand</a:t>
            </a:r>
          </a:p>
        </p:txBody>
      </p:sp>
      <p:sp>
        <p:nvSpPr>
          <p:cNvPr id="0" name="O1"/>
          <p:cNvSpPr/>
          <p:nvPr/>
        </p:nvSpPr>
        <p:spPr>
          <a:xfrm>
            <a:off x="6217920" y="365760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6492240" y="379476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(b) Harichand</a:t>
            </a:r>
          </a:p>
        </p:txBody>
      </p:sp>
      <p:sp>
        <p:nvSpPr>
          <p:cNvPr id="0" name="O2"/>
          <p:cNvSpPr/>
          <p:nvPr/>
        </p:nvSpPr>
        <p:spPr>
          <a:xfrm>
            <a:off x="457200" y="493776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507492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(c) Binachand</a:t>
            </a:r>
          </a:p>
        </p:txBody>
      </p:sp>
      <p:sp>
        <p:nvSpPr>
          <p:cNvPr id="0" name="O3"/>
          <p:cNvSpPr/>
          <p:nvPr/>
        </p:nvSpPr>
        <p:spPr>
          <a:xfrm>
            <a:off x="6217920" y="493776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6492240" y="507492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(d) Laxmichand</a:t>
            </a:r>
          </a:p>
        </p:txBody>
      </p:sp>
      <p:sp>
        <p:nvSpPr>
          <p:cNvPr id="0" name="Brand"/>
          <p:cNvSpPr/>
          <p:nvPr/>
        </p:nvSpPr>
        <p:spPr>
          <a:xfrm>
            <a:off x="365760" y="6217920"/>
            <a:ext cx="11430000" cy="457200"/>
          </a:xfrm>
          <a:prstGeom prst="roundRect">
            <a:avLst>
              <a:gd name="adj" fmla="val 5000"/>
            </a:avLst>
          </a:prstGeom>
          <a:solidFill>
            <a:srgbClr val="1623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6245352"/>
            <a:ext cx="109728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000" dirty="0">
                <a:solidFill>
                  <a:srgbClr val="C7CFDB"/>
                </a:solidFill>
                <a:latin typeface="Calibri"/>
              </a:rPr>
              <a:t>UKPSC DECODED  |  PCS  |  Lower PCS  |  RO/ARO  |  UKSSSC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ATop"/>
          <p:cNvSpPr/>
          <p:nvPr/>
        </p:nvSpPr>
        <p:spPr>
          <a:xfrm>
            <a:off x="365760" y="274320"/>
            <a:ext cx="11430000" cy="640080"/>
          </a:xfrm>
          <a:prstGeom prst="roundRect">
            <a:avLst>
              <a:gd name="adj" fmla="val 5000"/>
            </a:avLst>
          </a:prstGeom>
          <a:solidFill>
            <a:srgbClr val="2C6E4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320040"/>
            <a:ext cx="548640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b="1" dirty="0">
                <a:solidFill>
                  <a:srgbClr val="FFFFFF"/>
                </a:solidFill>
                <a:latin typeface="Calibri"/>
              </a:rPr>
              <a:t>Q77 — ANSWER REVEAL</a:t>
            </a:r>
          </a:p>
        </p:txBody>
      </p:sp>
      <p:sp>
        <p:nvSpPr>
          <p:cNvPr id="0" name="T"/>
          <p:cNvSpPr txBox="1"/>
          <p:nvPr/>
        </p:nvSpPr>
        <p:spPr>
          <a:xfrm>
            <a:off x="7772400" y="320040"/>
            <a:ext cx="384048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r"/>
            <a:r>
              <a:rPr lang="en-US" sz="1200" dirty="0">
                <a:solidFill>
                  <a:srgbClr val="C7CFDB"/>
                </a:solidFill>
                <a:latin typeface="Calibri"/>
              </a:rPr>
              <a:t>14/34</a:t>
            </a:r>
          </a:p>
        </p:txBody>
      </p:sp>
      <p:sp>
        <p:nvSpPr>
          <p:cNvPr id="0" name="T"/>
          <p:cNvSpPr txBox="1"/>
          <p:nvPr/>
        </p:nvSpPr>
        <p:spPr>
          <a:xfrm>
            <a:off x="457200" y="1097280"/>
            <a:ext cx="11247120" cy="109728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C7CFDB"/>
                </a:solidFill>
                <a:latin typeface="Calibri"/>
              </a:rPr>
              <a:t>Jahangirnama mein Kumaon ke kis Chand Raja ka varnan hai?</a:t>
            </a:r>
          </a:p>
        </p:txBody>
      </p:sp>
      <p:sp>
        <p:nvSpPr>
          <p:cNvPr id="0" name="AnsBox"/>
          <p:cNvSpPr/>
          <p:nvPr/>
        </p:nvSpPr>
        <p:spPr>
          <a:xfrm>
            <a:off x="457200" y="2560320"/>
            <a:ext cx="11247120" cy="1097280"/>
          </a:xfrm>
          <a:prstGeom prst="roundRect">
            <a:avLst>
              <a:gd name="adj" fmla="val 5000"/>
            </a:avLst>
          </a:prstGeom>
          <a:solidFill>
            <a:srgbClr val="27AE6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2651760"/>
            <a:ext cx="10698480" cy="9144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2400" b="1" dirty="0">
                <a:solidFill>
                  <a:srgbClr val="FFFFFF"/>
                </a:solidFill>
                <a:latin typeface="Calibri"/>
              </a:rPr>
              <a:t>Answer: (d) Laxmichand</a:t>
            </a:r>
          </a:p>
        </p:txBody>
      </p:sp>
      <p:sp>
        <p:nvSpPr>
          <p:cNvPr id="0" name="DetBox"/>
          <p:cNvSpPr/>
          <p:nvPr/>
        </p:nvSpPr>
        <p:spPr>
          <a:xfrm>
            <a:off x="457200" y="3931920"/>
            <a:ext cx="11247120" cy="182880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4069080"/>
            <a:ext cx="10698480" cy="1554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200" b="1" dirty="0">
                <a:solidFill>
                  <a:srgbClr val="E0A458"/>
                </a:solidFill>
                <a:latin typeface="Calibri"/>
              </a:rPr>
              <a:t>Details:</a:t>
            </a:r>
          </a:p>
          <a:p>
            <a:pPr algn="l"/>
            <a:r>
              <a:rPr lang="en-US" sz="1400" dirty="0">
                <a:solidFill>
                  <a:srgbClr val="FFFFFF"/>
                </a:solidFill>
                <a:latin typeface="Calibri"/>
              </a:rPr>
              <a:t>Raja Laxmi Chand (1597-1621) met Jahangir. Recorded in Tuzuk-e-Jahangiri.</a:t>
            </a:r>
          </a:p>
        </p:txBody>
      </p:sp>
      <p:sp>
        <p:nvSpPr>
          <p:cNvPr id="0" name="Brand2"/>
          <p:cNvSpPr/>
          <p:nvPr/>
        </p:nvSpPr>
        <p:spPr>
          <a:xfrm>
            <a:off x="365760" y="6217920"/>
            <a:ext cx="11430000" cy="457200"/>
          </a:xfrm>
          <a:prstGeom prst="roundRect">
            <a:avLst>
              <a:gd name="adj" fmla="val 5000"/>
            </a:avLst>
          </a:prstGeom>
          <a:solidFill>
            <a:srgbClr val="1623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6245352"/>
            <a:ext cx="109728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000" dirty="0">
                <a:solidFill>
                  <a:srgbClr val="C7CFDB"/>
                </a:solidFill>
                <a:latin typeface="Calibri"/>
              </a:rPr>
              <a:t>UKPSC DECODED  |  Telegram: @UKPSCDECODED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opBar"/>
          <p:cNvSpPr/>
          <p:nvPr/>
        </p:nvSpPr>
        <p:spPr>
          <a:xfrm>
            <a:off x="365760" y="274320"/>
            <a:ext cx="11430000" cy="64008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320040"/>
            <a:ext cx="365760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400" b="1" dirty="0">
                <a:solidFill>
                  <a:srgbClr val="FFFFFF"/>
                </a:solidFill>
                <a:latin typeface="Calibri"/>
              </a:rPr>
              <a:t>Q79 | 15/34</a:t>
            </a:r>
          </a:p>
        </p:txBody>
      </p:sp>
      <p:sp>
        <p:nvSpPr>
          <p:cNvPr id="0" name="T"/>
          <p:cNvSpPr txBox="1"/>
          <p:nvPr/>
        </p:nvSpPr>
        <p:spPr>
          <a:xfrm>
            <a:off x="7772400" y="320040"/>
            <a:ext cx="384048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r"/>
            <a:r>
              <a:rPr lang="en-US" sz="1400" b="1" dirty="0">
                <a:solidFill>
                  <a:srgbClr val="E74C3C"/>
                </a:solidFill>
                <a:latin typeface="Calibri"/>
              </a:rPr>
              <a:t>TOUGH</a:t>
            </a:r>
          </a:p>
        </p:txBody>
      </p:sp>
      <p:sp>
        <p:nvSpPr>
          <p:cNvPr id="0" name="Cat"/>
          <p:cNvSpPr/>
          <p:nvPr/>
        </p:nvSpPr>
        <p:spPr>
          <a:xfrm>
            <a:off x="365760" y="1005840"/>
            <a:ext cx="2743200" cy="411480"/>
          </a:xfrm>
          <a:prstGeom prst="roundRect">
            <a:avLst>
              <a:gd name="adj" fmla="val 5000"/>
            </a:avLst>
          </a:prstGeom>
          <a:solidFill>
            <a:srgbClr val="E0A45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457200" y="1033271"/>
            <a:ext cx="2560320" cy="36576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100" b="1" dirty="0">
                <a:solidFill>
                  <a:srgbClr val="16233A"/>
                </a:solidFill>
                <a:latin typeface="Calibri"/>
              </a:rPr>
              <a:t>UK History</a:t>
            </a:r>
          </a:p>
        </p:txBody>
      </p:sp>
      <p:sp>
        <p:nvSpPr>
          <p:cNvPr id="0" name="T"/>
          <p:cNvSpPr txBox="1"/>
          <p:nvPr/>
        </p:nvSpPr>
        <p:spPr>
          <a:xfrm>
            <a:off x="457200" y="1645920"/>
            <a:ext cx="11247120" cy="16459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2200" b="1" dirty="0">
                <a:solidFill>
                  <a:srgbClr val="FFFFFF"/>
                </a:solidFill>
                <a:latin typeface="Calibri"/>
              </a:rPr>
              <a:t>Gorkha Tax: Pungadi=?, Gheekar=?, Tandkar=?, Mijhari=?</a:t>
            </a:r>
          </a:p>
        </p:txBody>
      </p:sp>
      <p:sp>
        <p:nvSpPr>
          <p:cNvPr id="0" name="O0"/>
          <p:cNvSpPr/>
          <p:nvPr/>
        </p:nvSpPr>
        <p:spPr>
          <a:xfrm>
            <a:off x="457200" y="365760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379476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(a) 1,2,3,4</a:t>
            </a:r>
          </a:p>
        </p:txBody>
      </p:sp>
      <p:sp>
        <p:nvSpPr>
          <p:cNvPr id="0" name="O1"/>
          <p:cNvSpPr/>
          <p:nvPr/>
        </p:nvSpPr>
        <p:spPr>
          <a:xfrm>
            <a:off x="6217920" y="365760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6492240" y="379476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(b) 2,4,1,3</a:t>
            </a:r>
          </a:p>
        </p:txBody>
      </p:sp>
      <p:sp>
        <p:nvSpPr>
          <p:cNvPr id="0" name="O2"/>
          <p:cNvSpPr/>
          <p:nvPr/>
        </p:nvSpPr>
        <p:spPr>
          <a:xfrm>
            <a:off x="457200" y="493776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507492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(c) 4,1,2,3</a:t>
            </a:r>
          </a:p>
        </p:txBody>
      </p:sp>
      <p:sp>
        <p:nvSpPr>
          <p:cNvPr id="0" name="O3"/>
          <p:cNvSpPr/>
          <p:nvPr/>
        </p:nvSpPr>
        <p:spPr>
          <a:xfrm>
            <a:off x="6217920" y="493776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6492240" y="507492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(d) 4,1,3,2</a:t>
            </a:r>
          </a:p>
        </p:txBody>
      </p:sp>
      <p:sp>
        <p:nvSpPr>
          <p:cNvPr id="0" name="Brand"/>
          <p:cNvSpPr/>
          <p:nvPr/>
        </p:nvSpPr>
        <p:spPr>
          <a:xfrm>
            <a:off x="365760" y="6217920"/>
            <a:ext cx="11430000" cy="457200"/>
          </a:xfrm>
          <a:prstGeom prst="roundRect">
            <a:avLst>
              <a:gd name="adj" fmla="val 5000"/>
            </a:avLst>
          </a:prstGeom>
          <a:solidFill>
            <a:srgbClr val="1623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6245352"/>
            <a:ext cx="109728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000" dirty="0">
                <a:solidFill>
                  <a:srgbClr val="C7CFDB"/>
                </a:solidFill>
                <a:latin typeface="Calibri"/>
              </a:rPr>
              <a:t>UKPSC DECODED  |  PCS  |  Lower PCS  |  RO/ARO  |  UKSSSC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ATop"/>
          <p:cNvSpPr/>
          <p:nvPr/>
        </p:nvSpPr>
        <p:spPr>
          <a:xfrm>
            <a:off x="365760" y="274320"/>
            <a:ext cx="11430000" cy="640080"/>
          </a:xfrm>
          <a:prstGeom prst="roundRect">
            <a:avLst>
              <a:gd name="adj" fmla="val 5000"/>
            </a:avLst>
          </a:prstGeom>
          <a:solidFill>
            <a:srgbClr val="2C6E4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320040"/>
            <a:ext cx="548640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b="1" dirty="0">
                <a:solidFill>
                  <a:srgbClr val="FFFFFF"/>
                </a:solidFill>
                <a:latin typeface="Calibri"/>
              </a:rPr>
              <a:t>Q79 — ANSWER REVEAL</a:t>
            </a:r>
          </a:p>
        </p:txBody>
      </p:sp>
      <p:sp>
        <p:nvSpPr>
          <p:cNvPr id="0" name="T"/>
          <p:cNvSpPr txBox="1"/>
          <p:nvPr/>
        </p:nvSpPr>
        <p:spPr>
          <a:xfrm>
            <a:off x="7772400" y="320040"/>
            <a:ext cx="384048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r"/>
            <a:r>
              <a:rPr lang="en-US" sz="1200" dirty="0">
                <a:solidFill>
                  <a:srgbClr val="C7CFDB"/>
                </a:solidFill>
                <a:latin typeface="Calibri"/>
              </a:rPr>
              <a:t>15/34</a:t>
            </a:r>
          </a:p>
        </p:txBody>
      </p:sp>
      <p:sp>
        <p:nvSpPr>
          <p:cNvPr id="0" name="T"/>
          <p:cNvSpPr txBox="1"/>
          <p:nvPr/>
        </p:nvSpPr>
        <p:spPr>
          <a:xfrm>
            <a:off x="457200" y="1097280"/>
            <a:ext cx="11247120" cy="109728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C7CFDB"/>
                </a:solidFill>
                <a:latin typeface="Calibri"/>
              </a:rPr>
              <a:t>Gorkha Tax: Pungadi=?, Gheekar=?, Tandkar=?, Mijhari=?</a:t>
            </a:r>
          </a:p>
        </p:txBody>
      </p:sp>
      <p:sp>
        <p:nvSpPr>
          <p:cNvPr id="0" name="AnsBox"/>
          <p:cNvSpPr/>
          <p:nvPr/>
        </p:nvSpPr>
        <p:spPr>
          <a:xfrm>
            <a:off x="457200" y="2560320"/>
            <a:ext cx="11247120" cy="1097280"/>
          </a:xfrm>
          <a:prstGeom prst="roundRect">
            <a:avLst>
              <a:gd name="adj" fmla="val 5000"/>
            </a:avLst>
          </a:prstGeom>
          <a:solidFill>
            <a:srgbClr val="27AE6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2651760"/>
            <a:ext cx="10698480" cy="9144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2400" b="1" dirty="0">
                <a:solidFill>
                  <a:srgbClr val="FFFFFF"/>
                </a:solidFill>
                <a:latin typeface="Calibri"/>
              </a:rPr>
              <a:t>Answer: (c) Pungadi=Land, Gheekar=Cattle, Tandkar=Cloth/Loom, Mijhari=Artisans</a:t>
            </a:r>
          </a:p>
        </p:txBody>
      </p:sp>
      <p:sp>
        <p:nvSpPr>
          <p:cNvPr id="0" name="DetBox"/>
          <p:cNvSpPr/>
          <p:nvPr/>
        </p:nvSpPr>
        <p:spPr>
          <a:xfrm>
            <a:off x="457200" y="3931920"/>
            <a:ext cx="11247120" cy="182880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4069080"/>
            <a:ext cx="10698480" cy="1554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200" b="1" dirty="0">
                <a:solidFill>
                  <a:srgbClr val="E0A458"/>
                </a:solidFill>
                <a:latin typeface="Calibri"/>
              </a:rPr>
              <a:t>Details:</a:t>
            </a:r>
          </a:p>
          <a:p>
            <a:pPr algn="l"/>
            <a:r>
              <a:rPr lang="en-US" sz="1400" dirty="0">
                <a:solidFill>
                  <a:srgbClr val="FFFFFF"/>
                </a:solidFill>
                <a:latin typeface="Calibri"/>
              </a:rPr>
              <a:t>Pungadi=Bhoomi kar | Gheekar=Dudharu pashu | Tandkar=Kapda | Mijhari=Shilp-karmi</a:t>
            </a:r>
          </a:p>
        </p:txBody>
      </p:sp>
      <p:sp>
        <p:nvSpPr>
          <p:cNvPr id="0" name="Brand2"/>
          <p:cNvSpPr/>
          <p:nvPr/>
        </p:nvSpPr>
        <p:spPr>
          <a:xfrm>
            <a:off x="365760" y="6217920"/>
            <a:ext cx="11430000" cy="457200"/>
          </a:xfrm>
          <a:prstGeom prst="roundRect">
            <a:avLst>
              <a:gd name="adj" fmla="val 5000"/>
            </a:avLst>
          </a:prstGeom>
          <a:solidFill>
            <a:srgbClr val="1623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6245352"/>
            <a:ext cx="109728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000" dirty="0">
                <a:solidFill>
                  <a:srgbClr val="C7CFDB"/>
                </a:solidFill>
                <a:latin typeface="Calibri"/>
              </a:rPr>
              <a:t>UKPSC DECODED  |  Telegram: @UKPSCDECODED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opBar"/>
          <p:cNvSpPr/>
          <p:nvPr/>
        </p:nvSpPr>
        <p:spPr>
          <a:xfrm>
            <a:off x="365760" y="274320"/>
            <a:ext cx="11430000" cy="64008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320040"/>
            <a:ext cx="365760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400" b="1" dirty="0">
                <a:solidFill>
                  <a:srgbClr val="FFFFFF"/>
                </a:solidFill>
                <a:latin typeface="Calibri"/>
              </a:rPr>
              <a:t>Q81 | 16/34</a:t>
            </a:r>
          </a:p>
        </p:txBody>
      </p:sp>
      <p:sp>
        <p:nvSpPr>
          <p:cNvPr id="0" name="T"/>
          <p:cNvSpPr txBox="1"/>
          <p:nvPr/>
        </p:nvSpPr>
        <p:spPr>
          <a:xfrm>
            <a:off x="7772400" y="320040"/>
            <a:ext cx="384048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r"/>
            <a:r>
              <a:rPr lang="en-US" sz="1400" b="1" dirty="0">
                <a:solidFill>
                  <a:srgbClr val="E74C3C"/>
                </a:solidFill>
                <a:latin typeface="Calibri"/>
              </a:rPr>
              <a:t>TOUGH</a:t>
            </a:r>
          </a:p>
        </p:txBody>
      </p:sp>
      <p:sp>
        <p:nvSpPr>
          <p:cNvPr id="0" name="Cat"/>
          <p:cNvSpPr/>
          <p:nvPr/>
        </p:nvSpPr>
        <p:spPr>
          <a:xfrm>
            <a:off x="365760" y="1005840"/>
            <a:ext cx="2743200" cy="411480"/>
          </a:xfrm>
          <a:prstGeom prst="roundRect">
            <a:avLst>
              <a:gd name="adj" fmla="val 5000"/>
            </a:avLst>
          </a:prstGeom>
          <a:solidFill>
            <a:srgbClr val="E0A45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457200" y="1033271"/>
            <a:ext cx="2560320" cy="36576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100" b="1" dirty="0">
                <a:solidFill>
                  <a:srgbClr val="16233A"/>
                </a:solidFill>
                <a:latin typeface="Calibri"/>
              </a:rPr>
              <a:t>UK Literature</a:t>
            </a:r>
          </a:p>
        </p:txBody>
      </p:sp>
      <p:sp>
        <p:nvSpPr>
          <p:cNvPr id="0" name="T"/>
          <p:cNvSpPr txBox="1"/>
          <p:nvPr/>
        </p:nvSpPr>
        <p:spPr>
          <a:xfrm>
            <a:off x="457200" y="1645920"/>
            <a:ext cx="11247120" cy="16459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2200" b="1" dirty="0">
                <a:solidFill>
                  <a:srgbClr val="FFFFFF"/>
                </a:solidFill>
                <a:latin typeface="Calibri"/>
              </a:rPr>
              <a:t>Match: Guldasta Tawarikh-e-Koh=?, Sabhasar=?, Fateh Prakash=?, Garh Rajvansh Kavya=?</a:t>
            </a:r>
          </a:p>
        </p:txBody>
      </p:sp>
      <p:sp>
        <p:nvSpPr>
          <p:cNvPr id="0" name="O0"/>
          <p:cNvSpPr/>
          <p:nvPr/>
        </p:nvSpPr>
        <p:spPr>
          <a:xfrm>
            <a:off x="457200" y="365760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379476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(a) 1,3,4,2</a:t>
            </a:r>
          </a:p>
        </p:txBody>
      </p:sp>
      <p:sp>
        <p:nvSpPr>
          <p:cNvPr id="0" name="O1"/>
          <p:cNvSpPr/>
          <p:nvPr/>
        </p:nvSpPr>
        <p:spPr>
          <a:xfrm>
            <a:off x="6217920" y="365760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6492240" y="379476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(b) 2,4,1,3</a:t>
            </a:r>
          </a:p>
        </p:txBody>
      </p:sp>
      <p:sp>
        <p:nvSpPr>
          <p:cNvPr id="0" name="O2"/>
          <p:cNvSpPr/>
          <p:nvPr/>
        </p:nvSpPr>
        <p:spPr>
          <a:xfrm>
            <a:off x="457200" y="493776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507492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(c) 4,2,1,3</a:t>
            </a:r>
          </a:p>
        </p:txBody>
      </p:sp>
      <p:sp>
        <p:nvSpPr>
          <p:cNvPr id="0" name="O3"/>
          <p:cNvSpPr/>
          <p:nvPr/>
        </p:nvSpPr>
        <p:spPr>
          <a:xfrm>
            <a:off x="6217920" y="493776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6492240" y="507492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(d) 2,1,4,3</a:t>
            </a:r>
          </a:p>
        </p:txBody>
      </p:sp>
      <p:sp>
        <p:nvSpPr>
          <p:cNvPr id="0" name="Brand"/>
          <p:cNvSpPr/>
          <p:nvPr/>
        </p:nvSpPr>
        <p:spPr>
          <a:xfrm>
            <a:off x="365760" y="6217920"/>
            <a:ext cx="11430000" cy="457200"/>
          </a:xfrm>
          <a:prstGeom prst="roundRect">
            <a:avLst>
              <a:gd name="adj" fmla="val 5000"/>
            </a:avLst>
          </a:prstGeom>
          <a:solidFill>
            <a:srgbClr val="1623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6245352"/>
            <a:ext cx="109728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000" dirty="0">
                <a:solidFill>
                  <a:srgbClr val="C7CFDB"/>
                </a:solidFill>
                <a:latin typeface="Calibri"/>
              </a:rPr>
              <a:t>UKPSC DECODED  |  PCS  |  Lower PCS  |  RO/ARO  |  UKSSSC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ATop"/>
          <p:cNvSpPr/>
          <p:nvPr/>
        </p:nvSpPr>
        <p:spPr>
          <a:xfrm>
            <a:off x="365760" y="274320"/>
            <a:ext cx="11430000" cy="640080"/>
          </a:xfrm>
          <a:prstGeom prst="roundRect">
            <a:avLst>
              <a:gd name="adj" fmla="val 5000"/>
            </a:avLst>
          </a:prstGeom>
          <a:solidFill>
            <a:srgbClr val="2C6E4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320040"/>
            <a:ext cx="548640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b="1" dirty="0">
                <a:solidFill>
                  <a:srgbClr val="FFFFFF"/>
                </a:solidFill>
                <a:latin typeface="Calibri"/>
              </a:rPr>
              <a:t>Q81 — ANSWER REVEAL</a:t>
            </a:r>
          </a:p>
        </p:txBody>
      </p:sp>
      <p:sp>
        <p:nvSpPr>
          <p:cNvPr id="0" name="T"/>
          <p:cNvSpPr txBox="1"/>
          <p:nvPr/>
        </p:nvSpPr>
        <p:spPr>
          <a:xfrm>
            <a:off x="7772400" y="320040"/>
            <a:ext cx="384048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r"/>
            <a:r>
              <a:rPr lang="en-US" sz="1200" dirty="0">
                <a:solidFill>
                  <a:srgbClr val="C7CFDB"/>
                </a:solidFill>
                <a:latin typeface="Calibri"/>
              </a:rPr>
              <a:t>16/34</a:t>
            </a:r>
          </a:p>
        </p:txBody>
      </p:sp>
      <p:sp>
        <p:nvSpPr>
          <p:cNvPr id="0" name="T"/>
          <p:cNvSpPr txBox="1"/>
          <p:nvPr/>
        </p:nvSpPr>
        <p:spPr>
          <a:xfrm>
            <a:off x="457200" y="1097280"/>
            <a:ext cx="11247120" cy="109728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C7CFDB"/>
                </a:solidFill>
                <a:latin typeface="Calibri"/>
              </a:rPr>
              <a:t>Match: Guldasta Tawarikh-e-Koh=?, Sabhasar=?, Fateh Prakash=?, Garh Rajvansh Kavya=?</a:t>
            </a:r>
          </a:p>
        </p:txBody>
      </p:sp>
      <p:sp>
        <p:nvSpPr>
          <p:cNvPr id="0" name="AnsBox"/>
          <p:cNvSpPr/>
          <p:nvPr/>
        </p:nvSpPr>
        <p:spPr>
          <a:xfrm>
            <a:off x="457200" y="2560320"/>
            <a:ext cx="11247120" cy="1097280"/>
          </a:xfrm>
          <a:prstGeom prst="roundRect">
            <a:avLst>
              <a:gd name="adj" fmla="val 5000"/>
            </a:avLst>
          </a:prstGeom>
          <a:solidFill>
            <a:srgbClr val="27AE6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2651760"/>
            <a:ext cx="10698480" cy="9144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2400" b="1" dirty="0">
                <a:solidFill>
                  <a:srgbClr val="FFFFFF"/>
                </a:solidFill>
                <a:latin typeface="Calibri"/>
              </a:rPr>
              <a:t>Answer: (b) Miyan Prem Singh, Sudarshan Shah, Ratan Kavi, Molaram Tomar</a:t>
            </a:r>
          </a:p>
        </p:txBody>
      </p:sp>
      <p:sp>
        <p:nvSpPr>
          <p:cNvPr id="0" name="DetBox"/>
          <p:cNvSpPr/>
          <p:nvPr/>
        </p:nvSpPr>
        <p:spPr>
          <a:xfrm>
            <a:off x="457200" y="3931920"/>
            <a:ext cx="11247120" cy="182880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4069080"/>
            <a:ext cx="10698480" cy="1554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200" b="1" dirty="0">
                <a:solidFill>
                  <a:srgbClr val="E0A458"/>
                </a:solidFill>
                <a:latin typeface="Calibri"/>
              </a:rPr>
              <a:t>Details:</a:t>
            </a:r>
          </a:p>
          <a:p>
            <a:pPr algn="l"/>
            <a:r>
              <a:rPr lang="en-US" sz="1400" dirty="0">
                <a:solidFill>
                  <a:srgbClr val="FFFFFF"/>
                </a:solidFill>
                <a:latin typeface="Calibri"/>
              </a:rPr>
              <a:t>Sabhasar=Raja Sudarshan Shah | Garh Rajvansh Kavya=Molaram | Fateh Prakash=Ratan Kavi</a:t>
            </a:r>
          </a:p>
        </p:txBody>
      </p:sp>
      <p:sp>
        <p:nvSpPr>
          <p:cNvPr id="0" name="Brand2"/>
          <p:cNvSpPr/>
          <p:nvPr/>
        </p:nvSpPr>
        <p:spPr>
          <a:xfrm>
            <a:off x="365760" y="6217920"/>
            <a:ext cx="11430000" cy="457200"/>
          </a:xfrm>
          <a:prstGeom prst="roundRect">
            <a:avLst>
              <a:gd name="adj" fmla="val 5000"/>
            </a:avLst>
          </a:prstGeom>
          <a:solidFill>
            <a:srgbClr val="1623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6245352"/>
            <a:ext cx="109728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000" dirty="0">
                <a:solidFill>
                  <a:srgbClr val="C7CFDB"/>
                </a:solidFill>
                <a:latin typeface="Calibri"/>
              </a:rPr>
              <a:t>UKPSC DECODED  |  Telegram: @UKPSCDECODED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opBar"/>
          <p:cNvSpPr/>
          <p:nvPr/>
        </p:nvSpPr>
        <p:spPr>
          <a:xfrm>
            <a:off x="365760" y="274320"/>
            <a:ext cx="11430000" cy="64008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320040"/>
            <a:ext cx="365760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400" b="1" dirty="0">
                <a:solidFill>
                  <a:srgbClr val="FFFFFF"/>
                </a:solidFill>
                <a:latin typeface="Calibri"/>
              </a:rPr>
              <a:t>Q114 | 17/34</a:t>
            </a:r>
          </a:p>
        </p:txBody>
      </p:sp>
      <p:sp>
        <p:nvSpPr>
          <p:cNvPr id="0" name="T"/>
          <p:cNvSpPr txBox="1"/>
          <p:nvPr/>
        </p:nvSpPr>
        <p:spPr>
          <a:xfrm>
            <a:off x="7772400" y="320040"/>
            <a:ext cx="384048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r"/>
            <a:r>
              <a:rPr lang="en-US" sz="1400" b="1" dirty="0">
                <a:solidFill>
                  <a:srgbClr val="27AE60"/>
                </a:solidFill>
                <a:latin typeface="Calibri"/>
              </a:rPr>
              <a:t>EASY</a:t>
            </a:r>
          </a:p>
        </p:txBody>
      </p:sp>
      <p:sp>
        <p:nvSpPr>
          <p:cNvPr id="0" name="Cat"/>
          <p:cNvSpPr/>
          <p:nvPr/>
        </p:nvSpPr>
        <p:spPr>
          <a:xfrm>
            <a:off x="365760" y="1005840"/>
            <a:ext cx="2743200" cy="411480"/>
          </a:xfrm>
          <a:prstGeom prst="roundRect">
            <a:avLst>
              <a:gd name="adj" fmla="val 5000"/>
            </a:avLst>
          </a:prstGeom>
          <a:solidFill>
            <a:srgbClr val="E0A45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457200" y="1033271"/>
            <a:ext cx="2560320" cy="36576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100" b="1" dirty="0">
                <a:solidFill>
                  <a:srgbClr val="16233A"/>
                </a:solidFill>
                <a:latin typeface="Calibri"/>
              </a:rPr>
              <a:t>Polity</a:t>
            </a:r>
          </a:p>
        </p:txBody>
      </p:sp>
      <p:sp>
        <p:nvSpPr>
          <p:cNvPr id="0" name="T"/>
          <p:cNvSpPr txBox="1"/>
          <p:nvPr/>
        </p:nvSpPr>
        <p:spPr>
          <a:xfrm>
            <a:off x="457200" y="1645920"/>
            <a:ext cx="11247120" cy="16459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2200" b="1" dirty="0">
                <a:solidFill>
                  <a:srgbClr val="FFFFFF"/>
                </a:solidFill>
                <a:latin typeface="Calibri"/>
              </a:rPr>
              <a:t>Kis Article ke tahat Uttarakhand mein High Court sthaapit hai?</a:t>
            </a:r>
          </a:p>
        </p:txBody>
      </p:sp>
      <p:sp>
        <p:nvSpPr>
          <p:cNvPr id="0" name="O0"/>
          <p:cNvSpPr/>
          <p:nvPr/>
        </p:nvSpPr>
        <p:spPr>
          <a:xfrm>
            <a:off x="457200" y="365760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379476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(a) Article 214</a:t>
            </a:r>
          </a:p>
        </p:txBody>
      </p:sp>
      <p:sp>
        <p:nvSpPr>
          <p:cNvPr id="0" name="O1"/>
          <p:cNvSpPr/>
          <p:nvPr/>
        </p:nvSpPr>
        <p:spPr>
          <a:xfrm>
            <a:off x="6217920" y="365760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6492240" y="379476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(b) Article 168</a:t>
            </a:r>
          </a:p>
        </p:txBody>
      </p:sp>
      <p:sp>
        <p:nvSpPr>
          <p:cNvPr id="0" name="O2"/>
          <p:cNvSpPr/>
          <p:nvPr/>
        </p:nvSpPr>
        <p:spPr>
          <a:xfrm>
            <a:off x="457200" y="493776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507492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(c) Article 217</a:t>
            </a:r>
          </a:p>
        </p:txBody>
      </p:sp>
      <p:sp>
        <p:nvSpPr>
          <p:cNvPr id="0" name="O3"/>
          <p:cNvSpPr/>
          <p:nvPr/>
        </p:nvSpPr>
        <p:spPr>
          <a:xfrm>
            <a:off x="6217920" y="493776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6492240" y="507492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(d) Article 212</a:t>
            </a:r>
          </a:p>
        </p:txBody>
      </p:sp>
      <p:sp>
        <p:nvSpPr>
          <p:cNvPr id="0" name="Brand"/>
          <p:cNvSpPr/>
          <p:nvPr/>
        </p:nvSpPr>
        <p:spPr>
          <a:xfrm>
            <a:off x="365760" y="6217920"/>
            <a:ext cx="11430000" cy="457200"/>
          </a:xfrm>
          <a:prstGeom prst="roundRect">
            <a:avLst>
              <a:gd name="adj" fmla="val 5000"/>
            </a:avLst>
          </a:prstGeom>
          <a:solidFill>
            <a:srgbClr val="1623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6245352"/>
            <a:ext cx="109728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000" dirty="0">
                <a:solidFill>
                  <a:srgbClr val="C7CFDB"/>
                </a:solidFill>
                <a:latin typeface="Calibri"/>
              </a:rPr>
              <a:t>UKPSC DECODED  |  PCS  |  Lower PCS  |  RO/ARO  |  UKSSSC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ATop"/>
          <p:cNvSpPr/>
          <p:nvPr/>
        </p:nvSpPr>
        <p:spPr>
          <a:xfrm>
            <a:off x="365760" y="274320"/>
            <a:ext cx="11430000" cy="640080"/>
          </a:xfrm>
          <a:prstGeom prst="roundRect">
            <a:avLst>
              <a:gd name="adj" fmla="val 5000"/>
            </a:avLst>
          </a:prstGeom>
          <a:solidFill>
            <a:srgbClr val="2C6E4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320040"/>
            <a:ext cx="548640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b="1" dirty="0">
                <a:solidFill>
                  <a:srgbClr val="FFFFFF"/>
                </a:solidFill>
                <a:latin typeface="Calibri"/>
              </a:rPr>
              <a:t>Q114 — ANSWER REVEAL</a:t>
            </a:r>
          </a:p>
        </p:txBody>
      </p:sp>
      <p:sp>
        <p:nvSpPr>
          <p:cNvPr id="0" name="T"/>
          <p:cNvSpPr txBox="1"/>
          <p:nvPr/>
        </p:nvSpPr>
        <p:spPr>
          <a:xfrm>
            <a:off x="7772400" y="320040"/>
            <a:ext cx="384048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r"/>
            <a:r>
              <a:rPr lang="en-US" sz="1200" dirty="0">
                <a:solidFill>
                  <a:srgbClr val="C7CFDB"/>
                </a:solidFill>
                <a:latin typeface="Calibri"/>
              </a:rPr>
              <a:t>17/34</a:t>
            </a:r>
          </a:p>
        </p:txBody>
      </p:sp>
      <p:sp>
        <p:nvSpPr>
          <p:cNvPr id="0" name="T"/>
          <p:cNvSpPr txBox="1"/>
          <p:nvPr/>
        </p:nvSpPr>
        <p:spPr>
          <a:xfrm>
            <a:off x="457200" y="1097280"/>
            <a:ext cx="11247120" cy="109728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C7CFDB"/>
                </a:solidFill>
                <a:latin typeface="Calibri"/>
              </a:rPr>
              <a:t>Kis Article ke tahat Uttarakhand mein High Court sthaapit hai?</a:t>
            </a:r>
          </a:p>
        </p:txBody>
      </p:sp>
      <p:sp>
        <p:nvSpPr>
          <p:cNvPr id="0" name="AnsBox"/>
          <p:cNvSpPr/>
          <p:nvPr/>
        </p:nvSpPr>
        <p:spPr>
          <a:xfrm>
            <a:off x="457200" y="2560320"/>
            <a:ext cx="11247120" cy="1097280"/>
          </a:xfrm>
          <a:prstGeom prst="roundRect">
            <a:avLst>
              <a:gd name="adj" fmla="val 5000"/>
            </a:avLst>
          </a:prstGeom>
          <a:solidFill>
            <a:srgbClr val="27AE6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2651760"/>
            <a:ext cx="10698480" cy="9144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2400" b="1" dirty="0">
                <a:solidFill>
                  <a:srgbClr val="FFFFFF"/>
                </a:solidFill>
                <a:latin typeface="Calibri"/>
              </a:rPr>
              <a:t>Answer: (a) Article 214</a:t>
            </a:r>
          </a:p>
        </p:txBody>
      </p:sp>
      <p:sp>
        <p:nvSpPr>
          <p:cNvPr id="0" name="DetBox"/>
          <p:cNvSpPr/>
          <p:nvPr/>
        </p:nvSpPr>
        <p:spPr>
          <a:xfrm>
            <a:off x="457200" y="3931920"/>
            <a:ext cx="11247120" cy="182880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4069080"/>
            <a:ext cx="10698480" cy="1554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200" b="1" dirty="0">
                <a:solidFill>
                  <a:srgbClr val="E0A458"/>
                </a:solidFill>
                <a:latin typeface="Calibri"/>
              </a:rPr>
              <a:t>Details:</a:t>
            </a:r>
          </a:p>
          <a:p>
            <a:pPr algn="l"/>
            <a:r>
              <a:rPr lang="en-US" sz="1400" dirty="0">
                <a:solidFill>
                  <a:srgbClr val="FFFFFF"/>
                </a:solidFill>
                <a:latin typeface="Calibri"/>
              </a:rPr>
              <a:t>Art 214: 'There shall be a HC for each State.' Nainital HC, est. 9 Nov 2000.</a:t>
            </a:r>
          </a:p>
        </p:txBody>
      </p:sp>
      <p:sp>
        <p:nvSpPr>
          <p:cNvPr id="0" name="Brand2"/>
          <p:cNvSpPr/>
          <p:nvPr/>
        </p:nvSpPr>
        <p:spPr>
          <a:xfrm>
            <a:off x="365760" y="6217920"/>
            <a:ext cx="11430000" cy="457200"/>
          </a:xfrm>
          <a:prstGeom prst="roundRect">
            <a:avLst>
              <a:gd name="adj" fmla="val 5000"/>
            </a:avLst>
          </a:prstGeom>
          <a:solidFill>
            <a:srgbClr val="1623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6245352"/>
            <a:ext cx="109728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000" dirty="0">
                <a:solidFill>
                  <a:srgbClr val="C7CFDB"/>
                </a:solidFill>
                <a:latin typeface="Calibri"/>
              </a:rPr>
              <a:t>UKPSC DECODED  |  Telegram: @UKPSCDECODED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Div"/>
          <p:cNvSpPr/>
          <p:nvPr/>
        </p:nvSpPr>
        <p:spPr>
          <a:xfrm>
            <a:off x="1828800" y="2286000"/>
            <a:ext cx="8503920" cy="228600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2011680" y="2468880"/>
            <a:ext cx="8138160" cy="10972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3200" b="1" dirty="0">
                <a:solidFill>
                  <a:srgbClr val="E0A458"/>
                </a:solidFill>
                <a:latin typeface="Calibri"/>
              </a:rPr>
              <a:t>CURRENT AFFAIRS</a:t>
            </a:r>
          </a:p>
        </p:txBody>
      </p:sp>
      <p:sp>
        <p:nvSpPr>
          <p:cNvPr id="0" name="T"/>
          <p:cNvSpPr txBox="1"/>
          <p:nvPr/>
        </p:nvSpPr>
        <p:spPr>
          <a:xfrm>
            <a:off x="2011680" y="3566160"/>
            <a:ext cx="813816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600" dirty="0">
                <a:solidFill>
                  <a:srgbClr val="FFFFFF"/>
                </a:solidFill>
                <a:latin typeface="Calibri"/>
              </a:rPr>
              <a:t>National + International 2025-26 — 17 Questions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opBar"/>
          <p:cNvSpPr/>
          <p:nvPr/>
        </p:nvSpPr>
        <p:spPr>
          <a:xfrm>
            <a:off x="365760" y="274320"/>
            <a:ext cx="11430000" cy="64008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320040"/>
            <a:ext cx="365760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400" b="1" dirty="0">
                <a:solidFill>
                  <a:srgbClr val="FFFFFF"/>
                </a:solidFill>
                <a:latin typeface="Calibri"/>
              </a:rPr>
              <a:t>Q177 | 18/34</a:t>
            </a:r>
          </a:p>
        </p:txBody>
      </p:sp>
      <p:sp>
        <p:nvSpPr>
          <p:cNvPr id="0" name="T"/>
          <p:cNvSpPr txBox="1"/>
          <p:nvPr/>
        </p:nvSpPr>
        <p:spPr>
          <a:xfrm>
            <a:off x="7772400" y="320040"/>
            <a:ext cx="384048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r"/>
            <a:r>
              <a:rPr lang="en-US" sz="1400" b="1" dirty="0">
                <a:solidFill>
                  <a:srgbClr val="E74C3C"/>
                </a:solidFill>
                <a:latin typeface="Calibri"/>
              </a:rPr>
              <a:t>TOUGH</a:t>
            </a:r>
          </a:p>
        </p:txBody>
      </p:sp>
      <p:sp>
        <p:nvSpPr>
          <p:cNvPr id="0" name="Cat"/>
          <p:cNvSpPr/>
          <p:nvPr/>
        </p:nvSpPr>
        <p:spPr>
          <a:xfrm>
            <a:off x="365760" y="1005840"/>
            <a:ext cx="2743200" cy="411480"/>
          </a:xfrm>
          <a:prstGeom prst="roundRect">
            <a:avLst>
              <a:gd name="adj" fmla="val 5000"/>
            </a:avLst>
          </a:prstGeom>
          <a:solidFill>
            <a:srgbClr val="E0A45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457200" y="1033271"/>
            <a:ext cx="2560320" cy="36576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100" b="1" dirty="0">
                <a:solidFill>
                  <a:srgbClr val="16233A"/>
                </a:solidFill>
                <a:latin typeface="Calibri"/>
              </a:rPr>
              <a:t>Current Affairs</a:t>
            </a:r>
          </a:p>
        </p:txBody>
      </p:sp>
      <p:sp>
        <p:nvSpPr>
          <p:cNvPr id="0" name="T"/>
          <p:cNvSpPr txBox="1"/>
          <p:nvPr/>
        </p:nvSpPr>
        <p:spPr>
          <a:xfrm>
            <a:off x="457200" y="1645920"/>
            <a:ext cx="11247120" cy="16459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2200" b="1" dirty="0">
                <a:solidFill>
                  <a:srgbClr val="FFFFFF"/>
                </a:solidFill>
                <a:latin typeface="Calibri"/>
              </a:rPr>
              <a:t>India-AI Impact Summit 2026 ka official logo kisne design kiya?</a:t>
            </a:r>
          </a:p>
        </p:txBody>
      </p:sp>
      <p:sp>
        <p:nvSpPr>
          <p:cNvPr id="0" name="O0"/>
          <p:cNvSpPr/>
          <p:nvPr/>
        </p:nvSpPr>
        <p:spPr>
          <a:xfrm>
            <a:off x="457200" y="365760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379476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(a) Sudarshan Veer</a:t>
            </a:r>
          </a:p>
        </p:txBody>
      </p:sp>
      <p:sp>
        <p:nvSpPr>
          <p:cNvPr id="0" name="O1"/>
          <p:cNvSpPr/>
          <p:nvPr/>
        </p:nvSpPr>
        <p:spPr>
          <a:xfrm>
            <a:off x="6217920" y="365760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6492240" y="379476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(b) Ajit P. Suresh</a:t>
            </a:r>
          </a:p>
        </p:txBody>
      </p:sp>
      <p:sp>
        <p:nvSpPr>
          <p:cNvPr id="0" name="O2"/>
          <p:cNvSpPr/>
          <p:nvPr/>
        </p:nvSpPr>
        <p:spPr>
          <a:xfrm>
            <a:off x="457200" y="493776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507492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(c) Shekhar Kamat</a:t>
            </a:r>
          </a:p>
        </p:txBody>
      </p:sp>
      <p:sp>
        <p:nvSpPr>
          <p:cNvPr id="0" name="O3"/>
          <p:cNvSpPr/>
          <p:nvPr/>
        </p:nvSpPr>
        <p:spPr>
          <a:xfrm>
            <a:off x="6217920" y="493776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6492240" y="507492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(d) Karan Rawat</a:t>
            </a:r>
          </a:p>
        </p:txBody>
      </p:sp>
      <p:sp>
        <p:nvSpPr>
          <p:cNvPr id="0" name="Brand"/>
          <p:cNvSpPr/>
          <p:nvPr/>
        </p:nvSpPr>
        <p:spPr>
          <a:xfrm>
            <a:off x="365760" y="6217920"/>
            <a:ext cx="11430000" cy="457200"/>
          </a:xfrm>
          <a:prstGeom prst="roundRect">
            <a:avLst>
              <a:gd name="adj" fmla="val 5000"/>
            </a:avLst>
          </a:prstGeom>
          <a:solidFill>
            <a:srgbClr val="1623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6245352"/>
            <a:ext cx="109728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000" dirty="0">
                <a:solidFill>
                  <a:srgbClr val="C7CFDB"/>
                </a:solidFill>
                <a:latin typeface="Calibri"/>
              </a:rPr>
              <a:t>UKPSC DECODED  |  PCS  |  Lower PCS  |  RO/ARO  |  UKSSSC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ATop"/>
          <p:cNvSpPr/>
          <p:nvPr/>
        </p:nvSpPr>
        <p:spPr>
          <a:xfrm>
            <a:off x="365760" y="274320"/>
            <a:ext cx="11430000" cy="640080"/>
          </a:xfrm>
          <a:prstGeom prst="roundRect">
            <a:avLst>
              <a:gd name="adj" fmla="val 5000"/>
            </a:avLst>
          </a:prstGeom>
          <a:solidFill>
            <a:srgbClr val="2C6E4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320040"/>
            <a:ext cx="548640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b="1" dirty="0">
                <a:solidFill>
                  <a:srgbClr val="FFFFFF"/>
                </a:solidFill>
                <a:latin typeface="Calibri"/>
              </a:rPr>
              <a:t>Q177 — ANSWER REVEAL</a:t>
            </a:r>
          </a:p>
        </p:txBody>
      </p:sp>
      <p:sp>
        <p:nvSpPr>
          <p:cNvPr id="0" name="T"/>
          <p:cNvSpPr txBox="1"/>
          <p:nvPr/>
        </p:nvSpPr>
        <p:spPr>
          <a:xfrm>
            <a:off x="7772400" y="320040"/>
            <a:ext cx="384048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r"/>
            <a:r>
              <a:rPr lang="en-US" sz="1200" dirty="0">
                <a:solidFill>
                  <a:srgbClr val="C7CFDB"/>
                </a:solidFill>
                <a:latin typeface="Calibri"/>
              </a:rPr>
              <a:t>18/34</a:t>
            </a:r>
          </a:p>
        </p:txBody>
      </p:sp>
      <p:sp>
        <p:nvSpPr>
          <p:cNvPr id="0" name="T"/>
          <p:cNvSpPr txBox="1"/>
          <p:nvPr/>
        </p:nvSpPr>
        <p:spPr>
          <a:xfrm>
            <a:off x="457200" y="1097280"/>
            <a:ext cx="11247120" cy="109728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C7CFDB"/>
                </a:solidFill>
                <a:latin typeface="Calibri"/>
              </a:rPr>
              <a:t>India-AI Impact Summit 2026 ka official logo kisne design kiya?</a:t>
            </a:r>
          </a:p>
        </p:txBody>
      </p:sp>
      <p:sp>
        <p:nvSpPr>
          <p:cNvPr id="0" name="AnsBox"/>
          <p:cNvSpPr/>
          <p:nvPr/>
        </p:nvSpPr>
        <p:spPr>
          <a:xfrm>
            <a:off x="457200" y="2560320"/>
            <a:ext cx="11247120" cy="1097280"/>
          </a:xfrm>
          <a:prstGeom prst="roundRect">
            <a:avLst>
              <a:gd name="adj" fmla="val 5000"/>
            </a:avLst>
          </a:prstGeom>
          <a:solidFill>
            <a:srgbClr val="27AE6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2651760"/>
            <a:ext cx="10698480" cy="9144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2400" b="1" dirty="0">
                <a:solidFill>
                  <a:srgbClr val="FFFFFF"/>
                </a:solidFill>
                <a:latin typeface="Calibri"/>
              </a:rPr>
              <a:t>Answer: (b) Ajit P. Suresh</a:t>
            </a:r>
          </a:p>
        </p:txBody>
      </p:sp>
      <p:sp>
        <p:nvSpPr>
          <p:cNvPr id="0" name="DetBox"/>
          <p:cNvSpPr/>
          <p:nvPr/>
        </p:nvSpPr>
        <p:spPr>
          <a:xfrm>
            <a:off x="457200" y="3931920"/>
            <a:ext cx="11247120" cy="182880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4069080"/>
            <a:ext cx="10698480" cy="1554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200" b="1" dirty="0">
                <a:solidFill>
                  <a:srgbClr val="E0A458"/>
                </a:solidFill>
                <a:latin typeface="Calibri"/>
              </a:rPr>
              <a:t>Details:</a:t>
            </a:r>
          </a:p>
          <a:p>
            <a:pPr algn="l"/>
            <a:r>
              <a:rPr lang="en-US" sz="1400" dirty="0">
                <a:solidFill>
                  <a:srgbClr val="FFFFFF"/>
                </a:solidFill>
                <a:latin typeface="Calibri"/>
              </a:rPr>
              <a:t>Ajit P. Suresh ne logo design competition jeeta — AI network + Ashoka Chakra based design.</a:t>
            </a:r>
          </a:p>
        </p:txBody>
      </p:sp>
      <p:sp>
        <p:nvSpPr>
          <p:cNvPr id="0" name="Brand2"/>
          <p:cNvSpPr/>
          <p:nvPr/>
        </p:nvSpPr>
        <p:spPr>
          <a:xfrm>
            <a:off x="365760" y="6217920"/>
            <a:ext cx="11430000" cy="457200"/>
          </a:xfrm>
          <a:prstGeom prst="roundRect">
            <a:avLst>
              <a:gd name="adj" fmla="val 5000"/>
            </a:avLst>
          </a:prstGeom>
          <a:solidFill>
            <a:srgbClr val="1623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6245352"/>
            <a:ext cx="109728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000" dirty="0">
                <a:solidFill>
                  <a:srgbClr val="C7CFDB"/>
                </a:solidFill>
                <a:latin typeface="Calibri"/>
              </a:rPr>
              <a:t>UKPSC DECODED  |  Telegram: @UKPSCDECODED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opBar"/>
          <p:cNvSpPr/>
          <p:nvPr/>
        </p:nvSpPr>
        <p:spPr>
          <a:xfrm>
            <a:off x="365760" y="274320"/>
            <a:ext cx="11430000" cy="64008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320040"/>
            <a:ext cx="365760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400" b="1" dirty="0">
                <a:solidFill>
                  <a:srgbClr val="FFFFFF"/>
                </a:solidFill>
                <a:latin typeface="Calibri"/>
              </a:rPr>
              <a:t>Q178 | 19/34</a:t>
            </a:r>
          </a:p>
        </p:txBody>
      </p:sp>
      <p:sp>
        <p:nvSpPr>
          <p:cNvPr id="0" name="T"/>
          <p:cNvSpPr txBox="1"/>
          <p:nvPr/>
        </p:nvSpPr>
        <p:spPr>
          <a:xfrm>
            <a:off x="7772400" y="320040"/>
            <a:ext cx="384048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r"/>
            <a:r>
              <a:rPr lang="en-US" sz="1400" b="1" dirty="0">
                <a:solidFill>
                  <a:srgbClr val="F39C12"/>
                </a:solidFill>
                <a:latin typeface="Calibri"/>
              </a:rPr>
              <a:t>MODERATE</a:t>
            </a:r>
          </a:p>
        </p:txBody>
      </p:sp>
      <p:sp>
        <p:nvSpPr>
          <p:cNvPr id="0" name="Cat"/>
          <p:cNvSpPr/>
          <p:nvPr/>
        </p:nvSpPr>
        <p:spPr>
          <a:xfrm>
            <a:off x="365760" y="1005840"/>
            <a:ext cx="2743200" cy="411480"/>
          </a:xfrm>
          <a:prstGeom prst="roundRect">
            <a:avLst>
              <a:gd name="adj" fmla="val 5000"/>
            </a:avLst>
          </a:prstGeom>
          <a:solidFill>
            <a:srgbClr val="E0A45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457200" y="1033271"/>
            <a:ext cx="2560320" cy="36576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100" b="1" dirty="0">
                <a:solidFill>
                  <a:srgbClr val="16233A"/>
                </a:solidFill>
                <a:latin typeface="Calibri"/>
              </a:rPr>
              <a:t>Current Affairs</a:t>
            </a:r>
          </a:p>
        </p:txBody>
      </p:sp>
      <p:sp>
        <p:nvSpPr>
          <p:cNvPr id="0" name="T"/>
          <p:cNvSpPr txBox="1"/>
          <p:nvPr/>
        </p:nvSpPr>
        <p:spPr>
          <a:xfrm>
            <a:off x="457200" y="1645920"/>
            <a:ext cx="11247120" cy="16459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2200" b="1" dirty="0">
                <a:solidFill>
                  <a:srgbClr val="FFFFFF"/>
                </a:solidFill>
                <a:latin typeface="Calibri"/>
              </a:rPr>
              <a:t>Davos, Switzerland mein WEF 2026 ka theme kya tha?</a:t>
            </a:r>
          </a:p>
        </p:txBody>
      </p:sp>
      <p:sp>
        <p:nvSpPr>
          <p:cNvPr id="0" name="O0"/>
          <p:cNvSpPr/>
          <p:nvPr/>
        </p:nvSpPr>
        <p:spPr>
          <a:xfrm>
            <a:off x="457200" y="365760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379476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(a) A Spirit of Dialogue</a:t>
            </a:r>
          </a:p>
        </p:txBody>
      </p:sp>
      <p:sp>
        <p:nvSpPr>
          <p:cNvPr id="0" name="O1"/>
          <p:cNvSpPr/>
          <p:nvPr/>
        </p:nvSpPr>
        <p:spPr>
          <a:xfrm>
            <a:off x="6217920" y="365760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6492240" y="379476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(b) Collaboration for the Intelligent Age</a:t>
            </a:r>
          </a:p>
        </p:txBody>
      </p:sp>
      <p:sp>
        <p:nvSpPr>
          <p:cNvPr id="0" name="O2"/>
          <p:cNvSpPr/>
          <p:nvPr/>
        </p:nvSpPr>
        <p:spPr>
          <a:xfrm>
            <a:off x="457200" y="493776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507492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(c) Rebuilding Trust</a:t>
            </a:r>
          </a:p>
        </p:txBody>
      </p:sp>
      <p:sp>
        <p:nvSpPr>
          <p:cNvPr id="0" name="O3"/>
          <p:cNvSpPr/>
          <p:nvPr/>
        </p:nvSpPr>
        <p:spPr>
          <a:xfrm>
            <a:off x="6217920" y="493776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6492240" y="507492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(d) Cooperation in a Fragmented World</a:t>
            </a:r>
          </a:p>
        </p:txBody>
      </p:sp>
      <p:sp>
        <p:nvSpPr>
          <p:cNvPr id="0" name="Brand"/>
          <p:cNvSpPr/>
          <p:nvPr/>
        </p:nvSpPr>
        <p:spPr>
          <a:xfrm>
            <a:off x="365760" y="6217920"/>
            <a:ext cx="11430000" cy="457200"/>
          </a:xfrm>
          <a:prstGeom prst="roundRect">
            <a:avLst>
              <a:gd name="adj" fmla="val 5000"/>
            </a:avLst>
          </a:prstGeom>
          <a:solidFill>
            <a:srgbClr val="1623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6245352"/>
            <a:ext cx="109728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000" dirty="0">
                <a:solidFill>
                  <a:srgbClr val="C7CFDB"/>
                </a:solidFill>
                <a:latin typeface="Calibri"/>
              </a:rPr>
              <a:t>UKPSC DECODED  |  PCS  |  Lower PCS  |  RO/ARO  |  UKSSSC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ATop"/>
          <p:cNvSpPr/>
          <p:nvPr/>
        </p:nvSpPr>
        <p:spPr>
          <a:xfrm>
            <a:off x="365760" y="274320"/>
            <a:ext cx="11430000" cy="640080"/>
          </a:xfrm>
          <a:prstGeom prst="roundRect">
            <a:avLst>
              <a:gd name="adj" fmla="val 5000"/>
            </a:avLst>
          </a:prstGeom>
          <a:solidFill>
            <a:srgbClr val="2C6E4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320040"/>
            <a:ext cx="548640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b="1" dirty="0">
                <a:solidFill>
                  <a:srgbClr val="FFFFFF"/>
                </a:solidFill>
                <a:latin typeface="Calibri"/>
              </a:rPr>
              <a:t>Q178 — ANSWER REVEAL</a:t>
            </a:r>
          </a:p>
        </p:txBody>
      </p:sp>
      <p:sp>
        <p:nvSpPr>
          <p:cNvPr id="0" name="T"/>
          <p:cNvSpPr txBox="1"/>
          <p:nvPr/>
        </p:nvSpPr>
        <p:spPr>
          <a:xfrm>
            <a:off x="7772400" y="320040"/>
            <a:ext cx="384048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r"/>
            <a:r>
              <a:rPr lang="en-US" sz="1200" dirty="0">
                <a:solidFill>
                  <a:srgbClr val="C7CFDB"/>
                </a:solidFill>
                <a:latin typeface="Calibri"/>
              </a:rPr>
              <a:t>19/34</a:t>
            </a:r>
          </a:p>
        </p:txBody>
      </p:sp>
      <p:sp>
        <p:nvSpPr>
          <p:cNvPr id="0" name="T"/>
          <p:cNvSpPr txBox="1"/>
          <p:nvPr/>
        </p:nvSpPr>
        <p:spPr>
          <a:xfrm>
            <a:off x="457200" y="1097280"/>
            <a:ext cx="11247120" cy="109728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C7CFDB"/>
                </a:solidFill>
                <a:latin typeface="Calibri"/>
              </a:rPr>
              <a:t>Davos, Switzerland mein WEF 2026 ka theme kya tha?</a:t>
            </a:r>
          </a:p>
        </p:txBody>
      </p:sp>
      <p:sp>
        <p:nvSpPr>
          <p:cNvPr id="0" name="AnsBox"/>
          <p:cNvSpPr/>
          <p:nvPr/>
        </p:nvSpPr>
        <p:spPr>
          <a:xfrm>
            <a:off x="457200" y="2560320"/>
            <a:ext cx="11247120" cy="1097280"/>
          </a:xfrm>
          <a:prstGeom prst="roundRect">
            <a:avLst>
              <a:gd name="adj" fmla="val 5000"/>
            </a:avLst>
          </a:prstGeom>
          <a:solidFill>
            <a:srgbClr val="27AE6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2651760"/>
            <a:ext cx="10698480" cy="9144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2400" b="1" dirty="0">
                <a:solidFill>
                  <a:srgbClr val="FFFFFF"/>
                </a:solidFill>
                <a:latin typeface="Calibri"/>
              </a:rPr>
              <a:t>Answer: (a) A Spirit of Dialogue</a:t>
            </a:r>
          </a:p>
        </p:txBody>
      </p:sp>
      <p:sp>
        <p:nvSpPr>
          <p:cNvPr id="0" name="DetBox"/>
          <p:cNvSpPr/>
          <p:nvPr/>
        </p:nvSpPr>
        <p:spPr>
          <a:xfrm>
            <a:off x="457200" y="3931920"/>
            <a:ext cx="11247120" cy="182880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4069080"/>
            <a:ext cx="10698480" cy="1554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200" b="1" dirty="0">
                <a:solidFill>
                  <a:srgbClr val="E0A458"/>
                </a:solidFill>
                <a:latin typeface="Calibri"/>
              </a:rPr>
              <a:t>Details:</a:t>
            </a:r>
          </a:p>
          <a:p>
            <a:pPr algn="l"/>
            <a:r>
              <a:rPr lang="en-US" sz="1400" dirty="0">
                <a:solidFill>
                  <a:srgbClr val="FFFFFF"/>
                </a:solidFill>
                <a:latin typeface="Calibri"/>
              </a:rPr>
              <a:t>56th WEF Annual Meeting, January 2026.</a:t>
            </a:r>
          </a:p>
        </p:txBody>
      </p:sp>
      <p:sp>
        <p:nvSpPr>
          <p:cNvPr id="0" name="Brand2"/>
          <p:cNvSpPr/>
          <p:nvPr/>
        </p:nvSpPr>
        <p:spPr>
          <a:xfrm>
            <a:off x="365760" y="6217920"/>
            <a:ext cx="11430000" cy="457200"/>
          </a:xfrm>
          <a:prstGeom prst="roundRect">
            <a:avLst>
              <a:gd name="adj" fmla="val 5000"/>
            </a:avLst>
          </a:prstGeom>
          <a:solidFill>
            <a:srgbClr val="1623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6245352"/>
            <a:ext cx="109728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000" dirty="0">
                <a:solidFill>
                  <a:srgbClr val="C7CFDB"/>
                </a:solidFill>
                <a:latin typeface="Calibri"/>
              </a:rPr>
              <a:t>UKPSC DECODED  |  Telegram: @UKPSCDECODED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opBar"/>
          <p:cNvSpPr/>
          <p:nvPr/>
        </p:nvSpPr>
        <p:spPr>
          <a:xfrm>
            <a:off x="365760" y="274320"/>
            <a:ext cx="11430000" cy="64008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320040"/>
            <a:ext cx="365760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400" b="1" dirty="0">
                <a:solidFill>
                  <a:srgbClr val="FFFFFF"/>
                </a:solidFill>
                <a:latin typeface="Calibri"/>
              </a:rPr>
              <a:t>Q179 | 20/34</a:t>
            </a:r>
          </a:p>
        </p:txBody>
      </p:sp>
      <p:sp>
        <p:nvSpPr>
          <p:cNvPr id="0" name="T"/>
          <p:cNvSpPr txBox="1"/>
          <p:nvPr/>
        </p:nvSpPr>
        <p:spPr>
          <a:xfrm>
            <a:off x="7772400" y="320040"/>
            <a:ext cx="384048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r"/>
            <a:r>
              <a:rPr lang="en-US" sz="1400" b="1" dirty="0">
                <a:solidFill>
                  <a:srgbClr val="F39C12"/>
                </a:solidFill>
                <a:latin typeface="Calibri"/>
              </a:rPr>
              <a:t>MODERATE</a:t>
            </a:r>
          </a:p>
        </p:txBody>
      </p:sp>
      <p:sp>
        <p:nvSpPr>
          <p:cNvPr id="0" name="Cat"/>
          <p:cNvSpPr/>
          <p:nvPr/>
        </p:nvSpPr>
        <p:spPr>
          <a:xfrm>
            <a:off x="365760" y="1005840"/>
            <a:ext cx="2743200" cy="411480"/>
          </a:xfrm>
          <a:prstGeom prst="roundRect">
            <a:avLst>
              <a:gd name="adj" fmla="val 5000"/>
            </a:avLst>
          </a:prstGeom>
          <a:solidFill>
            <a:srgbClr val="E0A45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457200" y="1033271"/>
            <a:ext cx="2560320" cy="36576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100" b="1" dirty="0">
                <a:solidFill>
                  <a:srgbClr val="16233A"/>
                </a:solidFill>
                <a:latin typeface="Calibri"/>
              </a:rPr>
              <a:t>Current Affairs</a:t>
            </a:r>
          </a:p>
        </p:txBody>
      </p:sp>
      <p:sp>
        <p:nvSpPr>
          <p:cNvPr id="0" name="T"/>
          <p:cNvSpPr txBox="1"/>
          <p:nvPr/>
        </p:nvSpPr>
        <p:spPr>
          <a:xfrm>
            <a:off x="457200" y="1645920"/>
            <a:ext cx="11247120" cy="16459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2200" b="1" dirty="0">
                <a:solidFill>
                  <a:srgbClr val="FFFFFF"/>
                </a:solidFill>
                <a:latin typeface="Calibri"/>
              </a:rPr>
              <a:t>March 2026 mein European Council ka President kaun tha?</a:t>
            </a:r>
          </a:p>
        </p:txBody>
      </p:sp>
      <p:sp>
        <p:nvSpPr>
          <p:cNvPr id="0" name="O0"/>
          <p:cNvSpPr/>
          <p:nvPr/>
        </p:nvSpPr>
        <p:spPr>
          <a:xfrm>
            <a:off x="457200" y="365760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379476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(a) Antonio Costa</a:t>
            </a:r>
          </a:p>
        </p:txBody>
      </p:sp>
      <p:sp>
        <p:nvSpPr>
          <p:cNvPr id="0" name="O1"/>
          <p:cNvSpPr/>
          <p:nvPr/>
        </p:nvSpPr>
        <p:spPr>
          <a:xfrm>
            <a:off x="6217920" y="365760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6492240" y="379476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(b) Ursula von der Leyen</a:t>
            </a:r>
          </a:p>
        </p:txBody>
      </p:sp>
      <p:sp>
        <p:nvSpPr>
          <p:cNvPr id="0" name="O2"/>
          <p:cNvSpPr/>
          <p:nvPr/>
        </p:nvSpPr>
        <p:spPr>
          <a:xfrm>
            <a:off x="457200" y="493776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507492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(c) Roberto Metsola</a:t>
            </a:r>
          </a:p>
        </p:txBody>
      </p:sp>
      <p:sp>
        <p:nvSpPr>
          <p:cNvPr id="0" name="O3"/>
          <p:cNvSpPr/>
          <p:nvPr/>
        </p:nvSpPr>
        <p:spPr>
          <a:xfrm>
            <a:off x="6217920" y="493776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6492240" y="507492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(d) Sabina Weyand</a:t>
            </a:r>
          </a:p>
        </p:txBody>
      </p:sp>
      <p:sp>
        <p:nvSpPr>
          <p:cNvPr id="0" name="Brand"/>
          <p:cNvSpPr/>
          <p:nvPr/>
        </p:nvSpPr>
        <p:spPr>
          <a:xfrm>
            <a:off x="365760" y="6217920"/>
            <a:ext cx="11430000" cy="457200"/>
          </a:xfrm>
          <a:prstGeom prst="roundRect">
            <a:avLst>
              <a:gd name="adj" fmla="val 5000"/>
            </a:avLst>
          </a:prstGeom>
          <a:solidFill>
            <a:srgbClr val="1623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6245352"/>
            <a:ext cx="109728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000" dirty="0">
                <a:solidFill>
                  <a:srgbClr val="C7CFDB"/>
                </a:solidFill>
                <a:latin typeface="Calibri"/>
              </a:rPr>
              <a:t>UKPSC DECODED  |  PCS  |  Lower PCS  |  RO/ARO  |  UKSSSC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ATop"/>
          <p:cNvSpPr/>
          <p:nvPr/>
        </p:nvSpPr>
        <p:spPr>
          <a:xfrm>
            <a:off x="365760" y="274320"/>
            <a:ext cx="11430000" cy="640080"/>
          </a:xfrm>
          <a:prstGeom prst="roundRect">
            <a:avLst>
              <a:gd name="adj" fmla="val 5000"/>
            </a:avLst>
          </a:prstGeom>
          <a:solidFill>
            <a:srgbClr val="2C6E4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320040"/>
            <a:ext cx="548640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b="1" dirty="0">
                <a:solidFill>
                  <a:srgbClr val="FFFFFF"/>
                </a:solidFill>
                <a:latin typeface="Calibri"/>
              </a:rPr>
              <a:t>Q179 — ANSWER REVEAL</a:t>
            </a:r>
          </a:p>
        </p:txBody>
      </p:sp>
      <p:sp>
        <p:nvSpPr>
          <p:cNvPr id="0" name="T"/>
          <p:cNvSpPr txBox="1"/>
          <p:nvPr/>
        </p:nvSpPr>
        <p:spPr>
          <a:xfrm>
            <a:off x="7772400" y="320040"/>
            <a:ext cx="384048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r"/>
            <a:r>
              <a:rPr lang="en-US" sz="1200" dirty="0">
                <a:solidFill>
                  <a:srgbClr val="C7CFDB"/>
                </a:solidFill>
                <a:latin typeface="Calibri"/>
              </a:rPr>
              <a:t>20/34</a:t>
            </a:r>
          </a:p>
        </p:txBody>
      </p:sp>
      <p:sp>
        <p:nvSpPr>
          <p:cNvPr id="0" name="T"/>
          <p:cNvSpPr txBox="1"/>
          <p:nvPr/>
        </p:nvSpPr>
        <p:spPr>
          <a:xfrm>
            <a:off x="457200" y="1097280"/>
            <a:ext cx="11247120" cy="109728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C7CFDB"/>
                </a:solidFill>
                <a:latin typeface="Calibri"/>
              </a:rPr>
              <a:t>March 2026 mein European Council ka President kaun tha?</a:t>
            </a:r>
          </a:p>
        </p:txBody>
      </p:sp>
      <p:sp>
        <p:nvSpPr>
          <p:cNvPr id="0" name="AnsBox"/>
          <p:cNvSpPr/>
          <p:nvPr/>
        </p:nvSpPr>
        <p:spPr>
          <a:xfrm>
            <a:off x="457200" y="2560320"/>
            <a:ext cx="11247120" cy="1097280"/>
          </a:xfrm>
          <a:prstGeom prst="roundRect">
            <a:avLst>
              <a:gd name="adj" fmla="val 5000"/>
            </a:avLst>
          </a:prstGeom>
          <a:solidFill>
            <a:srgbClr val="27AE6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2651760"/>
            <a:ext cx="10698480" cy="9144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2400" b="1" dirty="0">
                <a:solidFill>
                  <a:srgbClr val="FFFFFF"/>
                </a:solidFill>
                <a:latin typeface="Calibri"/>
              </a:rPr>
              <a:t>Answer: (a) Antonio Costa</a:t>
            </a:r>
          </a:p>
        </p:txBody>
      </p:sp>
      <p:sp>
        <p:nvSpPr>
          <p:cNvPr id="0" name="DetBox"/>
          <p:cNvSpPr/>
          <p:nvPr/>
        </p:nvSpPr>
        <p:spPr>
          <a:xfrm>
            <a:off x="457200" y="3931920"/>
            <a:ext cx="11247120" cy="182880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4069080"/>
            <a:ext cx="10698480" cy="1554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200" b="1" dirty="0">
                <a:solidFill>
                  <a:srgbClr val="E0A458"/>
                </a:solidFill>
                <a:latin typeface="Calibri"/>
              </a:rPr>
              <a:t>Details:</a:t>
            </a:r>
          </a:p>
          <a:p>
            <a:pPr algn="l"/>
            <a:r>
              <a:rPr lang="en-US" sz="1400" dirty="0">
                <a:solidFill>
                  <a:srgbClr val="FFFFFF"/>
                </a:solidFill>
                <a:latin typeface="Calibri"/>
              </a:rPr>
              <a:t>Former Portuguese PM. Took office 1 Dec 2024.</a:t>
            </a:r>
          </a:p>
        </p:txBody>
      </p:sp>
      <p:sp>
        <p:nvSpPr>
          <p:cNvPr id="0" name="Brand2"/>
          <p:cNvSpPr/>
          <p:nvPr/>
        </p:nvSpPr>
        <p:spPr>
          <a:xfrm>
            <a:off x="365760" y="6217920"/>
            <a:ext cx="11430000" cy="457200"/>
          </a:xfrm>
          <a:prstGeom prst="roundRect">
            <a:avLst>
              <a:gd name="adj" fmla="val 5000"/>
            </a:avLst>
          </a:prstGeom>
          <a:solidFill>
            <a:srgbClr val="1623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6245352"/>
            <a:ext cx="109728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000" dirty="0">
                <a:solidFill>
                  <a:srgbClr val="C7CFDB"/>
                </a:solidFill>
                <a:latin typeface="Calibri"/>
              </a:rPr>
              <a:t>UKPSC DECODED  |  Telegram: @UKPSCDECODED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opBar"/>
          <p:cNvSpPr/>
          <p:nvPr/>
        </p:nvSpPr>
        <p:spPr>
          <a:xfrm>
            <a:off x="365760" y="274320"/>
            <a:ext cx="11430000" cy="64008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320040"/>
            <a:ext cx="365760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400" b="1" dirty="0">
                <a:solidFill>
                  <a:srgbClr val="FFFFFF"/>
                </a:solidFill>
                <a:latin typeface="Calibri"/>
              </a:rPr>
              <a:t>Q180 | 21/34</a:t>
            </a:r>
          </a:p>
        </p:txBody>
      </p:sp>
      <p:sp>
        <p:nvSpPr>
          <p:cNvPr id="0" name="T"/>
          <p:cNvSpPr txBox="1"/>
          <p:nvPr/>
        </p:nvSpPr>
        <p:spPr>
          <a:xfrm>
            <a:off x="7772400" y="320040"/>
            <a:ext cx="384048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r"/>
            <a:r>
              <a:rPr lang="en-US" sz="1400" b="1" dirty="0">
                <a:solidFill>
                  <a:srgbClr val="F39C12"/>
                </a:solidFill>
                <a:latin typeface="Calibri"/>
              </a:rPr>
              <a:t>MODERATE</a:t>
            </a:r>
          </a:p>
        </p:txBody>
      </p:sp>
      <p:sp>
        <p:nvSpPr>
          <p:cNvPr id="0" name="Cat"/>
          <p:cNvSpPr/>
          <p:nvPr/>
        </p:nvSpPr>
        <p:spPr>
          <a:xfrm>
            <a:off x="365760" y="1005840"/>
            <a:ext cx="2743200" cy="411480"/>
          </a:xfrm>
          <a:prstGeom prst="roundRect">
            <a:avLst>
              <a:gd name="adj" fmla="val 5000"/>
            </a:avLst>
          </a:prstGeom>
          <a:solidFill>
            <a:srgbClr val="E0A45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457200" y="1033271"/>
            <a:ext cx="2560320" cy="36576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100" b="1" dirty="0">
                <a:solidFill>
                  <a:srgbClr val="16233A"/>
                </a:solidFill>
                <a:latin typeface="Calibri"/>
              </a:rPr>
              <a:t>Current Affairs</a:t>
            </a:r>
          </a:p>
        </p:txBody>
      </p:sp>
      <p:sp>
        <p:nvSpPr>
          <p:cNvPr id="0" name="T"/>
          <p:cNvSpPr txBox="1"/>
          <p:nvPr/>
        </p:nvSpPr>
        <p:spPr>
          <a:xfrm>
            <a:off x="457200" y="1645920"/>
            <a:ext cx="11247120" cy="16459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2200" b="1" dirty="0">
                <a:solidFill>
                  <a:srgbClr val="FFFFFF"/>
                </a:solidFill>
                <a:latin typeface="Calibri"/>
              </a:rPr>
              <a:t>Centenary Commonwealth Games 2030 ki mezbani kaun sa desh karega?</a:t>
            </a:r>
          </a:p>
        </p:txBody>
      </p:sp>
      <p:sp>
        <p:nvSpPr>
          <p:cNvPr id="0" name="O0"/>
          <p:cNvSpPr/>
          <p:nvPr/>
        </p:nvSpPr>
        <p:spPr>
          <a:xfrm>
            <a:off x="457200" y="365760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379476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(a) Australia</a:t>
            </a:r>
          </a:p>
        </p:txBody>
      </p:sp>
      <p:sp>
        <p:nvSpPr>
          <p:cNvPr id="0" name="O1"/>
          <p:cNvSpPr/>
          <p:nvPr/>
        </p:nvSpPr>
        <p:spPr>
          <a:xfrm>
            <a:off x="6217920" y="365760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6492240" y="379476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(b) Jamaica</a:t>
            </a:r>
          </a:p>
        </p:txBody>
      </p:sp>
      <p:sp>
        <p:nvSpPr>
          <p:cNvPr id="0" name="O2"/>
          <p:cNvSpPr/>
          <p:nvPr/>
        </p:nvSpPr>
        <p:spPr>
          <a:xfrm>
            <a:off x="457200" y="493776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507492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(c) India</a:t>
            </a:r>
          </a:p>
        </p:txBody>
      </p:sp>
      <p:sp>
        <p:nvSpPr>
          <p:cNvPr id="0" name="O3"/>
          <p:cNvSpPr/>
          <p:nvPr/>
        </p:nvSpPr>
        <p:spPr>
          <a:xfrm>
            <a:off x="6217920" y="493776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6492240" y="507492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(d) Canada</a:t>
            </a:r>
          </a:p>
        </p:txBody>
      </p:sp>
      <p:sp>
        <p:nvSpPr>
          <p:cNvPr id="0" name="Brand"/>
          <p:cNvSpPr/>
          <p:nvPr/>
        </p:nvSpPr>
        <p:spPr>
          <a:xfrm>
            <a:off x="365760" y="6217920"/>
            <a:ext cx="11430000" cy="457200"/>
          </a:xfrm>
          <a:prstGeom prst="roundRect">
            <a:avLst>
              <a:gd name="adj" fmla="val 5000"/>
            </a:avLst>
          </a:prstGeom>
          <a:solidFill>
            <a:srgbClr val="1623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6245352"/>
            <a:ext cx="109728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000" dirty="0">
                <a:solidFill>
                  <a:srgbClr val="C7CFDB"/>
                </a:solidFill>
                <a:latin typeface="Calibri"/>
              </a:rPr>
              <a:t>UKPSC DECODED  |  PCS  |  Lower PCS  |  RO/ARO  |  UKSSSC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ATop"/>
          <p:cNvSpPr/>
          <p:nvPr/>
        </p:nvSpPr>
        <p:spPr>
          <a:xfrm>
            <a:off x="365760" y="274320"/>
            <a:ext cx="11430000" cy="640080"/>
          </a:xfrm>
          <a:prstGeom prst="roundRect">
            <a:avLst>
              <a:gd name="adj" fmla="val 5000"/>
            </a:avLst>
          </a:prstGeom>
          <a:solidFill>
            <a:srgbClr val="2C6E4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320040"/>
            <a:ext cx="548640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b="1" dirty="0">
                <a:solidFill>
                  <a:srgbClr val="FFFFFF"/>
                </a:solidFill>
                <a:latin typeface="Calibri"/>
              </a:rPr>
              <a:t>Q180 — ANSWER REVEAL</a:t>
            </a:r>
          </a:p>
        </p:txBody>
      </p:sp>
      <p:sp>
        <p:nvSpPr>
          <p:cNvPr id="0" name="T"/>
          <p:cNvSpPr txBox="1"/>
          <p:nvPr/>
        </p:nvSpPr>
        <p:spPr>
          <a:xfrm>
            <a:off x="7772400" y="320040"/>
            <a:ext cx="384048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r"/>
            <a:r>
              <a:rPr lang="en-US" sz="1200" dirty="0">
                <a:solidFill>
                  <a:srgbClr val="C7CFDB"/>
                </a:solidFill>
                <a:latin typeface="Calibri"/>
              </a:rPr>
              <a:t>21/34</a:t>
            </a:r>
          </a:p>
        </p:txBody>
      </p:sp>
      <p:sp>
        <p:nvSpPr>
          <p:cNvPr id="0" name="T"/>
          <p:cNvSpPr txBox="1"/>
          <p:nvPr/>
        </p:nvSpPr>
        <p:spPr>
          <a:xfrm>
            <a:off x="457200" y="1097280"/>
            <a:ext cx="11247120" cy="109728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C7CFDB"/>
                </a:solidFill>
                <a:latin typeface="Calibri"/>
              </a:rPr>
              <a:t>Centenary Commonwealth Games 2030 ki mezbani kaun sa desh karega?</a:t>
            </a:r>
          </a:p>
        </p:txBody>
      </p:sp>
      <p:sp>
        <p:nvSpPr>
          <p:cNvPr id="0" name="AnsBox"/>
          <p:cNvSpPr/>
          <p:nvPr/>
        </p:nvSpPr>
        <p:spPr>
          <a:xfrm>
            <a:off x="457200" y="2560320"/>
            <a:ext cx="11247120" cy="1097280"/>
          </a:xfrm>
          <a:prstGeom prst="roundRect">
            <a:avLst>
              <a:gd name="adj" fmla="val 5000"/>
            </a:avLst>
          </a:prstGeom>
          <a:solidFill>
            <a:srgbClr val="27AE6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2651760"/>
            <a:ext cx="10698480" cy="9144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2400" b="1" dirty="0">
                <a:solidFill>
                  <a:srgbClr val="FFFFFF"/>
                </a:solidFill>
                <a:latin typeface="Calibri"/>
              </a:rPr>
              <a:t>Answer: (c) India</a:t>
            </a:r>
          </a:p>
        </p:txBody>
      </p:sp>
      <p:sp>
        <p:nvSpPr>
          <p:cNvPr id="0" name="DetBox"/>
          <p:cNvSpPr/>
          <p:nvPr/>
        </p:nvSpPr>
        <p:spPr>
          <a:xfrm>
            <a:off x="457200" y="3931920"/>
            <a:ext cx="11247120" cy="182880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4069080"/>
            <a:ext cx="10698480" cy="1554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200" b="1" dirty="0">
                <a:solidFill>
                  <a:srgbClr val="E0A458"/>
                </a:solidFill>
                <a:latin typeface="Calibri"/>
              </a:rPr>
              <a:t>Details:</a:t>
            </a:r>
          </a:p>
          <a:p>
            <a:pPr algn="l"/>
            <a:r>
              <a:rPr lang="en-US" sz="1400" dirty="0">
                <a:solidFill>
                  <a:srgbClr val="FFFFFF"/>
                </a:solidFill>
                <a:latin typeface="Calibri"/>
              </a:rPr>
              <a:t>Ahmedabad primary host city. Centenary = 100 years of CWG.</a:t>
            </a:r>
          </a:p>
        </p:txBody>
      </p:sp>
      <p:sp>
        <p:nvSpPr>
          <p:cNvPr id="0" name="Brand2"/>
          <p:cNvSpPr/>
          <p:nvPr/>
        </p:nvSpPr>
        <p:spPr>
          <a:xfrm>
            <a:off x="365760" y="6217920"/>
            <a:ext cx="11430000" cy="457200"/>
          </a:xfrm>
          <a:prstGeom prst="roundRect">
            <a:avLst>
              <a:gd name="adj" fmla="val 5000"/>
            </a:avLst>
          </a:prstGeom>
          <a:solidFill>
            <a:srgbClr val="1623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6245352"/>
            <a:ext cx="109728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000" dirty="0">
                <a:solidFill>
                  <a:srgbClr val="C7CFDB"/>
                </a:solidFill>
                <a:latin typeface="Calibri"/>
              </a:rPr>
              <a:t>UKPSC DECODED  |  Telegram: @UKPSCDECODED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opBar"/>
          <p:cNvSpPr/>
          <p:nvPr/>
        </p:nvSpPr>
        <p:spPr>
          <a:xfrm>
            <a:off x="365760" y="274320"/>
            <a:ext cx="11430000" cy="64008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320040"/>
            <a:ext cx="365760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400" b="1" dirty="0">
                <a:solidFill>
                  <a:srgbClr val="FFFFFF"/>
                </a:solidFill>
                <a:latin typeface="Calibri"/>
              </a:rPr>
              <a:t>Q181 | 22/34</a:t>
            </a:r>
          </a:p>
        </p:txBody>
      </p:sp>
      <p:sp>
        <p:nvSpPr>
          <p:cNvPr id="0" name="T"/>
          <p:cNvSpPr txBox="1"/>
          <p:nvPr/>
        </p:nvSpPr>
        <p:spPr>
          <a:xfrm>
            <a:off x="7772400" y="320040"/>
            <a:ext cx="384048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r"/>
            <a:r>
              <a:rPr lang="en-US" sz="1400" b="1" dirty="0">
                <a:solidFill>
                  <a:srgbClr val="E74C3C"/>
                </a:solidFill>
                <a:latin typeface="Calibri"/>
              </a:rPr>
              <a:t>TOUGH</a:t>
            </a:r>
          </a:p>
        </p:txBody>
      </p:sp>
      <p:sp>
        <p:nvSpPr>
          <p:cNvPr id="0" name="Cat"/>
          <p:cNvSpPr/>
          <p:nvPr/>
        </p:nvSpPr>
        <p:spPr>
          <a:xfrm>
            <a:off x="365760" y="1005840"/>
            <a:ext cx="2743200" cy="411480"/>
          </a:xfrm>
          <a:prstGeom prst="roundRect">
            <a:avLst>
              <a:gd name="adj" fmla="val 5000"/>
            </a:avLst>
          </a:prstGeom>
          <a:solidFill>
            <a:srgbClr val="E0A45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457200" y="1033271"/>
            <a:ext cx="2560320" cy="36576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100" b="1" dirty="0">
                <a:solidFill>
                  <a:srgbClr val="16233A"/>
                </a:solidFill>
                <a:latin typeface="Calibri"/>
              </a:rPr>
              <a:t>Current Affairs</a:t>
            </a:r>
          </a:p>
        </p:txBody>
      </p:sp>
      <p:sp>
        <p:nvSpPr>
          <p:cNvPr id="0" name="T"/>
          <p:cNvSpPr txBox="1"/>
          <p:nvPr/>
        </p:nvSpPr>
        <p:spPr>
          <a:xfrm>
            <a:off x="457200" y="1645920"/>
            <a:ext cx="11247120" cy="16459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2200" b="1" dirty="0">
                <a:solidFill>
                  <a:srgbClr val="FFFFFF"/>
                </a:solidFill>
                <a:latin typeface="Calibri"/>
              </a:rPr>
              <a:t>Nobel Peace Prize 2025 kise diya gaya?</a:t>
            </a:r>
          </a:p>
        </p:txBody>
      </p:sp>
      <p:sp>
        <p:nvSpPr>
          <p:cNvPr id="0" name="O0"/>
          <p:cNvSpPr/>
          <p:nvPr/>
        </p:nvSpPr>
        <p:spPr>
          <a:xfrm>
            <a:off x="457200" y="365760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379476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(a) Maria Corina Machado</a:t>
            </a:r>
          </a:p>
        </p:txBody>
      </p:sp>
      <p:sp>
        <p:nvSpPr>
          <p:cNvPr id="0" name="O1"/>
          <p:cNvSpPr/>
          <p:nvPr/>
        </p:nvSpPr>
        <p:spPr>
          <a:xfrm>
            <a:off x="6217920" y="365760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6492240" y="379476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(b) John Clarke</a:t>
            </a:r>
          </a:p>
        </p:txBody>
      </p:sp>
      <p:sp>
        <p:nvSpPr>
          <p:cNvPr id="0" name="O2"/>
          <p:cNvSpPr/>
          <p:nvPr/>
        </p:nvSpPr>
        <p:spPr>
          <a:xfrm>
            <a:off x="457200" y="493776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507492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(c) Yulia Navalnaya</a:t>
            </a:r>
          </a:p>
        </p:txBody>
      </p:sp>
      <p:sp>
        <p:nvSpPr>
          <p:cNvPr id="0" name="O3"/>
          <p:cNvSpPr/>
          <p:nvPr/>
        </p:nvSpPr>
        <p:spPr>
          <a:xfrm>
            <a:off x="6217920" y="493776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6492240" y="507492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(d) Nihon Hidankyo</a:t>
            </a:r>
          </a:p>
        </p:txBody>
      </p:sp>
      <p:sp>
        <p:nvSpPr>
          <p:cNvPr id="0" name="Brand"/>
          <p:cNvSpPr/>
          <p:nvPr/>
        </p:nvSpPr>
        <p:spPr>
          <a:xfrm>
            <a:off x="365760" y="6217920"/>
            <a:ext cx="11430000" cy="457200"/>
          </a:xfrm>
          <a:prstGeom prst="roundRect">
            <a:avLst>
              <a:gd name="adj" fmla="val 5000"/>
            </a:avLst>
          </a:prstGeom>
          <a:solidFill>
            <a:srgbClr val="1623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6245352"/>
            <a:ext cx="109728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000" dirty="0">
                <a:solidFill>
                  <a:srgbClr val="C7CFDB"/>
                </a:solidFill>
                <a:latin typeface="Calibri"/>
              </a:rPr>
              <a:t>UKPSC DECODED  |  PCS  |  Lower PCS  |  RO/ARO  |  UKSSSC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ATop"/>
          <p:cNvSpPr/>
          <p:nvPr/>
        </p:nvSpPr>
        <p:spPr>
          <a:xfrm>
            <a:off x="365760" y="274320"/>
            <a:ext cx="11430000" cy="640080"/>
          </a:xfrm>
          <a:prstGeom prst="roundRect">
            <a:avLst>
              <a:gd name="adj" fmla="val 5000"/>
            </a:avLst>
          </a:prstGeom>
          <a:solidFill>
            <a:srgbClr val="2C6E4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320040"/>
            <a:ext cx="548640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b="1" dirty="0">
                <a:solidFill>
                  <a:srgbClr val="FFFFFF"/>
                </a:solidFill>
                <a:latin typeface="Calibri"/>
              </a:rPr>
              <a:t>Q181 — ANSWER REVEAL</a:t>
            </a:r>
          </a:p>
        </p:txBody>
      </p:sp>
      <p:sp>
        <p:nvSpPr>
          <p:cNvPr id="0" name="T"/>
          <p:cNvSpPr txBox="1"/>
          <p:nvPr/>
        </p:nvSpPr>
        <p:spPr>
          <a:xfrm>
            <a:off x="7772400" y="320040"/>
            <a:ext cx="384048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r"/>
            <a:r>
              <a:rPr lang="en-US" sz="1200" dirty="0">
                <a:solidFill>
                  <a:srgbClr val="C7CFDB"/>
                </a:solidFill>
                <a:latin typeface="Calibri"/>
              </a:rPr>
              <a:t>22/34</a:t>
            </a:r>
          </a:p>
        </p:txBody>
      </p:sp>
      <p:sp>
        <p:nvSpPr>
          <p:cNvPr id="0" name="T"/>
          <p:cNvSpPr txBox="1"/>
          <p:nvPr/>
        </p:nvSpPr>
        <p:spPr>
          <a:xfrm>
            <a:off x="457200" y="1097280"/>
            <a:ext cx="11247120" cy="109728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C7CFDB"/>
                </a:solidFill>
                <a:latin typeface="Calibri"/>
              </a:rPr>
              <a:t>Nobel Peace Prize 2025 kise diya gaya?</a:t>
            </a:r>
          </a:p>
        </p:txBody>
      </p:sp>
      <p:sp>
        <p:nvSpPr>
          <p:cNvPr id="0" name="AnsBox"/>
          <p:cNvSpPr/>
          <p:nvPr/>
        </p:nvSpPr>
        <p:spPr>
          <a:xfrm>
            <a:off x="457200" y="2560320"/>
            <a:ext cx="11247120" cy="1097280"/>
          </a:xfrm>
          <a:prstGeom prst="roundRect">
            <a:avLst>
              <a:gd name="adj" fmla="val 5000"/>
            </a:avLst>
          </a:prstGeom>
          <a:solidFill>
            <a:srgbClr val="27AE6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2651760"/>
            <a:ext cx="10698480" cy="9144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2400" b="1" dirty="0">
                <a:solidFill>
                  <a:srgbClr val="FFFFFF"/>
                </a:solidFill>
                <a:latin typeface="Calibri"/>
              </a:rPr>
              <a:t>Answer: (a) Maria Corina Machado</a:t>
            </a:r>
          </a:p>
        </p:txBody>
      </p:sp>
      <p:sp>
        <p:nvSpPr>
          <p:cNvPr id="0" name="DetBox"/>
          <p:cNvSpPr/>
          <p:nvPr/>
        </p:nvSpPr>
        <p:spPr>
          <a:xfrm>
            <a:off x="457200" y="3931920"/>
            <a:ext cx="11247120" cy="182880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4069080"/>
            <a:ext cx="10698480" cy="1554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200" b="1" dirty="0">
                <a:solidFill>
                  <a:srgbClr val="E0A458"/>
                </a:solidFill>
                <a:latin typeface="Calibri"/>
              </a:rPr>
              <a:t>Details:</a:t>
            </a:r>
          </a:p>
          <a:p>
            <a:pPr algn="l"/>
            <a:r>
              <a:rPr lang="en-US" sz="1400" dirty="0">
                <a:solidFill>
                  <a:srgbClr val="FFFFFF"/>
                </a:solidFill>
                <a:latin typeface="Calibri"/>
              </a:rPr>
              <a:t>Venezuelan opposition leader — struggle for democracy.</a:t>
            </a:r>
          </a:p>
        </p:txBody>
      </p:sp>
      <p:sp>
        <p:nvSpPr>
          <p:cNvPr id="0" name="Brand2"/>
          <p:cNvSpPr/>
          <p:nvPr/>
        </p:nvSpPr>
        <p:spPr>
          <a:xfrm>
            <a:off x="365760" y="6217920"/>
            <a:ext cx="11430000" cy="457200"/>
          </a:xfrm>
          <a:prstGeom prst="roundRect">
            <a:avLst>
              <a:gd name="adj" fmla="val 5000"/>
            </a:avLst>
          </a:prstGeom>
          <a:solidFill>
            <a:srgbClr val="1623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6245352"/>
            <a:ext cx="109728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000" dirty="0">
                <a:solidFill>
                  <a:srgbClr val="C7CFDB"/>
                </a:solidFill>
                <a:latin typeface="Calibri"/>
              </a:rPr>
              <a:t>UKPSC DECODED  |  Telegram: @UKPSCDECODED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opBar"/>
          <p:cNvSpPr/>
          <p:nvPr/>
        </p:nvSpPr>
        <p:spPr>
          <a:xfrm>
            <a:off x="365760" y="274320"/>
            <a:ext cx="11430000" cy="64008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320040"/>
            <a:ext cx="365760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400" b="1" dirty="0">
                <a:solidFill>
                  <a:srgbClr val="FFFFFF"/>
                </a:solidFill>
                <a:latin typeface="Calibri"/>
              </a:rPr>
              <a:t>Q182 | 23/34</a:t>
            </a:r>
          </a:p>
        </p:txBody>
      </p:sp>
      <p:sp>
        <p:nvSpPr>
          <p:cNvPr id="0" name="T"/>
          <p:cNvSpPr txBox="1"/>
          <p:nvPr/>
        </p:nvSpPr>
        <p:spPr>
          <a:xfrm>
            <a:off x="7772400" y="320040"/>
            <a:ext cx="384048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r"/>
            <a:r>
              <a:rPr lang="en-US" sz="1400" b="1" dirty="0">
                <a:solidFill>
                  <a:srgbClr val="E74C3C"/>
                </a:solidFill>
                <a:latin typeface="Calibri"/>
              </a:rPr>
              <a:t>TOUGH</a:t>
            </a:r>
          </a:p>
        </p:txBody>
      </p:sp>
      <p:sp>
        <p:nvSpPr>
          <p:cNvPr id="0" name="Cat"/>
          <p:cNvSpPr/>
          <p:nvPr/>
        </p:nvSpPr>
        <p:spPr>
          <a:xfrm>
            <a:off x="365760" y="1005840"/>
            <a:ext cx="2743200" cy="411480"/>
          </a:xfrm>
          <a:prstGeom prst="roundRect">
            <a:avLst>
              <a:gd name="adj" fmla="val 5000"/>
            </a:avLst>
          </a:prstGeom>
          <a:solidFill>
            <a:srgbClr val="E0A45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457200" y="1033271"/>
            <a:ext cx="2560320" cy="36576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100" b="1" dirty="0">
                <a:solidFill>
                  <a:srgbClr val="16233A"/>
                </a:solidFill>
                <a:latin typeface="Calibri"/>
              </a:rPr>
              <a:t>Current Affairs</a:t>
            </a:r>
          </a:p>
        </p:txBody>
      </p:sp>
      <p:sp>
        <p:nvSpPr>
          <p:cNvPr id="0" name="T"/>
          <p:cNvSpPr txBox="1"/>
          <p:nvPr/>
        </p:nvSpPr>
        <p:spPr>
          <a:xfrm>
            <a:off x="457200" y="1645920"/>
            <a:ext cx="11247120" cy="16459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2200" b="1" dirty="0">
                <a:solidFill>
                  <a:srgbClr val="FFFFFF"/>
                </a:solidFill>
                <a:latin typeface="Calibri"/>
              </a:rPr>
              <a:t>Bharat ke Capacity Building Commission ka vartaman Chairperson kaun hai?</a:t>
            </a:r>
          </a:p>
        </p:txBody>
      </p:sp>
      <p:sp>
        <p:nvSpPr>
          <p:cNvPr id="0" name="O0"/>
          <p:cNvSpPr/>
          <p:nvPr/>
        </p:nvSpPr>
        <p:spPr>
          <a:xfrm>
            <a:off x="457200" y="365760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379476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(a) Uma Konjilal</a:t>
            </a:r>
          </a:p>
        </p:txBody>
      </p:sp>
      <p:sp>
        <p:nvSpPr>
          <p:cNvPr id="0" name="O1"/>
          <p:cNvSpPr/>
          <p:nvPr/>
        </p:nvSpPr>
        <p:spPr>
          <a:xfrm>
            <a:off x="6217920" y="365760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6492240" y="379476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(b) Shashi Prakash Goyal</a:t>
            </a:r>
          </a:p>
        </p:txBody>
      </p:sp>
      <p:sp>
        <p:nvSpPr>
          <p:cNvPr id="0" name="O2"/>
          <p:cNvSpPr/>
          <p:nvPr/>
        </p:nvSpPr>
        <p:spPr>
          <a:xfrm>
            <a:off x="457200" y="493776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507492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(c) S. Radha Chauhan</a:t>
            </a:r>
          </a:p>
        </p:txBody>
      </p:sp>
      <p:sp>
        <p:nvSpPr>
          <p:cNvPr id="0" name="O3"/>
          <p:cNvSpPr/>
          <p:nvPr/>
        </p:nvSpPr>
        <p:spPr>
          <a:xfrm>
            <a:off x="6217920" y="493776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6492240" y="507492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(d) Anuradha Thakur</a:t>
            </a:r>
          </a:p>
        </p:txBody>
      </p:sp>
      <p:sp>
        <p:nvSpPr>
          <p:cNvPr id="0" name="Brand"/>
          <p:cNvSpPr/>
          <p:nvPr/>
        </p:nvSpPr>
        <p:spPr>
          <a:xfrm>
            <a:off x="365760" y="6217920"/>
            <a:ext cx="11430000" cy="457200"/>
          </a:xfrm>
          <a:prstGeom prst="roundRect">
            <a:avLst>
              <a:gd name="adj" fmla="val 5000"/>
            </a:avLst>
          </a:prstGeom>
          <a:solidFill>
            <a:srgbClr val="1623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6245352"/>
            <a:ext cx="109728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000" dirty="0">
                <a:solidFill>
                  <a:srgbClr val="C7CFDB"/>
                </a:solidFill>
                <a:latin typeface="Calibri"/>
              </a:rPr>
              <a:t>UKPSC DECODED  |  PCS  |  Lower PCS  |  RO/ARO  |  UKSSSC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ATop"/>
          <p:cNvSpPr/>
          <p:nvPr/>
        </p:nvSpPr>
        <p:spPr>
          <a:xfrm>
            <a:off x="365760" y="274320"/>
            <a:ext cx="11430000" cy="640080"/>
          </a:xfrm>
          <a:prstGeom prst="roundRect">
            <a:avLst>
              <a:gd name="adj" fmla="val 5000"/>
            </a:avLst>
          </a:prstGeom>
          <a:solidFill>
            <a:srgbClr val="2C6E4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320040"/>
            <a:ext cx="548640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b="1" dirty="0">
                <a:solidFill>
                  <a:srgbClr val="FFFFFF"/>
                </a:solidFill>
                <a:latin typeface="Calibri"/>
              </a:rPr>
              <a:t>Q182 — ANSWER REVEAL</a:t>
            </a:r>
          </a:p>
        </p:txBody>
      </p:sp>
      <p:sp>
        <p:nvSpPr>
          <p:cNvPr id="0" name="T"/>
          <p:cNvSpPr txBox="1"/>
          <p:nvPr/>
        </p:nvSpPr>
        <p:spPr>
          <a:xfrm>
            <a:off x="7772400" y="320040"/>
            <a:ext cx="384048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r"/>
            <a:r>
              <a:rPr lang="en-US" sz="1200" dirty="0">
                <a:solidFill>
                  <a:srgbClr val="C7CFDB"/>
                </a:solidFill>
                <a:latin typeface="Calibri"/>
              </a:rPr>
              <a:t>23/34</a:t>
            </a:r>
          </a:p>
        </p:txBody>
      </p:sp>
      <p:sp>
        <p:nvSpPr>
          <p:cNvPr id="0" name="T"/>
          <p:cNvSpPr txBox="1"/>
          <p:nvPr/>
        </p:nvSpPr>
        <p:spPr>
          <a:xfrm>
            <a:off x="457200" y="1097280"/>
            <a:ext cx="11247120" cy="109728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C7CFDB"/>
                </a:solidFill>
                <a:latin typeface="Calibri"/>
              </a:rPr>
              <a:t>Bharat ke Capacity Building Commission ka vartaman Chairperson kaun hai?</a:t>
            </a:r>
          </a:p>
        </p:txBody>
      </p:sp>
      <p:sp>
        <p:nvSpPr>
          <p:cNvPr id="0" name="AnsBox"/>
          <p:cNvSpPr/>
          <p:nvPr/>
        </p:nvSpPr>
        <p:spPr>
          <a:xfrm>
            <a:off x="457200" y="2560320"/>
            <a:ext cx="11247120" cy="1097280"/>
          </a:xfrm>
          <a:prstGeom prst="roundRect">
            <a:avLst>
              <a:gd name="adj" fmla="val 5000"/>
            </a:avLst>
          </a:prstGeom>
          <a:solidFill>
            <a:srgbClr val="27AE6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2651760"/>
            <a:ext cx="10698480" cy="9144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2400" b="1" dirty="0">
                <a:solidFill>
                  <a:srgbClr val="FFFFFF"/>
                </a:solidFill>
                <a:latin typeface="Calibri"/>
              </a:rPr>
              <a:t>Answer: (c) S. Radha Chauhan</a:t>
            </a:r>
          </a:p>
        </p:txBody>
      </p:sp>
      <p:sp>
        <p:nvSpPr>
          <p:cNvPr id="0" name="DetBox"/>
          <p:cNvSpPr/>
          <p:nvPr/>
        </p:nvSpPr>
        <p:spPr>
          <a:xfrm>
            <a:off x="457200" y="3931920"/>
            <a:ext cx="11247120" cy="182880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4069080"/>
            <a:ext cx="10698480" cy="1554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200" b="1" dirty="0">
                <a:solidFill>
                  <a:srgbClr val="E0A458"/>
                </a:solidFill>
                <a:latin typeface="Calibri"/>
              </a:rPr>
              <a:t>Details:</a:t>
            </a:r>
          </a:p>
          <a:p>
            <a:pPr algn="l"/>
            <a:r>
              <a:rPr lang="en-US" sz="1400" dirty="0">
                <a:solidFill>
                  <a:srgbClr val="FFFFFF"/>
                </a:solidFill>
                <a:latin typeface="Calibri"/>
              </a:rPr>
              <a:t>Former IAS officer. Took charge August 2025.</a:t>
            </a:r>
          </a:p>
        </p:txBody>
      </p:sp>
      <p:sp>
        <p:nvSpPr>
          <p:cNvPr id="0" name="Brand2"/>
          <p:cNvSpPr/>
          <p:nvPr/>
        </p:nvSpPr>
        <p:spPr>
          <a:xfrm>
            <a:off x="365760" y="6217920"/>
            <a:ext cx="11430000" cy="457200"/>
          </a:xfrm>
          <a:prstGeom prst="roundRect">
            <a:avLst>
              <a:gd name="adj" fmla="val 5000"/>
            </a:avLst>
          </a:prstGeom>
          <a:solidFill>
            <a:srgbClr val="1623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6245352"/>
            <a:ext cx="109728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000" dirty="0">
                <a:solidFill>
                  <a:srgbClr val="C7CFDB"/>
                </a:solidFill>
                <a:latin typeface="Calibri"/>
              </a:rPr>
              <a:t>UKPSC DECODED  |  Telegram: @UKPSCDECODED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opBar"/>
          <p:cNvSpPr/>
          <p:nvPr/>
        </p:nvSpPr>
        <p:spPr>
          <a:xfrm>
            <a:off x="365760" y="274320"/>
            <a:ext cx="11430000" cy="64008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320040"/>
            <a:ext cx="365760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400" b="1" dirty="0">
                <a:solidFill>
                  <a:srgbClr val="FFFFFF"/>
                </a:solidFill>
                <a:latin typeface="Calibri"/>
              </a:rPr>
              <a:t>Q183 | 24/34</a:t>
            </a:r>
          </a:p>
        </p:txBody>
      </p:sp>
      <p:sp>
        <p:nvSpPr>
          <p:cNvPr id="0" name="T"/>
          <p:cNvSpPr txBox="1"/>
          <p:nvPr/>
        </p:nvSpPr>
        <p:spPr>
          <a:xfrm>
            <a:off x="7772400" y="320040"/>
            <a:ext cx="384048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r"/>
            <a:r>
              <a:rPr lang="en-US" sz="1400" b="1" dirty="0">
                <a:solidFill>
                  <a:srgbClr val="E74C3C"/>
                </a:solidFill>
                <a:latin typeface="Calibri"/>
              </a:rPr>
              <a:t>TOUGH</a:t>
            </a:r>
          </a:p>
        </p:txBody>
      </p:sp>
      <p:sp>
        <p:nvSpPr>
          <p:cNvPr id="0" name="Cat"/>
          <p:cNvSpPr/>
          <p:nvPr/>
        </p:nvSpPr>
        <p:spPr>
          <a:xfrm>
            <a:off x="365760" y="1005840"/>
            <a:ext cx="2743200" cy="411480"/>
          </a:xfrm>
          <a:prstGeom prst="roundRect">
            <a:avLst>
              <a:gd name="adj" fmla="val 5000"/>
            </a:avLst>
          </a:prstGeom>
          <a:solidFill>
            <a:srgbClr val="E0A45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457200" y="1033271"/>
            <a:ext cx="2560320" cy="36576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100" b="1" dirty="0">
                <a:solidFill>
                  <a:srgbClr val="16233A"/>
                </a:solidFill>
                <a:latin typeface="Calibri"/>
              </a:rPr>
              <a:t>Current Affairs</a:t>
            </a:r>
          </a:p>
        </p:txBody>
      </p:sp>
      <p:sp>
        <p:nvSpPr>
          <p:cNvPr id="0" name="T"/>
          <p:cNvSpPr txBox="1"/>
          <p:nvPr/>
        </p:nvSpPr>
        <p:spPr>
          <a:xfrm>
            <a:off x="457200" y="1645920"/>
            <a:ext cx="11247120" cy="16459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2200" b="1" dirty="0">
                <a:solidFill>
                  <a:srgbClr val="FFFFFF"/>
                </a:solidFill>
                <a:latin typeface="Calibri"/>
              </a:rPr>
              <a:t>IOAA 2026 (Astronomy &amp; Astrophysics Olympiad) kahan hoga?</a:t>
            </a:r>
          </a:p>
        </p:txBody>
      </p:sp>
      <p:sp>
        <p:nvSpPr>
          <p:cNvPr id="0" name="O0"/>
          <p:cNvSpPr/>
          <p:nvPr/>
        </p:nvSpPr>
        <p:spPr>
          <a:xfrm>
            <a:off x="457200" y="365760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379476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(a) Katowice, Poland</a:t>
            </a:r>
          </a:p>
        </p:txBody>
      </p:sp>
      <p:sp>
        <p:nvSpPr>
          <p:cNvPr id="0" name="O1"/>
          <p:cNvSpPr/>
          <p:nvPr/>
        </p:nvSpPr>
        <p:spPr>
          <a:xfrm>
            <a:off x="6217920" y="365760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6492240" y="379476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(b) Mumbai, India</a:t>
            </a:r>
          </a:p>
        </p:txBody>
      </p:sp>
      <p:sp>
        <p:nvSpPr>
          <p:cNvPr id="0" name="O2"/>
          <p:cNvSpPr/>
          <p:nvPr/>
        </p:nvSpPr>
        <p:spPr>
          <a:xfrm>
            <a:off x="457200" y="493776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507492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(c) Hanoi, Vietnam</a:t>
            </a:r>
          </a:p>
        </p:txBody>
      </p:sp>
      <p:sp>
        <p:nvSpPr>
          <p:cNvPr id="0" name="O3"/>
          <p:cNvSpPr/>
          <p:nvPr/>
        </p:nvSpPr>
        <p:spPr>
          <a:xfrm>
            <a:off x="6217920" y="493776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6492240" y="507492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(d) Rio de Janeiro, Brazil</a:t>
            </a:r>
          </a:p>
        </p:txBody>
      </p:sp>
      <p:sp>
        <p:nvSpPr>
          <p:cNvPr id="0" name="Brand"/>
          <p:cNvSpPr/>
          <p:nvPr/>
        </p:nvSpPr>
        <p:spPr>
          <a:xfrm>
            <a:off x="365760" y="6217920"/>
            <a:ext cx="11430000" cy="457200"/>
          </a:xfrm>
          <a:prstGeom prst="roundRect">
            <a:avLst>
              <a:gd name="adj" fmla="val 5000"/>
            </a:avLst>
          </a:prstGeom>
          <a:solidFill>
            <a:srgbClr val="1623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6245352"/>
            <a:ext cx="109728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000" dirty="0">
                <a:solidFill>
                  <a:srgbClr val="C7CFDB"/>
                </a:solidFill>
                <a:latin typeface="Calibri"/>
              </a:rPr>
              <a:t>UKPSC DECODED  |  PCS  |  Lower PCS  |  RO/ARO  |  UKSSSC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ATop"/>
          <p:cNvSpPr/>
          <p:nvPr/>
        </p:nvSpPr>
        <p:spPr>
          <a:xfrm>
            <a:off x="365760" y="274320"/>
            <a:ext cx="11430000" cy="640080"/>
          </a:xfrm>
          <a:prstGeom prst="roundRect">
            <a:avLst>
              <a:gd name="adj" fmla="val 5000"/>
            </a:avLst>
          </a:prstGeom>
          <a:solidFill>
            <a:srgbClr val="2C6E4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320040"/>
            <a:ext cx="548640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b="1" dirty="0">
                <a:solidFill>
                  <a:srgbClr val="FFFFFF"/>
                </a:solidFill>
                <a:latin typeface="Calibri"/>
              </a:rPr>
              <a:t>Q183 — ANSWER REVEAL</a:t>
            </a:r>
          </a:p>
        </p:txBody>
      </p:sp>
      <p:sp>
        <p:nvSpPr>
          <p:cNvPr id="0" name="T"/>
          <p:cNvSpPr txBox="1"/>
          <p:nvPr/>
        </p:nvSpPr>
        <p:spPr>
          <a:xfrm>
            <a:off x="7772400" y="320040"/>
            <a:ext cx="384048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r"/>
            <a:r>
              <a:rPr lang="en-US" sz="1200" dirty="0">
                <a:solidFill>
                  <a:srgbClr val="C7CFDB"/>
                </a:solidFill>
                <a:latin typeface="Calibri"/>
              </a:rPr>
              <a:t>24/34</a:t>
            </a:r>
          </a:p>
        </p:txBody>
      </p:sp>
      <p:sp>
        <p:nvSpPr>
          <p:cNvPr id="0" name="T"/>
          <p:cNvSpPr txBox="1"/>
          <p:nvPr/>
        </p:nvSpPr>
        <p:spPr>
          <a:xfrm>
            <a:off x="457200" y="1097280"/>
            <a:ext cx="11247120" cy="109728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C7CFDB"/>
                </a:solidFill>
                <a:latin typeface="Calibri"/>
              </a:rPr>
              <a:t>IOAA 2026 (Astronomy &amp; Astrophysics Olympiad) kahan hoga?</a:t>
            </a:r>
          </a:p>
        </p:txBody>
      </p:sp>
      <p:sp>
        <p:nvSpPr>
          <p:cNvPr id="0" name="AnsBox"/>
          <p:cNvSpPr/>
          <p:nvPr/>
        </p:nvSpPr>
        <p:spPr>
          <a:xfrm>
            <a:off x="457200" y="2560320"/>
            <a:ext cx="11247120" cy="1097280"/>
          </a:xfrm>
          <a:prstGeom prst="roundRect">
            <a:avLst>
              <a:gd name="adj" fmla="val 5000"/>
            </a:avLst>
          </a:prstGeom>
          <a:solidFill>
            <a:srgbClr val="27AE6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2651760"/>
            <a:ext cx="10698480" cy="9144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2400" b="1" dirty="0">
                <a:solidFill>
                  <a:srgbClr val="FFFFFF"/>
                </a:solidFill>
                <a:latin typeface="Calibri"/>
              </a:rPr>
              <a:t>Answer: (c) Hanoi, Vietnam</a:t>
            </a:r>
          </a:p>
        </p:txBody>
      </p:sp>
      <p:sp>
        <p:nvSpPr>
          <p:cNvPr id="0" name="DetBox"/>
          <p:cNvSpPr/>
          <p:nvPr/>
        </p:nvSpPr>
        <p:spPr>
          <a:xfrm>
            <a:off x="457200" y="3931920"/>
            <a:ext cx="11247120" cy="182880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4069080"/>
            <a:ext cx="10698480" cy="1554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200" b="1" dirty="0">
                <a:solidFill>
                  <a:srgbClr val="E0A458"/>
                </a:solidFill>
                <a:latin typeface="Calibri"/>
              </a:rPr>
              <a:t>Details:</a:t>
            </a:r>
          </a:p>
          <a:p>
            <a:pPr algn="l"/>
            <a:r>
              <a:rPr lang="en-US" sz="1400" dirty="0">
                <a:solidFill>
                  <a:srgbClr val="FFFFFF"/>
                </a:solidFill>
                <a:latin typeface="Calibri"/>
              </a:rPr>
              <a:t>19th IOAA = Vietnam. 18th (2025) was Mumbai, India.</a:t>
            </a:r>
          </a:p>
        </p:txBody>
      </p:sp>
      <p:sp>
        <p:nvSpPr>
          <p:cNvPr id="0" name="Brand2"/>
          <p:cNvSpPr/>
          <p:nvPr/>
        </p:nvSpPr>
        <p:spPr>
          <a:xfrm>
            <a:off x="365760" y="6217920"/>
            <a:ext cx="11430000" cy="457200"/>
          </a:xfrm>
          <a:prstGeom prst="roundRect">
            <a:avLst>
              <a:gd name="adj" fmla="val 5000"/>
            </a:avLst>
          </a:prstGeom>
          <a:solidFill>
            <a:srgbClr val="1623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6245352"/>
            <a:ext cx="109728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000" dirty="0">
                <a:solidFill>
                  <a:srgbClr val="C7CFDB"/>
                </a:solidFill>
                <a:latin typeface="Calibri"/>
              </a:rPr>
              <a:t>UKPSC DECODED  |  Telegram: @UKPSCDECODED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opBar"/>
          <p:cNvSpPr/>
          <p:nvPr/>
        </p:nvSpPr>
        <p:spPr>
          <a:xfrm>
            <a:off x="365760" y="274320"/>
            <a:ext cx="11430000" cy="64008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320040"/>
            <a:ext cx="365760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400" b="1" dirty="0">
                <a:solidFill>
                  <a:srgbClr val="FFFFFF"/>
                </a:solidFill>
                <a:latin typeface="Calibri"/>
              </a:rPr>
              <a:t>Q184 | 25/34</a:t>
            </a:r>
          </a:p>
        </p:txBody>
      </p:sp>
      <p:sp>
        <p:nvSpPr>
          <p:cNvPr id="0" name="T"/>
          <p:cNvSpPr txBox="1"/>
          <p:nvPr/>
        </p:nvSpPr>
        <p:spPr>
          <a:xfrm>
            <a:off x="7772400" y="320040"/>
            <a:ext cx="384048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r"/>
            <a:r>
              <a:rPr lang="en-US" sz="1400" b="1" dirty="0">
                <a:solidFill>
                  <a:srgbClr val="F39C12"/>
                </a:solidFill>
                <a:latin typeface="Calibri"/>
              </a:rPr>
              <a:t>MODERATE</a:t>
            </a:r>
          </a:p>
        </p:txBody>
      </p:sp>
      <p:sp>
        <p:nvSpPr>
          <p:cNvPr id="0" name="Cat"/>
          <p:cNvSpPr/>
          <p:nvPr/>
        </p:nvSpPr>
        <p:spPr>
          <a:xfrm>
            <a:off x="365760" y="1005840"/>
            <a:ext cx="2743200" cy="411480"/>
          </a:xfrm>
          <a:prstGeom prst="roundRect">
            <a:avLst>
              <a:gd name="adj" fmla="val 5000"/>
            </a:avLst>
          </a:prstGeom>
          <a:solidFill>
            <a:srgbClr val="E0A45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457200" y="1033271"/>
            <a:ext cx="2560320" cy="36576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100" b="1" dirty="0">
                <a:solidFill>
                  <a:srgbClr val="16233A"/>
                </a:solidFill>
                <a:latin typeface="Calibri"/>
              </a:rPr>
              <a:t>Current Affairs</a:t>
            </a:r>
          </a:p>
        </p:txBody>
      </p:sp>
      <p:sp>
        <p:nvSpPr>
          <p:cNvPr id="0" name="T"/>
          <p:cNvSpPr txBox="1"/>
          <p:nvPr/>
        </p:nvSpPr>
        <p:spPr>
          <a:xfrm>
            <a:off x="457200" y="1645920"/>
            <a:ext cx="11247120" cy="16459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2200" b="1" dirty="0">
                <a:solidFill>
                  <a:srgbClr val="FFFFFF"/>
                </a:solidFill>
                <a:latin typeface="Calibri"/>
              </a:rPr>
              <a:t>Sri Lanka ke vartaman Prime Minister kaun hain?</a:t>
            </a:r>
          </a:p>
        </p:txBody>
      </p:sp>
      <p:sp>
        <p:nvSpPr>
          <p:cNvPr id="0" name="O0"/>
          <p:cNvSpPr/>
          <p:nvPr/>
        </p:nvSpPr>
        <p:spPr>
          <a:xfrm>
            <a:off x="457200" y="365760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379476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(a) Anura Kumara Dissanayake</a:t>
            </a:r>
          </a:p>
        </p:txBody>
      </p:sp>
      <p:sp>
        <p:nvSpPr>
          <p:cNvPr id="0" name="O1"/>
          <p:cNvSpPr/>
          <p:nvPr/>
        </p:nvSpPr>
        <p:spPr>
          <a:xfrm>
            <a:off x="6217920" y="365760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6492240" y="379476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(b) Sirimavo Bhandaranaike</a:t>
            </a:r>
          </a:p>
        </p:txBody>
      </p:sp>
      <p:sp>
        <p:nvSpPr>
          <p:cNvPr id="0" name="O2"/>
          <p:cNvSpPr/>
          <p:nvPr/>
        </p:nvSpPr>
        <p:spPr>
          <a:xfrm>
            <a:off x="457200" y="493776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507492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(c) Harini Amarasuriya</a:t>
            </a:r>
          </a:p>
        </p:txBody>
      </p:sp>
      <p:sp>
        <p:nvSpPr>
          <p:cNvPr id="0" name="O3"/>
          <p:cNvSpPr/>
          <p:nvPr/>
        </p:nvSpPr>
        <p:spPr>
          <a:xfrm>
            <a:off x="6217920" y="493776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6492240" y="507492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(d) Swarna Jayavira</a:t>
            </a:r>
          </a:p>
        </p:txBody>
      </p:sp>
      <p:sp>
        <p:nvSpPr>
          <p:cNvPr id="0" name="Brand"/>
          <p:cNvSpPr/>
          <p:nvPr/>
        </p:nvSpPr>
        <p:spPr>
          <a:xfrm>
            <a:off x="365760" y="6217920"/>
            <a:ext cx="11430000" cy="457200"/>
          </a:xfrm>
          <a:prstGeom prst="roundRect">
            <a:avLst>
              <a:gd name="adj" fmla="val 5000"/>
            </a:avLst>
          </a:prstGeom>
          <a:solidFill>
            <a:srgbClr val="1623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6245352"/>
            <a:ext cx="109728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000" dirty="0">
                <a:solidFill>
                  <a:srgbClr val="C7CFDB"/>
                </a:solidFill>
                <a:latin typeface="Calibri"/>
              </a:rPr>
              <a:t>UKPSC DECODED  |  PCS  |  Lower PCS  |  RO/ARO  |  UKSSSC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ATop"/>
          <p:cNvSpPr/>
          <p:nvPr/>
        </p:nvSpPr>
        <p:spPr>
          <a:xfrm>
            <a:off x="365760" y="274320"/>
            <a:ext cx="11430000" cy="640080"/>
          </a:xfrm>
          <a:prstGeom prst="roundRect">
            <a:avLst>
              <a:gd name="adj" fmla="val 5000"/>
            </a:avLst>
          </a:prstGeom>
          <a:solidFill>
            <a:srgbClr val="2C6E4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320040"/>
            <a:ext cx="548640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b="1" dirty="0">
                <a:solidFill>
                  <a:srgbClr val="FFFFFF"/>
                </a:solidFill>
                <a:latin typeface="Calibri"/>
              </a:rPr>
              <a:t>Q184 — ANSWER REVEAL</a:t>
            </a:r>
          </a:p>
        </p:txBody>
      </p:sp>
      <p:sp>
        <p:nvSpPr>
          <p:cNvPr id="0" name="T"/>
          <p:cNvSpPr txBox="1"/>
          <p:nvPr/>
        </p:nvSpPr>
        <p:spPr>
          <a:xfrm>
            <a:off x="7772400" y="320040"/>
            <a:ext cx="384048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r"/>
            <a:r>
              <a:rPr lang="en-US" sz="1200" dirty="0">
                <a:solidFill>
                  <a:srgbClr val="C7CFDB"/>
                </a:solidFill>
                <a:latin typeface="Calibri"/>
              </a:rPr>
              <a:t>25/34</a:t>
            </a:r>
          </a:p>
        </p:txBody>
      </p:sp>
      <p:sp>
        <p:nvSpPr>
          <p:cNvPr id="0" name="T"/>
          <p:cNvSpPr txBox="1"/>
          <p:nvPr/>
        </p:nvSpPr>
        <p:spPr>
          <a:xfrm>
            <a:off x="457200" y="1097280"/>
            <a:ext cx="11247120" cy="109728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C7CFDB"/>
                </a:solidFill>
                <a:latin typeface="Calibri"/>
              </a:rPr>
              <a:t>Sri Lanka ke vartaman Prime Minister kaun hain?</a:t>
            </a:r>
          </a:p>
        </p:txBody>
      </p:sp>
      <p:sp>
        <p:nvSpPr>
          <p:cNvPr id="0" name="AnsBox"/>
          <p:cNvSpPr/>
          <p:nvPr/>
        </p:nvSpPr>
        <p:spPr>
          <a:xfrm>
            <a:off x="457200" y="2560320"/>
            <a:ext cx="11247120" cy="1097280"/>
          </a:xfrm>
          <a:prstGeom prst="roundRect">
            <a:avLst>
              <a:gd name="adj" fmla="val 5000"/>
            </a:avLst>
          </a:prstGeom>
          <a:solidFill>
            <a:srgbClr val="27AE6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2651760"/>
            <a:ext cx="10698480" cy="9144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2400" b="1" dirty="0">
                <a:solidFill>
                  <a:srgbClr val="FFFFFF"/>
                </a:solidFill>
                <a:latin typeface="Calibri"/>
              </a:rPr>
              <a:t>Answer: (c) Harini Amarasuriya</a:t>
            </a:r>
          </a:p>
        </p:txBody>
      </p:sp>
      <p:sp>
        <p:nvSpPr>
          <p:cNvPr id="0" name="DetBox"/>
          <p:cNvSpPr/>
          <p:nvPr/>
        </p:nvSpPr>
        <p:spPr>
          <a:xfrm>
            <a:off x="457200" y="3931920"/>
            <a:ext cx="11247120" cy="182880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4069080"/>
            <a:ext cx="10698480" cy="1554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200" b="1" dirty="0">
                <a:solidFill>
                  <a:srgbClr val="E0A458"/>
                </a:solidFill>
                <a:latin typeface="Calibri"/>
              </a:rPr>
              <a:t>Details:</a:t>
            </a:r>
          </a:p>
          <a:p>
            <a:pPr algn="l"/>
            <a:r>
              <a:rPr lang="en-US" sz="1400" dirty="0">
                <a:solidFill>
                  <a:srgbClr val="FFFFFF"/>
                </a:solidFill>
                <a:latin typeface="Calibri"/>
              </a:rPr>
              <a:t>President = Dissanayake, PM = Dr. Harini Amarasuriya.</a:t>
            </a:r>
          </a:p>
        </p:txBody>
      </p:sp>
      <p:sp>
        <p:nvSpPr>
          <p:cNvPr id="0" name="Brand2"/>
          <p:cNvSpPr/>
          <p:nvPr/>
        </p:nvSpPr>
        <p:spPr>
          <a:xfrm>
            <a:off x="365760" y="6217920"/>
            <a:ext cx="11430000" cy="457200"/>
          </a:xfrm>
          <a:prstGeom prst="roundRect">
            <a:avLst>
              <a:gd name="adj" fmla="val 5000"/>
            </a:avLst>
          </a:prstGeom>
          <a:solidFill>
            <a:srgbClr val="1623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6245352"/>
            <a:ext cx="109728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000" dirty="0">
                <a:solidFill>
                  <a:srgbClr val="C7CFDB"/>
                </a:solidFill>
                <a:latin typeface="Calibri"/>
              </a:rPr>
              <a:t>UKPSC DECODED  |  Telegram: @UKPSCDECODED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opBar"/>
          <p:cNvSpPr/>
          <p:nvPr/>
        </p:nvSpPr>
        <p:spPr>
          <a:xfrm>
            <a:off x="365760" y="274320"/>
            <a:ext cx="11430000" cy="64008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320040"/>
            <a:ext cx="365760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400" b="1" dirty="0">
                <a:solidFill>
                  <a:srgbClr val="FFFFFF"/>
                </a:solidFill>
                <a:latin typeface="Calibri"/>
              </a:rPr>
              <a:t>Q185 | 26/34</a:t>
            </a:r>
          </a:p>
        </p:txBody>
      </p:sp>
      <p:sp>
        <p:nvSpPr>
          <p:cNvPr id="0" name="T"/>
          <p:cNvSpPr txBox="1"/>
          <p:nvPr/>
        </p:nvSpPr>
        <p:spPr>
          <a:xfrm>
            <a:off x="7772400" y="320040"/>
            <a:ext cx="384048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r"/>
            <a:r>
              <a:rPr lang="en-US" sz="1400" b="1" dirty="0">
                <a:solidFill>
                  <a:srgbClr val="F39C12"/>
                </a:solidFill>
                <a:latin typeface="Calibri"/>
              </a:rPr>
              <a:t>MODERATE</a:t>
            </a:r>
          </a:p>
        </p:txBody>
      </p:sp>
      <p:sp>
        <p:nvSpPr>
          <p:cNvPr id="0" name="Cat"/>
          <p:cNvSpPr/>
          <p:nvPr/>
        </p:nvSpPr>
        <p:spPr>
          <a:xfrm>
            <a:off x="365760" y="1005840"/>
            <a:ext cx="2743200" cy="411480"/>
          </a:xfrm>
          <a:prstGeom prst="roundRect">
            <a:avLst>
              <a:gd name="adj" fmla="val 5000"/>
            </a:avLst>
          </a:prstGeom>
          <a:solidFill>
            <a:srgbClr val="E0A45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457200" y="1033271"/>
            <a:ext cx="2560320" cy="36576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100" b="1" dirty="0">
                <a:solidFill>
                  <a:srgbClr val="16233A"/>
                </a:solidFill>
                <a:latin typeface="Calibri"/>
              </a:rPr>
              <a:t>Current Affairs</a:t>
            </a:r>
          </a:p>
        </p:txBody>
      </p:sp>
      <p:sp>
        <p:nvSpPr>
          <p:cNvPr id="0" name="T"/>
          <p:cNvSpPr txBox="1"/>
          <p:nvPr/>
        </p:nvSpPr>
        <p:spPr>
          <a:xfrm>
            <a:off x="457200" y="1645920"/>
            <a:ext cx="11247120" cy="16459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2200" b="1" dirty="0">
                <a:solidFill>
                  <a:srgbClr val="FFFFFF"/>
                </a:solidFill>
                <a:latin typeface="Calibri"/>
              </a:rPr>
              <a:t>Jal Jeevan Mission ki avadhi kis varsh tak badhayi gayi?</a:t>
            </a:r>
          </a:p>
        </p:txBody>
      </p:sp>
      <p:sp>
        <p:nvSpPr>
          <p:cNvPr id="0" name="O0"/>
          <p:cNvSpPr/>
          <p:nvPr/>
        </p:nvSpPr>
        <p:spPr>
          <a:xfrm>
            <a:off x="457200" y="365760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379476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(a) 2027 tak</a:t>
            </a:r>
          </a:p>
        </p:txBody>
      </p:sp>
      <p:sp>
        <p:nvSpPr>
          <p:cNvPr id="0" name="O1"/>
          <p:cNvSpPr/>
          <p:nvPr/>
        </p:nvSpPr>
        <p:spPr>
          <a:xfrm>
            <a:off x="6217920" y="365760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6492240" y="379476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(b) 2028 tak</a:t>
            </a:r>
          </a:p>
        </p:txBody>
      </p:sp>
      <p:sp>
        <p:nvSpPr>
          <p:cNvPr id="0" name="O2"/>
          <p:cNvSpPr/>
          <p:nvPr/>
        </p:nvSpPr>
        <p:spPr>
          <a:xfrm>
            <a:off x="457200" y="493776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507492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(c) 2029 tak</a:t>
            </a:r>
          </a:p>
        </p:txBody>
      </p:sp>
      <p:sp>
        <p:nvSpPr>
          <p:cNvPr id="0" name="O3"/>
          <p:cNvSpPr/>
          <p:nvPr/>
        </p:nvSpPr>
        <p:spPr>
          <a:xfrm>
            <a:off x="6217920" y="493776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6492240" y="507492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(d) 2030 tak</a:t>
            </a:r>
          </a:p>
        </p:txBody>
      </p:sp>
      <p:sp>
        <p:nvSpPr>
          <p:cNvPr id="0" name="Brand"/>
          <p:cNvSpPr/>
          <p:nvPr/>
        </p:nvSpPr>
        <p:spPr>
          <a:xfrm>
            <a:off x="365760" y="6217920"/>
            <a:ext cx="11430000" cy="457200"/>
          </a:xfrm>
          <a:prstGeom prst="roundRect">
            <a:avLst>
              <a:gd name="adj" fmla="val 5000"/>
            </a:avLst>
          </a:prstGeom>
          <a:solidFill>
            <a:srgbClr val="1623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6245352"/>
            <a:ext cx="109728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000" dirty="0">
                <a:solidFill>
                  <a:srgbClr val="C7CFDB"/>
                </a:solidFill>
                <a:latin typeface="Calibri"/>
              </a:rPr>
              <a:t>UKPSC DECODED  |  PCS  |  Lower PCS  |  RO/ARO  |  UKSSSC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ATop"/>
          <p:cNvSpPr/>
          <p:nvPr/>
        </p:nvSpPr>
        <p:spPr>
          <a:xfrm>
            <a:off x="365760" y="274320"/>
            <a:ext cx="11430000" cy="640080"/>
          </a:xfrm>
          <a:prstGeom prst="roundRect">
            <a:avLst>
              <a:gd name="adj" fmla="val 5000"/>
            </a:avLst>
          </a:prstGeom>
          <a:solidFill>
            <a:srgbClr val="2C6E4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320040"/>
            <a:ext cx="548640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b="1" dirty="0">
                <a:solidFill>
                  <a:srgbClr val="FFFFFF"/>
                </a:solidFill>
                <a:latin typeface="Calibri"/>
              </a:rPr>
              <a:t>Q185 — ANSWER REVEAL</a:t>
            </a:r>
          </a:p>
        </p:txBody>
      </p:sp>
      <p:sp>
        <p:nvSpPr>
          <p:cNvPr id="0" name="T"/>
          <p:cNvSpPr txBox="1"/>
          <p:nvPr/>
        </p:nvSpPr>
        <p:spPr>
          <a:xfrm>
            <a:off x="7772400" y="320040"/>
            <a:ext cx="384048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r"/>
            <a:r>
              <a:rPr lang="en-US" sz="1200" dirty="0">
                <a:solidFill>
                  <a:srgbClr val="C7CFDB"/>
                </a:solidFill>
                <a:latin typeface="Calibri"/>
              </a:rPr>
              <a:t>26/34</a:t>
            </a:r>
          </a:p>
        </p:txBody>
      </p:sp>
      <p:sp>
        <p:nvSpPr>
          <p:cNvPr id="0" name="T"/>
          <p:cNvSpPr txBox="1"/>
          <p:nvPr/>
        </p:nvSpPr>
        <p:spPr>
          <a:xfrm>
            <a:off x="457200" y="1097280"/>
            <a:ext cx="11247120" cy="109728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C7CFDB"/>
                </a:solidFill>
                <a:latin typeface="Calibri"/>
              </a:rPr>
              <a:t>Jal Jeevan Mission ki avadhi kis varsh tak badhayi gayi?</a:t>
            </a:r>
          </a:p>
        </p:txBody>
      </p:sp>
      <p:sp>
        <p:nvSpPr>
          <p:cNvPr id="0" name="AnsBox"/>
          <p:cNvSpPr/>
          <p:nvPr/>
        </p:nvSpPr>
        <p:spPr>
          <a:xfrm>
            <a:off x="457200" y="2560320"/>
            <a:ext cx="11247120" cy="1097280"/>
          </a:xfrm>
          <a:prstGeom prst="roundRect">
            <a:avLst>
              <a:gd name="adj" fmla="val 5000"/>
            </a:avLst>
          </a:prstGeom>
          <a:solidFill>
            <a:srgbClr val="27AE6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2651760"/>
            <a:ext cx="10698480" cy="9144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2400" b="1" dirty="0">
                <a:solidFill>
                  <a:srgbClr val="FFFFFF"/>
                </a:solidFill>
                <a:latin typeface="Calibri"/>
              </a:rPr>
              <a:t>Answer: (b) 2028 tak</a:t>
            </a:r>
          </a:p>
        </p:txBody>
      </p:sp>
      <p:sp>
        <p:nvSpPr>
          <p:cNvPr id="0" name="DetBox"/>
          <p:cNvSpPr/>
          <p:nvPr/>
        </p:nvSpPr>
        <p:spPr>
          <a:xfrm>
            <a:off x="457200" y="3931920"/>
            <a:ext cx="11247120" cy="182880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4069080"/>
            <a:ext cx="10698480" cy="1554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200" b="1" dirty="0">
                <a:solidFill>
                  <a:srgbClr val="E0A458"/>
                </a:solidFill>
                <a:latin typeface="Calibri"/>
              </a:rPr>
              <a:t>Details:</a:t>
            </a:r>
          </a:p>
          <a:p>
            <a:pPr algn="l"/>
            <a:r>
              <a:rPr lang="en-US" sz="1400" dirty="0">
                <a:solidFill>
                  <a:srgbClr val="FFFFFF"/>
                </a:solidFill>
                <a:latin typeface="Calibri"/>
              </a:rPr>
              <a:t>Extended till December 2028 for rural piped water targets.</a:t>
            </a:r>
          </a:p>
        </p:txBody>
      </p:sp>
      <p:sp>
        <p:nvSpPr>
          <p:cNvPr id="0" name="Brand2"/>
          <p:cNvSpPr/>
          <p:nvPr/>
        </p:nvSpPr>
        <p:spPr>
          <a:xfrm>
            <a:off x="365760" y="6217920"/>
            <a:ext cx="11430000" cy="457200"/>
          </a:xfrm>
          <a:prstGeom prst="roundRect">
            <a:avLst>
              <a:gd name="adj" fmla="val 5000"/>
            </a:avLst>
          </a:prstGeom>
          <a:solidFill>
            <a:srgbClr val="1623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6245352"/>
            <a:ext cx="109728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000" dirty="0">
                <a:solidFill>
                  <a:srgbClr val="C7CFDB"/>
                </a:solidFill>
                <a:latin typeface="Calibri"/>
              </a:rPr>
              <a:t>UKPSC DECODED  |  Telegram: @UKPSCDECODED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opBar"/>
          <p:cNvSpPr/>
          <p:nvPr/>
        </p:nvSpPr>
        <p:spPr>
          <a:xfrm>
            <a:off x="365760" y="274320"/>
            <a:ext cx="11430000" cy="64008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320040"/>
            <a:ext cx="365760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400" b="1" dirty="0">
                <a:solidFill>
                  <a:srgbClr val="FFFFFF"/>
                </a:solidFill>
                <a:latin typeface="Calibri"/>
              </a:rPr>
              <a:t>Q186 | 27/34</a:t>
            </a:r>
          </a:p>
        </p:txBody>
      </p:sp>
      <p:sp>
        <p:nvSpPr>
          <p:cNvPr id="0" name="T"/>
          <p:cNvSpPr txBox="1"/>
          <p:nvPr/>
        </p:nvSpPr>
        <p:spPr>
          <a:xfrm>
            <a:off x="7772400" y="320040"/>
            <a:ext cx="384048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r"/>
            <a:r>
              <a:rPr lang="en-US" sz="1400" b="1" dirty="0">
                <a:solidFill>
                  <a:srgbClr val="27AE60"/>
                </a:solidFill>
                <a:latin typeface="Calibri"/>
              </a:rPr>
              <a:t>EASY</a:t>
            </a:r>
          </a:p>
        </p:txBody>
      </p:sp>
      <p:sp>
        <p:nvSpPr>
          <p:cNvPr id="0" name="Cat"/>
          <p:cNvSpPr/>
          <p:nvPr/>
        </p:nvSpPr>
        <p:spPr>
          <a:xfrm>
            <a:off x="365760" y="1005840"/>
            <a:ext cx="2743200" cy="411480"/>
          </a:xfrm>
          <a:prstGeom prst="roundRect">
            <a:avLst>
              <a:gd name="adj" fmla="val 5000"/>
            </a:avLst>
          </a:prstGeom>
          <a:solidFill>
            <a:srgbClr val="E0A45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457200" y="1033271"/>
            <a:ext cx="2560320" cy="36576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100" b="1" dirty="0">
                <a:solidFill>
                  <a:srgbClr val="16233A"/>
                </a:solidFill>
                <a:latin typeface="Calibri"/>
              </a:rPr>
              <a:t>Current Affairs</a:t>
            </a:r>
          </a:p>
        </p:txBody>
      </p:sp>
      <p:sp>
        <p:nvSpPr>
          <p:cNvPr id="0" name="T"/>
          <p:cNvSpPr txBox="1"/>
          <p:nvPr/>
        </p:nvSpPr>
        <p:spPr>
          <a:xfrm>
            <a:off x="457200" y="1645920"/>
            <a:ext cx="11247120" cy="16459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2200" b="1" dirty="0">
                <a:solidFill>
                  <a:srgbClr val="FFFFFF"/>
                </a:solidFill>
                <a:latin typeface="Calibri"/>
              </a:rPr>
              <a:t>International Women's Day 2026 ka theme kya hai?</a:t>
            </a:r>
          </a:p>
        </p:txBody>
      </p:sp>
      <p:sp>
        <p:nvSpPr>
          <p:cNvPr id="0" name="O0"/>
          <p:cNvSpPr/>
          <p:nvPr/>
        </p:nvSpPr>
        <p:spPr>
          <a:xfrm>
            <a:off x="457200" y="365760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379476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(a) Mahila Sashaktikaran</a:t>
            </a:r>
          </a:p>
        </p:txBody>
      </p:sp>
      <p:sp>
        <p:nvSpPr>
          <p:cNvPr id="0" name="O1"/>
          <p:cNvSpPr/>
          <p:nvPr/>
        </p:nvSpPr>
        <p:spPr>
          <a:xfrm>
            <a:off x="6217920" y="365760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6492240" y="379476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(b) Samaveshi Adhikar</a:t>
            </a:r>
          </a:p>
        </p:txBody>
      </p:sp>
      <p:sp>
        <p:nvSpPr>
          <p:cNvPr id="0" name="O2"/>
          <p:cNvSpPr/>
          <p:nvPr/>
        </p:nvSpPr>
        <p:spPr>
          <a:xfrm>
            <a:off x="457200" y="493776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507492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(c) Ab Laingik Samanta</a:t>
            </a:r>
          </a:p>
        </p:txBody>
      </p:sp>
      <p:sp>
        <p:nvSpPr>
          <p:cNvPr id="0" name="O3"/>
          <p:cNvSpPr/>
          <p:nvPr/>
        </p:nvSpPr>
        <p:spPr>
          <a:xfrm>
            <a:off x="6217920" y="493776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6492240" y="507492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(d) Rights. Justice. Action. For ALL Women and Girls</a:t>
            </a:r>
          </a:p>
        </p:txBody>
      </p:sp>
      <p:sp>
        <p:nvSpPr>
          <p:cNvPr id="0" name="Brand"/>
          <p:cNvSpPr/>
          <p:nvPr/>
        </p:nvSpPr>
        <p:spPr>
          <a:xfrm>
            <a:off x="365760" y="6217920"/>
            <a:ext cx="11430000" cy="457200"/>
          </a:xfrm>
          <a:prstGeom prst="roundRect">
            <a:avLst>
              <a:gd name="adj" fmla="val 5000"/>
            </a:avLst>
          </a:prstGeom>
          <a:solidFill>
            <a:srgbClr val="1623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6245352"/>
            <a:ext cx="109728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000" dirty="0">
                <a:solidFill>
                  <a:srgbClr val="C7CFDB"/>
                </a:solidFill>
                <a:latin typeface="Calibri"/>
              </a:rPr>
              <a:t>UKPSC DECODED  |  PCS  |  Lower PCS  |  RO/ARO  |  UKSSSC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ATop"/>
          <p:cNvSpPr/>
          <p:nvPr/>
        </p:nvSpPr>
        <p:spPr>
          <a:xfrm>
            <a:off x="365760" y="274320"/>
            <a:ext cx="11430000" cy="640080"/>
          </a:xfrm>
          <a:prstGeom prst="roundRect">
            <a:avLst>
              <a:gd name="adj" fmla="val 5000"/>
            </a:avLst>
          </a:prstGeom>
          <a:solidFill>
            <a:srgbClr val="2C6E4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320040"/>
            <a:ext cx="548640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b="1" dirty="0">
                <a:solidFill>
                  <a:srgbClr val="FFFFFF"/>
                </a:solidFill>
                <a:latin typeface="Calibri"/>
              </a:rPr>
              <a:t>Q186 — ANSWER REVEAL</a:t>
            </a:r>
          </a:p>
        </p:txBody>
      </p:sp>
      <p:sp>
        <p:nvSpPr>
          <p:cNvPr id="0" name="T"/>
          <p:cNvSpPr txBox="1"/>
          <p:nvPr/>
        </p:nvSpPr>
        <p:spPr>
          <a:xfrm>
            <a:off x="7772400" y="320040"/>
            <a:ext cx="384048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r"/>
            <a:r>
              <a:rPr lang="en-US" sz="1200" dirty="0">
                <a:solidFill>
                  <a:srgbClr val="C7CFDB"/>
                </a:solidFill>
                <a:latin typeface="Calibri"/>
              </a:rPr>
              <a:t>27/34</a:t>
            </a:r>
          </a:p>
        </p:txBody>
      </p:sp>
      <p:sp>
        <p:nvSpPr>
          <p:cNvPr id="0" name="T"/>
          <p:cNvSpPr txBox="1"/>
          <p:nvPr/>
        </p:nvSpPr>
        <p:spPr>
          <a:xfrm>
            <a:off x="457200" y="1097280"/>
            <a:ext cx="11247120" cy="109728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C7CFDB"/>
                </a:solidFill>
                <a:latin typeface="Calibri"/>
              </a:rPr>
              <a:t>International Women's Day 2026 ka theme kya hai?</a:t>
            </a:r>
          </a:p>
        </p:txBody>
      </p:sp>
      <p:sp>
        <p:nvSpPr>
          <p:cNvPr id="0" name="AnsBox"/>
          <p:cNvSpPr/>
          <p:nvPr/>
        </p:nvSpPr>
        <p:spPr>
          <a:xfrm>
            <a:off x="457200" y="2560320"/>
            <a:ext cx="11247120" cy="1097280"/>
          </a:xfrm>
          <a:prstGeom prst="roundRect">
            <a:avLst>
              <a:gd name="adj" fmla="val 5000"/>
            </a:avLst>
          </a:prstGeom>
          <a:solidFill>
            <a:srgbClr val="27AE6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2651760"/>
            <a:ext cx="10698480" cy="9144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2400" b="1" dirty="0">
                <a:solidFill>
                  <a:srgbClr val="FFFFFF"/>
                </a:solidFill>
                <a:latin typeface="Calibri"/>
              </a:rPr>
              <a:t>Answer: (d) Rights. Justice. Action. For ALL Women and Girls</a:t>
            </a:r>
          </a:p>
        </p:txBody>
      </p:sp>
      <p:sp>
        <p:nvSpPr>
          <p:cNvPr id="0" name="DetBox"/>
          <p:cNvSpPr/>
          <p:nvPr/>
        </p:nvSpPr>
        <p:spPr>
          <a:xfrm>
            <a:off x="457200" y="3931920"/>
            <a:ext cx="11247120" cy="182880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4069080"/>
            <a:ext cx="10698480" cy="1554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200" b="1" dirty="0">
                <a:solidFill>
                  <a:srgbClr val="E0A458"/>
                </a:solidFill>
                <a:latin typeface="Calibri"/>
              </a:rPr>
              <a:t>Details:</a:t>
            </a:r>
          </a:p>
          <a:p>
            <a:pPr algn="l"/>
            <a:r>
              <a:rPr lang="en-US" sz="1400" dirty="0">
                <a:solidFill>
                  <a:srgbClr val="FFFFFF"/>
                </a:solidFill>
                <a:latin typeface="Calibri"/>
              </a:rPr>
              <a:t>UN Women official theme 2026.</a:t>
            </a:r>
          </a:p>
        </p:txBody>
      </p:sp>
      <p:sp>
        <p:nvSpPr>
          <p:cNvPr id="0" name="Brand2"/>
          <p:cNvSpPr/>
          <p:nvPr/>
        </p:nvSpPr>
        <p:spPr>
          <a:xfrm>
            <a:off x="365760" y="6217920"/>
            <a:ext cx="11430000" cy="457200"/>
          </a:xfrm>
          <a:prstGeom prst="roundRect">
            <a:avLst>
              <a:gd name="adj" fmla="val 5000"/>
            </a:avLst>
          </a:prstGeom>
          <a:solidFill>
            <a:srgbClr val="1623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6245352"/>
            <a:ext cx="109728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000" dirty="0">
                <a:solidFill>
                  <a:srgbClr val="C7CFDB"/>
                </a:solidFill>
                <a:latin typeface="Calibri"/>
              </a:rPr>
              <a:t>UKPSC DECODED  |  Telegram: @UKPSCDECODED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opBar"/>
          <p:cNvSpPr/>
          <p:nvPr/>
        </p:nvSpPr>
        <p:spPr>
          <a:xfrm>
            <a:off x="365760" y="274320"/>
            <a:ext cx="11430000" cy="64008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320040"/>
            <a:ext cx="365760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400" b="1" dirty="0">
                <a:solidFill>
                  <a:srgbClr val="FFFFFF"/>
                </a:solidFill>
                <a:latin typeface="Calibri"/>
              </a:rPr>
              <a:t>Q187 | 28/34</a:t>
            </a:r>
          </a:p>
        </p:txBody>
      </p:sp>
      <p:sp>
        <p:nvSpPr>
          <p:cNvPr id="0" name="T"/>
          <p:cNvSpPr txBox="1"/>
          <p:nvPr/>
        </p:nvSpPr>
        <p:spPr>
          <a:xfrm>
            <a:off x="7772400" y="320040"/>
            <a:ext cx="384048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r"/>
            <a:r>
              <a:rPr lang="en-US" sz="1400" b="1" dirty="0">
                <a:solidFill>
                  <a:srgbClr val="E74C3C"/>
                </a:solidFill>
                <a:latin typeface="Calibri"/>
              </a:rPr>
              <a:t>TOUGH</a:t>
            </a:r>
          </a:p>
        </p:txBody>
      </p:sp>
      <p:sp>
        <p:nvSpPr>
          <p:cNvPr id="0" name="Cat"/>
          <p:cNvSpPr/>
          <p:nvPr/>
        </p:nvSpPr>
        <p:spPr>
          <a:xfrm>
            <a:off x="365760" y="1005840"/>
            <a:ext cx="2743200" cy="411480"/>
          </a:xfrm>
          <a:prstGeom prst="roundRect">
            <a:avLst>
              <a:gd name="adj" fmla="val 5000"/>
            </a:avLst>
          </a:prstGeom>
          <a:solidFill>
            <a:srgbClr val="E0A45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457200" y="1033271"/>
            <a:ext cx="2560320" cy="36576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100" b="1" dirty="0">
                <a:solidFill>
                  <a:srgbClr val="16233A"/>
                </a:solidFill>
                <a:latin typeface="Calibri"/>
              </a:rPr>
              <a:t>Current Affairs</a:t>
            </a:r>
          </a:p>
        </p:txBody>
      </p:sp>
      <p:sp>
        <p:nvSpPr>
          <p:cNvPr id="0" name="T"/>
          <p:cNvSpPr txBox="1"/>
          <p:nvPr/>
        </p:nvSpPr>
        <p:spPr>
          <a:xfrm>
            <a:off x="457200" y="1645920"/>
            <a:ext cx="11247120" cy="16459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2200" b="1" dirty="0">
                <a:solidFill>
                  <a:srgbClr val="FFFFFF"/>
                </a:solidFill>
                <a:latin typeface="Calibri"/>
              </a:rPr>
              <a:t>India ki pehli completely paperless district court kahan inaugurate hui?</a:t>
            </a:r>
          </a:p>
        </p:txBody>
      </p:sp>
      <p:sp>
        <p:nvSpPr>
          <p:cNvPr id="0" name="O0"/>
          <p:cNvSpPr/>
          <p:nvPr/>
        </p:nvSpPr>
        <p:spPr>
          <a:xfrm>
            <a:off x="457200" y="365760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379476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(a) Kerala</a:t>
            </a:r>
          </a:p>
        </p:txBody>
      </p:sp>
      <p:sp>
        <p:nvSpPr>
          <p:cNvPr id="0" name="O1"/>
          <p:cNvSpPr/>
          <p:nvPr/>
        </p:nvSpPr>
        <p:spPr>
          <a:xfrm>
            <a:off x="6217920" y="365760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6492240" y="379476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(b) Tamil Nadu</a:t>
            </a:r>
          </a:p>
        </p:txBody>
      </p:sp>
      <p:sp>
        <p:nvSpPr>
          <p:cNvPr id="0" name="O2"/>
          <p:cNvSpPr/>
          <p:nvPr/>
        </p:nvSpPr>
        <p:spPr>
          <a:xfrm>
            <a:off x="457200" y="493776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507492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(c) New Delhi</a:t>
            </a:r>
          </a:p>
        </p:txBody>
      </p:sp>
      <p:sp>
        <p:nvSpPr>
          <p:cNvPr id="0" name="O3"/>
          <p:cNvSpPr/>
          <p:nvPr/>
        </p:nvSpPr>
        <p:spPr>
          <a:xfrm>
            <a:off x="6217920" y="493776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6492240" y="507492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(d) Haryana</a:t>
            </a:r>
          </a:p>
        </p:txBody>
      </p:sp>
      <p:sp>
        <p:nvSpPr>
          <p:cNvPr id="0" name="Brand"/>
          <p:cNvSpPr/>
          <p:nvPr/>
        </p:nvSpPr>
        <p:spPr>
          <a:xfrm>
            <a:off x="365760" y="6217920"/>
            <a:ext cx="11430000" cy="457200"/>
          </a:xfrm>
          <a:prstGeom prst="roundRect">
            <a:avLst>
              <a:gd name="adj" fmla="val 5000"/>
            </a:avLst>
          </a:prstGeom>
          <a:solidFill>
            <a:srgbClr val="1623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6245352"/>
            <a:ext cx="109728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000" dirty="0">
                <a:solidFill>
                  <a:srgbClr val="C7CFDB"/>
                </a:solidFill>
                <a:latin typeface="Calibri"/>
              </a:rPr>
              <a:t>UKPSC DECODED  |  PCS  |  Lower PCS  |  RO/ARO  |  UKSSSC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ATop"/>
          <p:cNvSpPr/>
          <p:nvPr/>
        </p:nvSpPr>
        <p:spPr>
          <a:xfrm>
            <a:off x="365760" y="274320"/>
            <a:ext cx="11430000" cy="640080"/>
          </a:xfrm>
          <a:prstGeom prst="roundRect">
            <a:avLst>
              <a:gd name="adj" fmla="val 5000"/>
            </a:avLst>
          </a:prstGeom>
          <a:solidFill>
            <a:srgbClr val="2C6E4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320040"/>
            <a:ext cx="548640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b="1" dirty="0">
                <a:solidFill>
                  <a:srgbClr val="FFFFFF"/>
                </a:solidFill>
                <a:latin typeface="Calibri"/>
              </a:rPr>
              <a:t>Q187 — ANSWER REVEAL</a:t>
            </a:r>
          </a:p>
        </p:txBody>
      </p:sp>
      <p:sp>
        <p:nvSpPr>
          <p:cNvPr id="0" name="T"/>
          <p:cNvSpPr txBox="1"/>
          <p:nvPr/>
        </p:nvSpPr>
        <p:spPr>
          <a:xfrm>
            <a:off x="7772400" y="320040"/>
            <a:ext cx="384048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r"/>
            <a:r>
              <a:rPr lang="en-US" sz="1200" dirty="0">
                <a:solidFill>
                  <a:srgbClr val="C7CFDB"/>
                </a:solidFill>
                <a:latin typeface="Calibri"/>
              </a:rPr>
              <a:t>28/34</a:t>
            </a:r>
          </a:p>
        </p:txBody>
      </p:sp>
      <p:sp>
        <p:nvSpPr>
          <p:cNvPr id="0" name="T"/>
          <p:cNvSpPr txBox="1"/>
          <p:nvPr/>
        </p:nvSpPr>
        <p:spPr>
          <a:xfrm>
            <a:off x="457200" y="1097280"/>
            <a:ext cx="11247120" cy="109728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C7CFDB"/>
                </a:solidFill>
                <a:latin typeface="Calibri"/>
              </a:rPr>
              <a:t>India ki pehli completely paperless district court kahan inaugurate hui?</a:t>
            </a:r>
          </a:p>
        </p:txBody>
      </p:sp>
      <p:sp>
        <p:nvSpPr>
          <p:cNvPr id="0" name="AnsBox"/>
          <p:cNvSpPr/>
          <p:nvPr/>
        </p:nvSpPr>
        <p:spPr>
          <a:xfrm>
            <a:off x="457200" y="2560320"/>
            <a:ext cx="11247120" cy="1097280"/>
          </a:xfrm>
          <a:prstGeom prst="roundRect">
            <a:avLst>
              <a:gd name="adj" fmla="val 5000"/>
            </a:avLst>
          </a:prstGeom>
          <a:solidFill>
            <a:srgbClr val="27AE6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2651760"/>
            <a:ext cx="10698480" cy="9144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2400" b="1" dirty="0">
                <a:solidFill>
                  <a:srgbClr val="FFFFFF"/>
                </a:solidFill>
                <a:latin typeface="Calibri"/>
              </a:rPr>
              <a:t>Answer: (a) Kerala</a:t>
            </a:r>
          </a:p>
        </p:txBody>
      </p:sp>
      <p:sp>
        <p:nvSpPr>
          <p:cNvPr id="0" name="DetBox"/>
          <p:cNvSpPr/>
          <p:nvPr/>
        </p:nvSpPr>
        <p:spPr>
          <a:xfrm>
            <a:off x="457200" y="3931920"/>
            <a:ext cx="11247120" cy="182880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4069080"/>
            <a:ext cx="10698480" cy="1554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200" b="1" dirty="0">
                <a:solidFill>
                  <a:srgbClr val="E0A458"/>
                </a:solidFill>
                <a:latin typeface="Calibri"/>
              </a:rPr>
              <a:t>Details:</a:t>
            </a:r>
          </a:p>
          <a:p>
            <a:pPr algn="l"/>
            <a:r>
              <a:rPr lang="en-US" sz="1400" dirty="0">
                <a:solidFill>
                  <a:srgbClr val="FFFFFF"/>
                </a:solidFill>
                <a:latin typeface="Calibri"/>
              </a:rPr>
              <a:t>CJI Suryakant inaugurated at Kalpetta, Wayanad (Jan 2026).</a:t>
            </a:r>
          </a:p>
        </p:txBody>
      </p:sp>
      <p:sp>
        <p:nvSpPr>
          <p:cNvPr id="0" name="Brand2"/>
          <p:cNvSpPr/>
          <p:nvPr/>
        </p:nvSpPr>
        <p:spPr>
          <a:xfrm>
            <a:off x="365760" y="6217920"/>
            <a:ext cx="11430000" cy="457200"/>
          </a:xfrm>
          <a:prstGeom prst="roundRect">
            <a:avLst>
              <a:gd name="adj" fmla="val 5000"/>
            </a:avLst>
          </a:prstGeom>
          <a:solidFill>
            <a:srgbClr val="1623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6245352"/>
            <a:ext cx="109728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000" dirty="0">
                <a:solidFill>
                  <a:srgbClr val="C7CFDB"/>
                </a:solidFill>
                <a:latin typeface="Calibri"/>
              </a:rPr>
              <a:t>UKPSC DECODED  |  Telegram: @UKPSCDECODED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opBar"/>
          <p:cNvSpPr/>
          <p:nvPr/>
        </p:nvSpPr>
        <p:spPr>
          <a:xfrm>
            <a:off x="365760" y="274320"/>
            <a:ext cx="11430000" cy="64008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320040"/>
            <a:ext cx="365760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400" b="1" dirty="0">
                <a:solidFill>
                  <a:srgbClr val="FFFFFF"/>
                </a:solidFill>
                <a:latin typeface="Calibri"/>
              </a:rPr>
              <a:t>Q188 | 29/34</a:t>
            </a:r>
          </a:p>
        </p:txBody>
      </p:sp>
      <p:sp>
        <p:nvSpPr>
          <p:cNvPr id="0" name="T"/>
          <p:cNvSpPr txBox="1"/>
          <p:nvPr/>
        </p:nvSpPr>
        <p:spPr>
          <a:xfrm>
            <a:off x="7772400" y="320040"/>
            <a:ext cx="384048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r"/>
            <a:r>
              <a:rPr lang="en-US" sz="1400" b="1" dirty="0">
                <a:solidFill>
                  <a:srgbClr val="F39C12"/>
                </a:solidFill>
                <a:latin typeface="Calibri"/>
              </a:rPr>
              <a:t>MODERATE</a:t>
            </a:r>
          </a:p>
        </p:txBody>
      </p:sp>
      <p:sp>
        <p:nvSpPr>
          <p:cNvPr id="0" name="Cat"/>
          <p:cNvSpPr/>
          <p:nvPr/>
        </p:nvSpPr>
        <p:spPr>
          <a:xfrm>
            <a:off x="365760" y="1005840"/>
            <a:ext cx="2743200" cy="411480"/>
          </a:xfrm>
          <a:prstGeom prst="roundRect">
            <a:avLst>
              <a:gd name="adj" fmla="val 5000"/>
            </a:avLst>
          </a:prstGeom>
          <a:solidFill>
            <a:srgbClr val="E0A45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457200" y="1033271"/>
            <a:ext cx="2560320" cy="36576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100" b="1" dirty="0">
                <a:solidFill>
                  <a:srgbClr val="16233A"/>
                </a:solidFill>
                <a:latin typeface="Calibri"/>
              </a:rPr>
              <a:t>Current Affairs</a:t>
            </a:r>
          </a:p>
        </p:txBody>
      </p:sp>
      <p:sp>
        <p:nvSpPr>
          <p:cNvPr id="0" name="T"/>
          <p:cNvSpPr txBox="1"/>
          <p:nvPr/>
        </p:nvSpPr>
        <p:spPr>
          <a:xfrm>
            <a:off x="457200" y="1645920"/>
            <a:ext cx="11247120" cy="16459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2200" b="1" dirty="0">
                <a:solidFill>
                  <a:srgbClr val="FFFFFF"/>
                </a:solidFill>
                <a:latin typeface="Calibri"/>
              </a:rPr>
              <a:t>January 2026 mein Rashtrapati dwara Ashoka Chakra kise diya gaya?</a:t>
            </a:r>
          </a:p>
        </p:txBody>
      </p:sp>
      <p:sp>
        <p:nvSpPr>
          <p:cNvPr id="0" name="O0"/>
          <p:cNvSpPr/>
          <p:nvPr/>
        </p:nvSpPr>
        <p:spPr>
          <a:xfrm>
            <a:off x="457200" y="365760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379476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(a) Ajit Doval</a:t>
            </a:r>
          </a:p>
        </p:txBody>
      </p:sp>
      <p:sp>
        <p:nvSpPr>
          <p:cNvPr id="0" name="O1"/>
          <p:cNvSpPr/>
          <p:nvPr/>
        </p:nvSpPr>
        <p:spPr>
          <a:xfrm>
            <a:off x="6217920" y="365760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6492240" y="379476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(b) Shubhanshu Shukla</a:t>
            </a:r>
          </a:p>
        </p:txBody>
      </p:sp>
      <p:sp>
        <p:nvSpPr>
          <p:cNvPr id="0" name="O2"/>
          <p:cNvSpPr/>
          <p:nvPr/>
        </p:nvSpPr>
        <p:spPr>
          <a:xfrm>
            <a:off x="457200" y="493776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507492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(c) Manoj Pandey</a:t>
            </a:r>
          </a:p>
        </p:txBody>
      </p:sp>
      <p:sp>
        <p:nvSpPr>
          <p:cNvPr id="0" name="O3"/>
          <p:cNvSpPr/>
          <p:nvPr/>
        </p:nvSpPr>
        <p:spPr>
          <a:xfrm>
            <a:off x="6217920" y="493776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6492240" y="507492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(d) Amar Preet Singh</a:t>
            </a:r>
          </a:p>
        </p:txBody>
      </p:sp>
      <p:sp>
        <p:nvSpPr>
          <p:cNvPr id="0" name="Brand"/>
          <p:cNvSpPr/>
          <p:nvPr/>
        </p:nvSpPr>
        <p:spPr>
          <a:xfrm>
            <a:off x="365760" y="6217920"/>
            <a:ext cx="11430000" cy="457200"/>
          </a:xfrm>
          <a:prstGeom prst="roundRect">
            <a:avLst>
              <a:gd name="adj" fmla="val 5000"/>
            </a:avLst>
          </a:prstGeom>
          <a:solidFill>
            <a:srgbClr val="1623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6245352"/>
            <a:ext cx="109728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000" dirty="0">
                <a:solidFill>
                  <a:srgbClr val="C7CFDB"/>
                </a:solidFill>
                <a:latin typeface="Calibri"/>
              </a:rPr>
              <a:t>UKPSC DECODED  |  PCS  |  Lower PCS  |  RO/ARO  |  UKSSSC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ATop"/>
          <p:cNvSpPr/>
          <p:nvPr/>
        </p:nvSpPr>
        <p:spPr>
          <a:xfrm>
            <a:off x="365760" y="274320"/>
            <a:ext cx="11430000" cy="640080"/>
          </a:xfrm>
          <a:prstGeom prst="roundRect">
            <a:avLst>
              <a:gd name="adj" fmla="val 5000"/>
            </a:avLst>
          </a:prstGeom>
          <a:solidFill>
            <a:srgbClr val="2C6E4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320040"/>
            <a:ext cx="548640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b="1" dirty="0">
                <a:solidFill>
                  <a:srgbClr val="FFFFFF"/>
                </a:solidFill>
                <a:latin typeface="Calibri"/>
              </a:rPr>
              <a:t>Q188 — ANSWER REVEAL</a:t>
            </a:r>
          </a:p>
        </p:txBody>
      </p:sp>
      <p:sp>
        <p:nvSpPr>
          <p:cNvPr id="0" name="T"/>
          <p:cNvSpPr txBox="1"/>
          <p:nvPr/>
        </p:nvSpPr>
        <p:spPr>
          <a:xfrm>
            <a:off x="7772400" y="320040"/>
            <a:ext cx="384048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r"/>
            <a:r>
              <a:rPr lang="en-US" sz="1200" dirty="0">
                <a:solidFill>
                  <a:srgbClr val="C7CFDB"/>
                </a:solidFill>
                <a:latin typeface="Calibri"/>
              </a:rPr>
              <a:t>29/34</a:t>
            </a:r>
          </a:p>
        </p:txBody>
      </p:sp>
      <p:sp>
        <p:nvSpPr>
          <p:cNvPr id="0" name="T"/>
          <p:cNvSpPr txBox="1"/>
          <p:nvPr/>
        </p:nvSpPr>
        <p:spPr>
          <a:xfrm>
            <a:off x="457200" y="1097280"/>
            <a:ext cx="11247120" cy="109728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C7CFDB"/>
                </a:solidFill>
                <a:latin typeface="Calibri"/>
              </a:rPr>
              <a:t>January 2026 mein Rashtrapati dwara Ashoka Chakra kise diya gaya?</a:t>
            </a:r>
          </a:p>
        </p:txBody>
      </p:sp>
      <p:sp>
        <p:nvSpPr>
          <p:cNvPr id="0" name="AnsBox"/>
          <p:cNvSpPr/>
          <p:nvPr/>
        </p:nvSpPr>
        <p:spPr>
          <a:xfrm>
            <a:off x="457200" y="2560320"/>
            <a:ext cx="11247120" cy="1097280"/>
          </a:xfrm>
          <a:prstGeom prst="roundRect">
            <a:avLst>
              <a:gd name="adj" fmla="val 5000"/>
            </a:avLst>
          </a:prstGeom>
          <a:solidFill>
            <a:srgbClr val="27AE6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2651760"/>
            <a:ext cx="10698480" cy="9144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2400" b="1" dirty="0">
                <a:solidFill>
                  <a:srgbClr val="FFFFFF"/>
                </a:solidFill>
                <a:latin typeface="Calibri"/>
              </a:rPr>
              <a:t>Answer: (b) Shubhanshu Shukla</a:t>
            </a:r>
          </a:p>
        </p:txBody>
      </p:sp>
      <p:sp>
        <p:nvSpPr>
          <p:cNvPr id="0" name="DetBox"/>
          <p:cNvSpPr/>
          <p:nvPr/>
        </p:nvSpPr>
        <p:spPr>
          <a:xfrm>
            <a:off x="457200" y="3931920"/>
            <a:ext cx="11247120" cy="182880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4069080"/>
            <a:ext cx="10698480" cy="1554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200" b="1" dirty="0">
                <a:solidFill>
                  <a:srgbClr val="E0A458"/>
                </a:solidFill>
                <a:latin typeface="Calibri"/>
              </a:rPr>
              <a:t>Details:</a:t>
            </a:r>
          </a:p>
          <a:p>
            <a:pPr algn="l"/>
            <a:r>
              <a:rPr lang="en-US" sz="1400" dirty="0">
                <a:solidFill>
                  <a:srgbClr val="FFFFFF"/>
                </a:solidFill>
                <a:latin typeface="Calibri"/>
              </a:rPr>
              <a:t>First Indian astronaut for ISS mission. Republic Day 2026.</a:t>
            </a:r>
          </a:p>
        </p:txBody>
      </p:sp>
      <p:sp>
        <p:nvSpPr>
          <p:cNvPr id="0" name="Brand2"/>
          <p:cNvSpPr/>
          <p:nvPr/>
        </p:nvSpPr>
        <p:spPr>
          <a:xfrm>
            <a:off x="365760" y="6217920"/>
            <a:ext cx="11430000" cy="457200"/>
          </a:xfrm>
          <a:prstGeom prst="roundRect">
            <a:avLst>
              <a:gd name="adj" fmla="val 5000"/>
            </a:avLst>
          </a:prstGeom>
          <a:solidFill>
            <a:srgbClr val="1623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6245352"/>
            <a:ext cx="109728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000" dirty="0">
                <a:solidFill>
                  <a:srgbClr val="C7CFDB"/>
                </a:solidFill>
                <a:latin typeface="Calibri"/>
              </a:rPr>
              <a:t>UKPSC DECODED  |  Telegram: @UKPSCDECODED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opBar"/>
          <p:cNvSpPr/>
          <p:nvPr/>
        </p:nvSpPr>
        <p:spPr>
          <a:xfrm>
            <a:off x="365760" y="274320"/>
            <a:ext cx="11430000" cy="64008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320040"/>
            <a:ext cx="365760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400" b="1" dirty="0">
                <a:solidFill>
                  <a:srgbClr val="FFFFFF"/>
                </a:solidFill>
                <a:latin typeface="Calibri"/>
              </a:rPr>
              <a:t>Q189 | 30/34</a:t>
            </a:r>
          </a:p>
        </p:txBody>
      </p:sp>
      <p:sp>
        <p:nvSpPr>
          <p:cNvPr id="0" name="T"/>
          <p:cNvSpPr txBox="1"/>
          <p:nvPr/>
        </p:nvSpPr>
        <p:spPr>
          <a:xfrm>
            <a:off x="7772400" y="320040"/>
            <a:ext cx="384048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r"/>
            <a:r>
              <a:rPr lang="en-US" sz="1400" b="1" dirty="0">
                <a:solidFill>
                  <a:srgbClr val="F39C12"/>
                </a:solidFill>
                <a:latin typeface="Calibri"/>
              </a:rPr>
              <a:t>MODERATE</a:t>
            </a:r>
          </a:p>
        </p:txBody>
      </p:sp>
      <p:sp>
        <p:nvSpPr>
          <p:cNvPr id="0" name="Cat"/>
          <p:cNvSpPr/>
          <p:nvPr/>
        </p:nvSpPr>
        <p:spPr>
          <a:xfrm>
            <a:off x="365760" y="1005840"/>
            <a:ext cx="2743200" cy="411480"/>
          </a:xfrm>
          <a:prstGeom prst="roundRect">
            <a:avLst>
              <a:gd name="adj" fmla="val 5000"/>
            </a:avLst>
          </a:prstGeom>
          <a:solidFill>
            <a:srgbClr val="E0A45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457200" y="1033271"/>
            <a:ext cx="2560320" cy="36576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100" b="1" dirty="0">
                <a:solidFill>
                  <a:srgbClr val="16233A"/>
                </a:solidFill>
                <a:latin typeface="Calibri"/>
              </a:rPr>
              <a:t>Current Affairs</a:t>
            </a:r>
          </a:p>
        </p:txBody>
      </p:sp>
      <p:sp>
        <p:nvSpPr>
          <p:cNvPr id="0" name="T"/>
          <p:cNvSpPr txBox="1"/>
          <p:nvPr/>
        </p:nvSpPr>
        <p:spPr>
          <a:xfrm>
            <a:off x="457200" y="1645920"/>
            <a:ext cx="11247120" cy="16459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2200" b="1" dirty="0">
                <a:solidFill>
                  <a:srgbClr val="FFFFFF"/>
                </a:solidFill>
                <a:latin typeface="Calibri"/>
              </a:rPr>
              <a:t>1971 war hero Arun Khetarpal par Jan 2026 mein kaun si film release hui?</a:t>
            </a:r>
          </a:p>
        </p:txBody>
      </p:sp>
      <p:sp>
        <p:nvSpPr>
          <p:cNvPr id="0" name="O0"/>
          <p:cNvSpPr/>
          <p:nvPr/>
        </p:nvSpPr>
        <p:spPr>
          <a:xfrm>
            <a:off x="457200" y="365760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379476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(a) Ikkis</a:t>
            </a:r>
          </a:p>
        </p:txBody>
      </p:sp>
      <p:sp>
        <p:nvSpPr>
          <p:cNvPr id="0" name="O1"/>
          <p:cNvSpPr/>
          <p:nvPr/>
        </p:nvSpPr>
        <p:spPr>
          <a:xfrm>
            <a:off x="6217920" y="365760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6492240" y="379476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(b) Platoon</a:t>
            </a:r>
          </a:p>
        </p:txBody>
      </p:sp>
      <p:sp>
        <p:nvSpPr>
          <p:cNvPr id="0" name="O2"/>
          <p:cNvSpPr/>
          <p:nvPr/>
        </p:nvSpPr>
        <p:spPr>
          <a:xfrm>
            <a:off x="457200" y="493776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507492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(c) Uri</a:t>
            </a:r>
          </a:p>
        </p:txBody>
      </p:sp>
      <p:sp>
        <p:nvSpPr>
          <p:cNvPr id="0" name="O3"/>
          <p:cNvSpPr/>
          <p:nvPr/>
        </p:nvSpPr>
        <p:spPr>
          <a:xfrm>
            <a:off x="6217920" y="493776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6492240" y="507492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(d) Hindustan Ki Kasam</a:t>
            </a:r>
          </a:p>
        </p:txBody>
      </p:sp>
      <p:sp>
        <p:nvSpPr>
          <p:cNvPr id="0" name="Brand"/>
          <p:cNvSpPr/>
          <p:nvPr/>
        </p:nvSpPr>
        <p:spPr>
          <a:xfrm>
            <a:off x="365760" y="6217920"/>
            <a:ext cx="11430000" cy="457200"/>
          </a:xfrm>
          <a:prstGeom prst="roundRect">
            <a:avLst>
              <a:gd name="adj" fmla="val 5000"/>
            </a:avLst>
          </a:prstGeom>
          <a:solidFill>
            <a:srgbClr val="1623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6245352"/>
            <a:ext cx="109728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000" dirty="0">
                <a:solidFill>
                  <a:srgbClr val="C7CFDB"/>
                </a:solidFill>
                <a:latin typeface="Calibri"/>
              </a:rPr>
              <a:t>UKPSC DECODED  |  PCS  |  Lower PCS  |  RO/ARO  |  UKSSSC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ATop"/>
          <p:cNvSpPr/>
          <p:nvPr/>
        </p:nvSpPr>
        <p:spPr>
          <a:xfrm>
            <a:off x="365760" y="274320"/>
            <a:ext cx="11430000" cy="640080"/>
          </a:xfrm>
          <a:prstGeom prst="roundRect">
            <a:avLst>
              <a:gd name="adj" fmla="val 5000"/>
            </a:avLst>
          </a:prstGeom>
          <a:solidFill>
            <a:srgbClr val="2C6E4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320040"/>
            <a:ext cx="548640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b="1" dirty="0">
                <a:solidFill>
                  <a:srgbClr val="FFFFFF"/>
                </a:solidFill>
                <a:latin typeface="Calibri"/>
              </a:rPr>
              <a:t>Q189 — ANSWER REVEAL</a:t>
            </a:r>
          </a:p>
        </p:txBody>
      </p:sp>
      <p:sp>
        <p:nvSpPr>
          <p:cNvPr id="0" name="T"/>
          <p:cNvSpPr txBox="1"/>
          <p:nvPr/>
        </p:nvSpPr>
        <p:spPr>
          <a:xfrm>
            <a:off x="7772400" y="320040"/>
            <a:ext cx="384048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r"/>
            <a:r>
              <a:rPr lang="en-US" sz="1200" dirty="0">
                <a:solidFill>
                  <a:srgbClr val="C7CFDB"/>
                </a:solidFill>
                <a:latin typeface="Calibri"/>
              </a:rPr>
              <a:t>30/34</a:t>
            </a:r>
          </a:p>
        </p:txBody>
      </p:sp>
      <p:sp>
        <p:nvSpPr>
          <p:cNvPr id="0" name="T"/>
          <p:cNvSpPr txBox="1"/>
          <p:nvPr/>
        </p:nvSpPr>
        <p:spPr>
          <a:xfrm>
            <a:off x="457200" y="1097280"/>
            <a:ext cx="11247120" cy="109728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C7CFDB"/>
                </a:solidFill>
                <a:latin typeface="Calibri"/>
              </a:rPr>
              <a:t>1971 war hero Arun Khetarpal par Jan 2026 mein kaun si film release hui?</a:t>
            </a:r>
          </a:p>
        </p:txBody>
      </p:sp>
      <p:sp>
        <p:nvSpPr>
          <p:cNvPr id="0" name="AnsBox"/>
          <p:cNvSpPr/>
          <p:nvPr/>
        </p:nvSpPr>
        <p:spPr>
          <a:xfrm>
            <a:off x="457200" y="2560320"/>
            <a:ext cx="11247120" cy="1097280"/>
          </a:xfrm>
          <a:prstGeom prst="roundRect">
            <a:avLst>
              <a:gd name="adj" fmla="val 5000"/>
            </a:avLst>
          </a:prstGeom>
          <a:solidFill>
            <a:srgbClr val="27AE6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2651760"/>
            <a:ext cx="10698480" cy="9144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2400" b="1" dirty="0">
                <a:solidFill>
                  <a:srgbClr val="FFFFFF"/>
                </a:solidFill>
                <a:latin typeface="Calibri"/>
              </a:rPr>
              <a:t>Answer: (a) Ikkis</a:t>
            </a:r>
          </a:p>
        </p:txBody>
      </p:sp>
      <p:sp>
        <p:nvSpPr>
          <p:cNvPr id="0" name="DetBox"/>
          <p:cNvSpPr/>
          <p:nvPr/>
        </p:nvSpPr>
        <p:spPr>
          <a:xfrm>
            <a:off x="457200" y="3931920"/>
            <a:ext cx="11247120" cy="182880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4069080"/>
            <a:ext cx="10698480" cy="1554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200" b="1" dirty="0">
                <a:solidFill>
                  <a:srgbClr val="E0A458"/>
                </a:solidFill>
                <a:latin typeface="Calibri"/>
              </a:rPr>
              <a:t>Details:</a:t>
            </a:r>
          </a:p>
          <a:p>
            <a:pPr algn="l"/>
            <a:r>
              <a:rPr lang="en-US" sz="1400" dirty="0">
                <a:solidFill>
                  <a:srgbClr val="FFFFFF"/>
                </a:solidFill>
                <a:latin typeface="Calibri"/>
              </a:rPr>
              <a:t>Dir: Sriram Raghavan. Star: Agastya Nanda. Khetarpal was 21.</a:t>
            </a:r>
          </a:p>
        </p:txBody>
      </p:sp>
      <p:sp>
        <p:nvSpPr>
          <p:cNvPr id="0" name="Brand2"/>
          <p:cNvSpPr/>
          <p:nvPr/>
        </p:nvSpPr>
        <p:spPr>
          <a:xfrm>
            <a:off x="365760" y="6217920"/>
            <a:ext cx="11430000" cy="457200"/>
          </a:xfrm>
          <a:prstGeom prst="roundRect">
            <a:avLst>
              <a:gd name="adj" fmla="val 5000"/>
            </a:avLst>
          </a:prstGeom>
          <a:solidFill>
            <a:srgbClr val="1623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6245352"/>
            <a:ext cx="109728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000" dirty="0">
                <a:solidFill>
                  <a:srgbClr val="C7CFDB"/>
                </a:solidFill>
                <a:latin typeface="Calibri"/>
              </a:rPr>
              <a:t>UKPSC DECODED  |  Telegram: @UKPSCDECODED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opBar"/>
          <p:cNvSpPr/>
          <p:nvPr/>
        </p:nvSpPr>
        <p:spPr>
          <a:xfrm>
            <a:off x="365760" y="274320"/>
            <a:ext cx="11430000" cy="64008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320040"/>
            <a:ext cx="365760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400" b="1" dirty="0">
                <a:solidFill>
                  <a:srgbClr val="FFFFFF"/>
                </a:solidFill>
                <a:latin typeface="Calibri"/>
              </a:rPr>
              <a:t>Q191 | 31/34</a:t>
            </a:r>
          </a:p>
        </p:txBody>
      </p:sp>
      <p:sp>
        <p:nvSpPr>
          <p:cNvPr id="0" name="T"/>
          <p:cNvSpPr txBox="1"/>
          <p:nvPr/>
        </p:nvSpPr>
        <p:spPr>
          <a:xfrm>
            <a:off x="7772400" y="320040"/>
            <a:ext cx="384048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r"/>
            <a:r>
              <a:rPr lang="en-US" sz="1400" b="1" dirty="0">
                <a:solidFill>
                  <a:srgbClr val="E74C3C"/>
                </a:solidFill>
                <a:latin typeface="Calibri"/>
              </a:rPr>
              <a:t>TOUGH</a:t>
            </a:r>
          </a:p>
        </p:txBody>
      </p:sp>
      <p:sp>
        <p:nvSpPr>
          <p:cNvPr id="0" name="Cat"/>
          <p:cNvSpPr/>
          <p:nvPr/>
        </p:nvSpPr>
        <p:spPr>
          <a:xfrm>
            <a:off x="365760" y="1005840"/>
            <a:ext cx="2743200" cy="411480"/>
          </a:xfrm>
          <a:prstGeom prst="roundRect">
            <a:avLst>
              <a:gd name="adj" fmla="val 5000"/>
            </a:avLst>
          </a:prstGeom>
          <a:solidFill>
            <a:srgbClr val="E0A45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457200" y="1033271"/>
            <a:ext cx="2560320" cy="36576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100" b="1" dirty="0">
                <a:solidFill>
                  <a:srgbClr val="16233A"/>
                </a:solidFill>
                <a:latin typeface="Calibri"/>
              </a:rPr>
              <a:t>Current Affairs</a:t>
            </a:r>
          </a:p>
        </p:txBody>
      </p:sp>
      <p:sp>
        <p:nvSpPr>
          <p:cNvPr id="0" name="T"/>
          <p:cNvSpPr txBox="1"/>
          <p:nvPr/>
        </p:nvSpPr>
        <p:spPr>
          <a:xfrm>
            <a:off x="457200" y="1645920"/>
            <a:ext cx="11247120" cy="16459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2200" b="1" dirty="0">
                <a:solidFill>
                  <a:srgbClr val="FFFFFF"/>
                </a:solidFill>
                <a:latin typeface="Calibri"/>
              </a:rPr>
              <a:t>2026 mein USA dwara kaun sa rashtrapati giraftar kiya gaya?</a:t>
            </a:r>
          </a:p>
        </p:txBody>
      </p:sp>
      <p:sp>
        <p:nvSpPr>
          <p:cNvPr id="0" name="O0"/>
          <p:cNvSpPr/>
          <p:nvPr/>
        </p:nvSpPr>
        <p:spPr>
          <a:xfrm>
            <a:off x="457200" y="365760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379476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(a) Kim Jong-Un, North Korea</a:t>
            </a:r>
          </a:p>
        </p:txBody>
      </p:sp>
      <p:sp>
        <p:nvSpPr>
          <p:cNvPr id="0" name="O1"/>
          <p:cNvSpPr/>
          <p:nvPr/>
        </p:nvSpPr>
        <p:spPr>
          <a:xfrm>
            <a:off x="6217920" y="365760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6492240" y="379476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(b) Ashraf Ghani, Afghanistan</a:t>
            </a:r>
          </a:p>
        </p:txBody>
      </p:sp>
      <p:sp>
        <p:nvSpPr>
          <p:cNvPr id="0" name="O2"/>
          <p:cNvSpPr/>
          <p:nvPr/>
        </p:nvSpPr>
        <p:spPr>
          <a:xfrm>
            <a:off x="457200" y="493776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507492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(c) Vladimir Putin, Russia</a:t>
            </a:r>
          </a:p>
        </p:txBody>
      </p:sp>
      <p:sp>
        <p:nvSpPr>
          <p:cNvPr id="0" name="O3"/>
          <p:cNvSpPr/>
          <p:nvPr/>
        </p:nvSpPr>
        <p:spPr>
          <a:xfrm>
            <a:off x="6217920" y="493776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6492240" y="507492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(d) Nicolas Maduro, Venezuela</a:t>
            </a:r>
          </a:p>
        </p:txBody>
      </p:sp>
      <p:sp>
        <p:nvSpPr>
          <p:cNvPr id="0" name="Brand"/>
          <p:cNvSpPr/>
          <p:nvPr/>
        </p:nvSpPr>
        <p:spPr>
          <a:xfrm>
            <a:off x="365760" y="6217920"/>
            <a:ext cx="11430000" cy="457200"/>
          </a:xfrm>
          <a:prstGeom prst="roundRect">
            <a:avLst>
              <a:gd name="adj" fmla="val 5000"/>
            </a:avLst>
          </a:prstGeom>
          <a:solidFill>
            <a:srgbClr val="1623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6245352"/>
            <a:ext cx="109728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000" dirty="0">
                <a:solidFill>
                  <a:srgbClr val="C7CFDB"/>
                </a:solidFill>
                <a:latin typeface="Calibri"/>
              </a:rPr>
              <a:t>UKPSC DECODED  |  PCS  |  Lower PCS  |  RO/ARO  |  UKSSSC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ATop"/>
          <p:cNvSpPr/>
          <p:nvPr/>
        </p:nvSpPr>
        <p:spPr>
          <a:xfrm>
            <a:off x="365760" y="274320"/>
            <a:ext cx="11430000" cy="640080"/>
          </a:xfrm>
          <a:prstGeom prst="roundRect">
            <a:avLst>
              <a:gd name="adj" fmla="val 5000"/>
            </a:avLst>
          </a:prstGeom>
          <a:solidFill>
            <a:srgbClr val="2C6E4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320040"/>
            <a:ext cx="548640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b="1" dirty="0">
                <a:solidFill>
                  <a:srgbClr val="FFFFFF"/>
                </a:solidFill>
                <a:latin typeface="Calibri"/>
              </a:rPr>
              <a:t>Q191 — ANSWER REVEAL</a:t>
            </a:r>
          </a:p>
        </p:txBody>
      </p:sp>
      <p:sp>
        <p:nvSpPr>
          <p:cNvPr id="0" name="T"/>
          <p:cNvSpPr txBox="1"/>
          <p:nvPr/>
        </p:nvSpPr>
        <p:spPr>
          <a:xfrm>
            <a:off x="7772400" y="320040"/>
            <a:ext cx="384048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r"/>
            <a:r>
              <a:rPr lang="en-US" sz="1200" dirty="0">
                <a:solidFill>
                  <a:srgbClr val="C7CFDB"/>
                </a:solidFill>
                <a:latin typeface="Calibri"/>
              </a:rPr>
              <a:t>31/34</a:t>
            </a:r>
          </a:p>
        </p:txBody>
      </p:sp>
      <p:sp>
        <p:nvSpPr>
          <p:cNvPr id="0" name="T"/>
          <p:cNvSpPr txBox="1"/>
          <p:nvPr/>
        </p:nvSpPr>
        <p:spPr>
          <a:xfrm>
            <a:off x="457200" y="1097280"/>
            <a:ext cx="11247120" cy="109728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C7CFDB"/>
                </a:solidFill>
                <a:latin typeface="Calibri"/>
              </a:rPr>
              <a:t>2026 mein USA dwara kaun sa rashtrapati giraftar kiya gaya?</a:t>
            </a:r>
          </a:p>
        </p:txBody>
      </p:sp>
      <p:sp>
        <p:nvSpPr>
          <p:cNvPr id="0" name="AnsBox"/>
          <p:cNvSpPr/>
          <p:nvPr/>
        </p:nvSpPr>
        <p:spPr>
          <a:xfrm>
            <a:off x="457200" y="2560320"/>
            <a:ext cx="11247120" cy="1097280"/>
          </a:xfrm>
          <a:prstGeom prst="roundRect">
            <a:avLst>
              <a:gd name="adj" fmla="val 5000"/>
            </a:avLst>
          </a:prstGeom>
          <a:solidFill>
            <a:srgbClr val="27AE6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2651760"/>
            <a:ext cx="10698480" cy="9144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2400" b="1" dirty="0">
                <a:solidFill>
                  <a:srgbClr val="FFFFFF"/>
                </a:solidFill>
                <a:latin typeface="Calibri"/>
              </a:rPr>
              <a:t>Answer: (d) Nicolas Maduro, Venezuela</a:t>
            </a:r>
          </a:p>
        </p:txBody>
      </p:sp>
      <p:sp>
        <p:nvSpPr>
          <p:cNvPr id="0" name="DetBox"/>
          <p:cNvSpPr/>
          <p:nvPr/>
        </p:nvSpPr>
        <p:spPr>
          <a:xfrm>
            <a:off x="457200" y="3931920"/>
            <a:ext cx="11247120" cy="182880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4069080"/>
            <a:ext cx="10698480" cy="1554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200" b="1" dirty="0">
                <a:solidFill>
                  <a:srgbClr val="E0A458"/>
                </a:solidFill>
                <a:latin typeface="Calibri"/>
              </a:rPr>
              <a:t>Details:</a:t>
            </a:r>
          </a:p>
          <a:p>
            <a:pPr algn="l"/>
            <a:r>
              <a:rPr lang="en-US" sz="1400" dirty="0">
                <a:solidFill>
                  <a:srgbClr val="FFFFFF"/>
                </a:solidFill>
                <a:latin typeface="Calibri"/>
              </a:rPr>
              <a:t>Jan 2026, US military operation.</a:t>
            </a:r>
          </a:p>
        </p:txBody>
      </p:sp>
      <p:sp>
        <p:nvSpPr>
          <p:cNvPr id="0" name="Brand2"/>
          <p:cNvSpPr/>
          <p:nvPr/>
        </p:nvSpPr>
        <p:spPr>
          <a:xfrm>
            <a:off x="365760" y="6217920"/>
            <a:ext cx="11430000" cy="457200"/>
          </a:xfrm>
          <a:prstGeom prst="roundRect">
            <a:avLst>
              <a:gd name="adj" fmla="val 5000"/>
            </a:avLst>
          </a:prstGeom>
          <a:solidFill>
            <a:srgbClr val="1623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6245352"/>
            <a:ext cx="109728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000" dirty="0">
                <a:solidFill>
                  <a:srgbClr val="C7CFDB"/>
                </a:solidFill>
                <a:latin typeface="Calibri"/>
              </a:rPr>
              <a:t>UKPSC DECODED  |  Telegram: @UKPSCDECODED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opBar"/>
          <p:cNvSpPr/>
          <p:nvPr/>
        </p:nvSpPr>
        <p:spPr>
          <a:xfrm>
            <a:off x="365760" y="274320"/>
            <a:ext cx="11430000" cy="64008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320040"/>
            <a:ext cx="365760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400" b="1" dirty="0">
                <a:solidFill>
                  <a:srgbClr val="FFFFFF"/>
                </a:solidFill>
                <a:latin typeface="Calibri"/>
              </a:rPr>
              <a:t>Q192 | 32/34</a:t>
            </a:r>
          </a:p>
        </p:txBody>
      </p:sp>
      <p:sp>
        <p:nvSpPr>
          <p:cNvPr id="0" name="T"/>
          <p:cNvSpPr txBox="1"/>
          <p:nvPr/>
        </p:nvSpPr>
        <p:spPr>
          <a:xfrm>
            <a:off x="7772400" y="320040"/>
            <a:ext cx="384048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r"/>
            <a:r>
              <a:rPr lang="en-US" sz="1400" b="1" dirty="0">
                <a:solidFill>
                  <a:srgbClr val="27AE60"/>
                </a:solidFill>
                <a:latin typeface="Calibri"/>
              </a:rPr>
              <a:t>EASY</a:t>
            </a:r>
          </a:p>
        </p:txBody>
      </p:sp>
      <p:sp>
        <p:nvSpPr>
          <p:cNvPr id="0" name="Cat"/>
          <p:cNvSpPr/>
          <p:nvPr/>
        </p:nvSpPr>
        <p:spPr>
          <a:xfrm>
            <a:off x="365760" y="1005840"/>
            <a:ext cx="2743200" cy="411480"/>
          </a:xfrm>
          <a:prstGeom prst="roundRect">
            <a:avLst>
              <a:gd name="adj" fmla="val 5000"/>
            </a:avLst>
          </a:prstGeom>
          <a:solidFill>
            <a:srgbClr val="E0A45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457200" y="1033271"/>
            <a:ext cx="2560320" cy="36576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100" b="1" dirty="0">
                <a:solidFill>
                  <a:srgbClr val="16233A"/>
                </a:solidFill>
                <a:latin typeface="Calibri"/>
              </a:rPr>
              <a:t>Current Affairs</a:t>
            </a:r>
          </a:p>
        </p:txBody>
      </p:sp>
      <p:sp>
        <p:nvSpPr>
          <p:cNvPr id="0" name="T"/>
          <p:cNvSpPr txBox="1"/>
          <p:nvPr/>
        </p:nvSpPr>
        <p:spPr>
          <a:xfrm>
            <a:off x="457200" y="1645920"/>
            <a:ext cx="11247120" cy="16459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2200" b="1" dirty="0">
                <a:solidFill>
                  <a:srgbClr val="FFFFFF"/>
                </a:solidFill>
                <a:latin typeface="Calibri"/>
              </a:rPr>
              <a:t>Kis Indian fighter jet ne January 2026 mein apni 25th anniversary manai?</a:t>
            </a:r>
          </a:p>
        </p:txBody>
      </p:sp>
      <p:sp>
        <p:nvSpPr>
          <p:cNvPr id="0" name="O0"/>
          <p:cNvSpPr/>
          <p:nvPr/>
        </p:nvSpPr>
        <p:spPr>
          <a:xfrm>
            <a:off x="457200" y="365760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379476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(a) Rafale</a:t>
            </a:r>
          </a:p>
        </p:txBody>
      </p:sp>
      <p:sp>
        <p:nvSpPr>
          <p:cNvPr id="0" name="O1"/>
          <p:cNvSpPr/>
          <p:nvPr/>
        </p:nvSpPr>
        <p:spPr>
          <a:xfrm>
            <a:off x="6217920" y="365760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6492240" y="379476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(b) Jaguar</a:t>
            </a:r>
          </a:p>
        </p:txBody>
      </p:sp>
      <p:sp>
        <p:nvSpPr>
          <p:cNvPr id="0" name="O2"/>
          <p:cNvSpPr/>
          <p:nvPr/>
        </p:nvSpPr>
        <p:spPr>
          <a:xfrm>
            <a:off x="457200" y="493776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507492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(c) Tejas</a:t>
            </a:r>
          </a:p>
        </p:txBody>
      </p:sp>
      <p:sp>
        <p:nvSpPr>
          <p:cNvPr id="0" name="O3"/>
          <p:cNvSpPr/>
          <p:nvPr/>
        </p:nvSpPr>
        <p:spPr>
          <a:xfrm>
            <a:off x="6217920" y="493776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6492240" y="507492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(d) Mirage</a:t>
            </a:r>
          </a:p>
        </p:txBody>
      </p:sp>
      <p:sp>
        <p:nvSpPr>
          <p:cNvPr id="0" name="Brand"/>
          <p:cNvSpPr/>
          <p:nvPr/>
        </p:nvSpPr>
        <p:spPr>
          <a:xfrm>
            <a:off x="365760" y="6217920"/>
            <a:ext cx="11430000" cy="457200"/>
          </a:xfrm>
          <a:prstGeom prst="roundRect">
            <a:avLst>
              <a:gd name="adj" fmla="val 5000"/>
            </a:avLst>
          </a:prstGeom>
          <a:solidFill>
            <a:srgbClr val="1623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6245352"/>
            <a:ext cx="109728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000" dirty="0">
                <a:solidFill>
                  <a:srgbClr val="C7CFDB"/>
                </a:solidFill>
                <a:latin typeface="Calibri"/>
              </a:rPr>
              <a:t>UKPSC DECODED  |  PCS  |  Lower PCS  |  RO/ARO  |  UKSSSC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ATop"/>
          <p:cNvSpPr/>
          <p:nvPr/>
        </p:nvSpPr>
        <p:spPr>
          <a:xfrm>
            <a:off x="365760" y="274320"/>
            <a:ext cx="11430000" cy="640080"/>
          </a:xfrm>
          <a:prstGeom prst="roundRect">
            <a:avLst>
              <a:gd name="adj" fmla="val 5000"/>
            </a:avLst>
          </a:prstGeom>
          <a:solidFill>
            <a:srgbClr val="2C6E4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320040"/>
            <a:ext cx="548640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b="1" dirty="0">
                <a:solidFill>
                  <a:srgbClr val="FFFFFF"/>
                </a:solidFill>
                <a:latin typeface="Calibri"/>
              </a:rPr>
              <a:t>Q192 — ANSWER REVEAL</a:t>
            </a:r>
          </a:p>
        </p:txBody>
      </p:sp>
      <p:sp>
        <p:nvSpPr>
          <p:cNvPr id="0" name="T"/>
          <p:cNvSpPr txBox="1"/>
          <p:nvPr/>
        </p:nvSpPr>
        <p:spPr>
          <a:xfrm>
            <a:off x="7772400" y="320040"/>
            <a:ext cx="384048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r"/>
            <a:r>
              <a:rPr lang="en-US" sz="1200" dirty="0">
                <a:solidFill>
                  <a:srgbClr val="C7CFDB"/>
                </a:solidFill>
                <a:latin typeface="Calibri"/>
              </a:rPr>
              <a:t>32/34</a:t>
            </a:r>
          </a:p>
        </p:txBody>
      </p:sp>
      <p:sp>
        <p:nvSpPr>
          <p:cNvPr id="0" name="T"/>
          <p:cNvSpPr txBox="1"/>
          <p:nvPr/>
        </p:nvSpPr>
        <p:spPr>
          <a:xfrm>
            <a:off x="457200" y="1097280"/>
            <a:ext cx="11247120" cy="109728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C7CFDB"/>
                </a:solidFill>
                <a:latin typeface="Calibri"/>
              </a:rPr>
              <a:t>Kis Indian fighter jet ne January 2026 mein apni 25th anniversary manai?</a:t>
            </a:r>
          </a:p>
        </p:txBody>
      </p:sp>
      <p:sp>
        <p:nvSpPr>
          <p:cNvPr id="0" name="AnsBox"/>
          <p:cNvSpPr/>
          <p:nvPr/>
        </p:nvSpPr>
        <p:spPr>
          <a:xfrm>
            <a:off x="457200" y="2560320"/>
            <a:ext cx="11247120" cy="1097280"/>
          </a:xfrm>
          <a:prstGeom prst="roundRect">
            <a:avLst>
              <a:gd name="adj" fmla="val 5000"/>
            </a:avLst>
          </a:prstGeom>
          <a:solidFill>
            <a:srgbClr val="27AE6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2651760"/>
            <a:ext cx="10698480" cy="9144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2400" b="1" dirty="0">
                <a:solidFill>
                  <a:srgbClr val="FFFFFF"/>
                </a:solidFill>
                <a:latin typeface="Calibri"/>
              </a:rPr>
              <a:t>Answer: (c) Tejas</a:t>
            </a:r>
          </a:p>
        </p:txBody>
      </p:sp>
      <p:sp>
        <p:nvSpPr>
          <p:cNvPr id="0" name="DetBox"/>
          <p:cNvSpPr/>
          <p:nvPr/>
        </p:nvSpPr>
        <p:spPr>
          <a:xfrm>
            <a:off x="457200" y="3931920"/>
            <a:ext cx="11247120" cy="182880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4069080"/>
            <a:ext cx="10698480" cy="1554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200" b="1" dirty="0">
                <a:solidFill>
                  <a:srgbClr val="E0A458"/>
                </a:solidFill>
                <a:latin typeface="Calibri"/>
              </a:rPr>
              <a:t>Details:</a:t>
            </a:r>
          </a:p>
          <a:p>
            <a:pPr algn="l"/>
            <a:r>
              <a:rPr lang="en-US" sz="1400" dirty="0">
                <a:solidFill>
                  <a:srgbClr val="FFFFFF"/>
                </a:solidFill>
                <a:latin typeface="Calibri"/>
              </a:rPr>
              <a:t>LCA Tejas first flight: 4 Jan 2001. 25 years in 2026.</a:t>
            </a:r>
          </a:p>
        </p:txBody>
      </p:sp>
      <p:sp>
        <p:nvSpPr>
          <p:cNvPr id="0" name="Brand2"/>
          <p:cNvSpPr/>
          <p:nvPr/>
        </p:nvSpPr>
        <p:spPr>
          <a:xfrm>
            <a:off x="365760" y="6217920"/>
            <a:ext cx="11430000" cy="457200"/>
          </a:xfrm>
          <a:prstGeom prst="roundRect">
            <a:avLst>
              <a:gd name="adj" fmla="val 5000"/>
            </a:avLst>
          </a:prstGeom>
          <a:solidFill>
            <a:srgbClr val="1623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6245352"/>
            <a:ext cx="109728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000" dirty="0">
                <a:solidFill>
                  <a:srgbClr val="C7CFDB"/>
                </a:solidFill>
                <a:latin typeface="Calibri"/>
              </a:rPr>
              <a:t>UKPSC DECODED  |  Telegram: @UKPSCDECODED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opBar"/>
          <p:cNvSpPr/>
          <p:nvPr/>
        </p:nvSpPr>
        <p:spPr>
          <a:xfrm>
            <a:off x="365760" y="274320"/>
            <a:ext cx="11430000" cy="64008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320040"/>
            <a:ext cx="365760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400" b="1" dirty="0">
                <a:solidFill>
                  <a:srgbClr val="FFFFFF"/>
                </a:solidFill>
                <a:latin typeface="Calibri"/>
              </a:rPr>
              <a:t>Q193 | 33/34</a:t>
            </a:r>
          </a:p>
        </p:txBody>
      </p:sp>
      <p:sp>
        <p:nvSpPr>
          <p:cNvPr id="0" name="T"/>
          <p:cNvSpPr txBox="1"/>
          <p:nvPr/>
        </p:nvSpPr>
        <p:spPr>
          <a:xfrm>
            <a:off x="7772400" y="320040"/>
            <a:ext cx="384048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r"/>
            <a:r>
              <a:rPr lang="en-US" sz="1400" b="1" dirty="0">
                <a:solidFill>
                  <a:srgbClr val="F39C12"/>
                </a:solidFill>
                <a:latin typeface="Calibri"/>
              </a:rPr>
              <a:t>MODERATE</a:t>
            </a:r>
          </a:p>
        </p:txBody>
      </p:sp>
      <p:sp>
        <p:nvSpPr>
          <p:cNvPr id="0" name="Cat"/>
          <p:cNvSpPr/>
          <p:nvPr/>
        </p:nvSpPr>
        <p:spPr>
          <a:xfrm>
            <a:off x="365760" y="1005840"/>
            <a:ext cx="2743200" cy="411480"/>
          </a:xfrm>
          <a:prstGeom prst="roundRect">
            <a:avLst>
              <a:gd name="adj" fmla="val 5000"/>
            </a:avLst>
          </a:prstGeom>
          <a:solidFill>
            <a:srgbClr val="E0A45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457200" y="1033271"/>
            <a:ext cx="2560320" cy="36576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100" b="1" dirty="0">
                <a:solidFill>
                  <a:srgbClr val="16233A"/>
                </a:solidFill>
                <a:latin typeface="Calibri"/>
              </a:rPr>
              <a:t>Current Affairs</a:t>
            </a:r>
          </a:p>
        </p:txBody>
      </p:sp>
      <p:sp>
        <p:nvSpPr>
          <p:cNvPr id="0" name="T"/>
          <p:cNvSpPr txBox="1"/>
          <p:nvPr/>
        </p:nvSpPr>
        <p:spPr>
          <a:xfrm>
            <a:off x="457200" y="1645920"/>
            <a:ext cx="11247120" cy="16459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2200" b="1" dirty="0">
                <a:solidFill>
                  <a:srgbClr val="FFFFFF"/>
                </a:solidFill>
                <a:latin typeface="Calibri"/>
              </a:rPr>
              <a:t>39th National Games ki mezbani kaun sa rajya karega?</a:t>
            </a:r>
          </a:p>
        </p:txBody>
      </p:sp>
      <p:sp>
        <p:nvSpPr>
          <p:cNvPr id="0" name="O0"/>
          <p:cNvSpPr/>
          <p:nvPr/>
        </p:nvSpPr>
        <p:spPr>
          <a:xfrm>
            <a:off x="457200" y="365760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379476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(a) Uttarakhand</a:t>
            </a:r>
          </a:p>
        </p:txBody>
      </p:sp>
      <p:sp>
        <p:nvSpPr>
          <p:cNvPr id="0" name="O1"/>
          <p:cNvSpPr/>
          <p:nvPr/>
        </p:nvSpPr>
        <p:spPr>
          <a:xfrm>
            <a:off x="6217920" y="365760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6492240" y="379476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(b) Meghalaya</a:t>
            </a:r>
          </a:p>
        </p:txBody>
      </p:sp>
      <p:sp>
        <p:nvSpPr>
          <p:cNvPr id="0" name="O2"/>
          <p:cNvSpPr/>
          <p:nvPr/>
        </p:nvSpPr>
        <p:spPr>
          <a:xfrm>
            <a:off x="457200" y="493776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507492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(c) Uttar Pradesh</a:t>
            </a:r>
          </a:p>
        </p:txBody>
      </p:sp>
      <p:sp>
        <p:nvSpPr>
          <p:cNvPr id="0" name="O3"/>
          <p:cNvSpPr/>
          <p:nvPr/>
        </p:nvSpPr>
        <p:spPr>
          <a:xfrm>
            <a:off x="6217920" y="493776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6492240" y="507492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(d) Madhya Pradesh</a:t>
            </a:r>
          </a:p>
        </p:txBody>
      </p:sp>
      <p:sp>
        <p:nvSpPr>
          <p:cNvPr id="0" name="Brand"/>
          <p:cNvSpPr/>
          <p:nvPr/>
        </p:nvSpPr>
        <p:spPr>
          <a:xfrm>
            <a:off x="365760" y="6217920"/>
            <a:ext cx="11430000" cy="457200"/>
          </a:xfrm>
          <a:prstGeom prst="roundRect">
            <a:avLst>
              <a:gd name="adj" fmla="val 5000"/>
            </a:avLst>
          </a:prstGeom>
          <a:solidFill>
            <a:srgbClr val="1623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6245352"/>
            <a:ext cx="109728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000" dirty="0">
                <a:solidFill>
                  <a:srgbClr val="C7CFDB"/>
                </a:solidFill>
                <a:latin typeface="Calibri"/>
              </a:rPr>
              <a:t>UKPSC DECODED  |  PCS  |  Lower PCS  |  RO/ARO  |  UKSSSC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ATop"/>
          <p:cNvSpPr/>
          <p:nvPr/>
        </p:nvSpPr>
        <p:spPr>
          <a:xfrm>
            <a:off x="365760" y="274320"/>
            <a:ext cx="11430000" cy="640080"/>
          </a:xfrm>
          <a:prstGeom prst="roundRect">
            <a:avLst>
              <a:gd name="adj" fmla="val 5000"/>
            </a:avLst>
          </a:prstGeom>
          <a:solidFill>
            <a:srgbClr val="2C6E4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320040"/>
            <a:ext cx="548640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b="1" dirty="0">
                <a:solidFill>
                  <a:srgbClr val="FFFFFF"/>
                </a:solidFill>
                <a:latin typeface="Calibri"/>
              </a:rPr>
              <a:t>Q193 — ANSWER REVEAL</a:t>
            </a:r>
          </a:p>
        </p:txBody>
      </p:sp>
      <p:sp>
        <p:nvSpPr>
          <p:cNvPr id="0" name="T"/>
          <p:cNvSpPr txBox="1"/>
          <p:nvPr/>
        </p:nvSpPr>
        <p:spPr>
          <a:xfrm>
            <a:off x="7772400" y="320040"/>
            <a:ext cx="384048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r"/>
            <a:r>
              <a:rPr lang="en-US" sz="1200" dirty="0">
                <a:solidFill>
                  <a:srgbClr val="C7CFDB"/>
                </a:solidFill>
                <a:latin typeface="Calibri"/>
              </a:rPr>
              <a:t>33/34</a:t>
            </a:r>
          </a:p>
        </p:txBody>
      </p:sp>
      <p:sp>
        <p:nvSpPr>
          <p:cNvPr id="0" name="T"/>
          <p:cNvSpPr txBox="1"/>
          <p:nvPr/>
        </p:nvSpPr>
        <p:spPr>
          <a:xfrm>
            <a:off x="457200" y="1097280"/>
            <a:ext cx="11247120" cy="109728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C7CFDB"/>
                </a:solidFill>
                <a:latin typeface="Calibri"/>
              </a:rPr>
              <a:t>39th National Games ki mezbani kaun sa rajya karega?</a:t>
            </a:r>
          </a:p>
        </p:txBody>
      </p:sp>
      <p:sp>
        <p:nvSpPr>
          <p:cNvPr id="0" name="AnsBox"/>
          <p:cNvSpPr/>
          <p:nvPr/>
        </p:nvSpPr>
        <p:spPr>
          <a:xfrm>
            <a:off x="457200" y="2560320"/>
            <a:ext cx="11247120" cy="1097280"/>
          </a:xfrm>
          <a:prstGeom prst="roundRect">
            <a:avLst>
              <a:gd name="adj" fmla="val 5000"/>
            </a:avLst>
          </a:prstGeom>
          <a:solidFill>
            <a:srgbClr val="27AE6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2651760"/>
            <a:ext cx="10698480" cy="9144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2400" b="1" dirty="0">
                <a:solidFill>
                  <a:srgbClr val="FFFFFF"/>
                </a:solidFill>
                <a:latin typeface="Calibri"/>
              </a:rPr>
              <a:t>Answer: (b) Meghalaya</a:t>
            </a:r>
          </a:p>
        </p:txBody>
      </p:sp>
      <p:sp>
        <p:nvSpPr>
          <p:cNvPr id="0" name="DetBox"/>
          <p:cNvSpPr/>
          <p:nvPr/>
        </p:nvSpPr>
        <p:spPr>
          <a:xfrm>
            <a:off x="457200" y="3931920"/>
            <a:ext cx="11247120" cy="182880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4069080"/>
            <a:ext cx="10698480" cy="1554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200" b="1" dirty="0">
                <a:solidFill>
                  <a:srgbClr val="E0A458"/>
                </a:solidFill>
                <a:latin typeface="Calibri"/>
              </a:rPr>
              <a:t>Details:</a:t>
            </a:r>
          </a:p>
          <a:p>
            <a:pPr algn="l"/>
            <a:r>
              <a:rPr lang="en-US" sz="1400" dirty="0">
                <a:solidFill>
                  <a:srgbClr val="FFFFFF"/>
                </a:solidFill>
                <a:latin typeface="Calibri"/>
              </a:rPr>
              <a:t>IOA allotted 39th National Games (2027) to Meghalaya.</a:t>
            </a:r>
          </a:p>
        </p:txBody>
      </p:sp>
      <p:sp>
        <p:nvSpPr>
          <p:cNvPr id="0" name="Brand2"/>
          <p:cNvSpPr/>
          <p:nvPr/>
        </p:nvSpPr>
        <p:spPr>
          <a:xfrm>
            <a:off x="365760" y="6217920"/>
            <a:ext cx="11430000" cy="457200"/>
          </a:xfrm>
          <a:prstGeom prst="roundRect">
            <a:avLst>
              <a:gd name="adj" fmla="val 5000"/>
            </a:avLst>
          </a:prstGeom>
          <a:solidFill>
            <a:srgbClr val="1623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6245352"/>
            <a:ext cx="109728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000" dirty="0">
                <a:solidFill>
                  <a:srgbClr val="C7CFDB"/>
                </a:solidFill>
                <a:latin typeface="Calibri"/>
              </a:rPr>
              <a:t>UKPSC DECODED  |  Telegram: @UKPSCDECODED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opBar"/>
          <p:cNvSpPr/>
          <p:nvPr/>
        </p:nvSpPr>
        <p:spPr>
          <a:xfrm>
            <a:off x="365760" y="274320"/>
            <a:ext cx="11430000" cy="64008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320040"/>
            <a:ext cx="365760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400" b="1" dirty="0">
                <a:solidFill>
                  <a:srgbClr val="FFFFFF"/>
                </a:solidFill>
                <a:latin typeface="Calibri"/>
              </a:rPr>
              <a:t>Q194 | 34/34</a:t>
            </a:r>
          </a:p>
        </p:txBody>
      </p:sp>
      <p:sp>
        <p:nvSpPr>
          <p:cNvPr id="0" name="T"/>
          <p:cNvSpPr txBox="1"/>
          <p:nvPr/>
        </p:nvSpPr>
        <p:spPr>
          <a:xfrm>
            <a:off x="7772400" y="320040"/>
            <a:ext cx="384048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r"/>
            <a:r>
              <a:rPr lang="en-US" sz="1400" b="1" dirty="0">
                <a:solidFill>
                  <a:srgbClr val="E74C3C"/>
                </a:solidFill>
                <a:latin typeface="Calibri"/>
              </a:rPr>
              <a:t>TOUGH</a:t>
            </a:r>
          </a:p>
        </p:txBody>
      </p:sp>
      <p:sp>
        <p:nvSpPr>
          <p:cNvPr id="0" name="Cat"/>
          <p:cNvSpPr/>
          <p:nvPr/>
        </p:nvSpPr>
        <p:spPr>
          <a:xfrm>
            <a:off x="365760" y="1005840"/>
            <a:ext cx="2743200" cy="411480"/>
          </a:xfrm>
          <a:prstGeom prst="roundRect">
            <a:avLst>
              <a:gd name="adj" fmla="val 5000"/>
            </a:avLst>
          </a:prstGeom>
          <a:solidFill>
            <a:srgbClr val="E0A45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457200" y="1033271"/>
            <a:ext cx="2560320" cy="36576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100" b="1" dirty="0">
                <a:solidFill>
                  <a:srgbClr val="16233A"/>
                </a:solidFill>
                <a:latin typeface="Calibri"/>
              </a:rPr>
              <a:t>Current Affairs</a:t>
            </a:r>
          </a:p>
        </p:txBody>
      </p:sp>
      <p:sp>
        <p:nvSpPr>
          <p:cNvPr id="0" name="T"/>
          <p:cNvSpPr txBox="1"/>
          <p:nvPr/>
        </p:nvSpPr>
        <p:spPr>
          <a:xfrm>
            <a:off x="457200" y="1645920"/>
            <a:ext cx="11247120" cy="16459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2200" b="1" dirty="0">
                <a:solidFill>
                  <a:srgbClr val="FFFFFF"/>
                </a:solidFill>
                <a:latin typeface="Calibri"/>
              </a:rPr>
              <a:t>G.P. Birla Memorial Award 2025 kisne praapt kiya?</a:t>
            </a:r>
          </a:p>
        </p:txBody>
      </p:sp>
      <p:sp>
        <p:nvSpPr>
          <p:cNvPr id="0" name="O0"/>
          <p:cNvSpPr/>
          <p:nvPr/>
        </p:nvSpPr>
        <p:spPr>
          <a:xfrm>
            <a:off x="457200" y="365760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379476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(a) Jay Shah</a:t>
            </a:r>
          </a:p>
        </p:txBody>
      </p:sp>
      <p:sp>
        <p:nvSpPr>
          <p:cNvPr id="0" name="O1"/>
          <p:cNvSpPr/>
          <p:nvPr/>
        </p:nvSpPr>
        <p:spPr>
          <a:xfrm>
            <a:off x="6217920" y="365760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6492240" y="379476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(b) Prabha Varma</a:t>
            </a:r>
          </a:p>
        </p:txBody>
      </p:sp>
      <p:sp>
        <p:nvSpPr>
          <p:cNvPr id="0" name="O2"/>
          <p:cNvSpPr/>
          <p:nvPr/>
        </p:nvSpPr>
        <p:spPr>
          <a:xfrm>
            <a:off x="457200" y="493776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507492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(c) Venu Srinivasan</a:t>
            </a:r>
          </a:p>
        </p:txBody>
      </p:sp>
      <p:sp>
        <p:nvSpPr>
          <p:cNvPr id="0" name="O3"/>
          <p:cNvSpPr/>
          <p:nvPr/>
        </p:nvSpPr>
        <p:spPr>
          <a:xfrm>
            <a:off x="6217920" y="493776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6492240" y="5074920"/>
            <a:ext cx="484632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FFFFFF"/>
                </a:solidFill>
                <a:latin typeface="Calibri"/>
              </a:rPr>
              <a:t>(d) V. Narayanan</a:t>
            </a:r>
          </a:p>
        </p:txBody>
      </p:sp>
      <p:sp>
        <p:nvSpPr>
          <p:cNvPr id="0" name="Brand"/>
          <p:cNvSpPr/>
          <p:nvPr/>
        </p:nvSpPr>
        <p:spPr>
          <a:xfrm>
            <a:off x="365760" y="6217920"/>
            <a:ext cx="11430000" cy="457200"/>
          </a:xfrm>
          <a:prstGeom prst="roundRect">
            <a:avLst>
              <a:gd name="adj" fmla="val 5000"/>
            </a:avLst>
          </a:prstGeom>
          <a:solidFill>
            <a:srgbClr val="1623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6245352"/>
            <a:ext cx="109728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000" dirty="0">
                <a:solidFill>
                  <a:srgbClr val="C7CFDB"/>
                </a:solidFill>
                <a:latin typeface="Calibri"/>
              </a:rPr>
              <a:t>UKPSC DECODED  |  PCS  |  Lower PCS  |  RO/ARO  |  UKSSSC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ATop"/>
          <p:cNvSpPr/>
          <p:nvPr/>
        </p:nvSpPr>
        <p:spPr>
          <a:xfrm>
            <a:off x="365760" y="274320"/>
            <a:ext cx="11430000" cy="640080"/>
          </a:xfrm>
          <a:prstGeom prst="roundRect">
            <a:avLst>
              <a:gd name="adj" fmla="val 5000"/>
            </a:avLst>
          </a:prstGeom>
          <a:solidFill>
            <a:srgbClr val="2C6E4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320040"/>
            <a:ext cx="548640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b="1" dirty="0">
                <a:solidFill>
                  <a:srgbClr val="FFFFFF"/>
                </a:solidFill>
                <a:latin typeface="Calibri"/>
              </a:rPr>
              <a:t>Q194 — ANSWER REVEAL</a:t>
            </a:r>
          </a:p>
        </p:txBody>
      </p:sp>
      <p:sp>
        <p:nvSpPr>
          <p:cNvPr id="0" name="T"/>
          <p:cNvSpPr txBox="1"/>
          <p:nvPr/>
        </p:nvSpPr>
        <p:spPr>
          <a:xfrm>
            <a:off x="7772400" y="320040"/>
            <a:ext cx="384048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r"/>
            <a:r>
              <a:rPr lang="en-US" sz="1200" dirty="0">
                <a:solidFill>
                  <a:srgbClr val="C7CFDB"/>
                </a:solidFill>
                <a:latin typeface="Calibri"/>
              </a:rPr>
              <a:t>34/34</a:t>
            </a:r>
          </a:p>
        </p:txBody>
      </p:sp>
      <p:sp>
        <p:nvSpPr>
          <p:cNvPr id="0" name="T"/>
          <p:cNvSpPr txBox="1"/>
          <p:nvPr/>
        </p:nvSpPr>
        <p:spPr>
          <a:xfrm>
            <a:off x="457200" y="1097280"/>
            <a:ext cx="11247120" cy="109728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C7CFDB"/>
                </a:solidFill>
                <a:latin typeface="Calibri"/>
              </a:rPr>
              <a:t>G.P. Birla Memorial Award 2025 kisne praapt kiya?</a:t>
            </a:r>
          </a:p>
        </p:txBody>
      </p:sp>
      <p:sp>
        <p:nvSpPr>
          <p:cNvPr id="0" name="AnsBox"/>
          <p:cNvSpPr/>
          <p:nvPr/>
        </p:nvSpPr>
        <p:spPr>
          <a:xfrm>
            <a:off x="457200" y="2560320"/>
            <a:ext cx="11247120" cy="1097280"/>
          </a:xfrm>
          <a:prstGeom prst="roundRect">
            <a:avLst>
              <a:gd name="adj" fmla="val 5000"/>
            </a:avLst>
          </a:prstGeom>
          <a:solidFill>
            <a:srgbClr val="27AE6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2651760"/>
            <a:ext cx="10698480" cy="9144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2400" b="1" dirty="0">
                <a:solidFill>
                  <a:srgbClr val="FFFFFF"/>
                </a:solidFill>
                <a:latin typeface="Calibri"/>
              </a:rPr>
              <a:t>Answer: (d) V. Narayanan</a:t>
            </a:r>
          </a:p>
        </p:txBody>
      </p:sp>
      <p:sp>
        <p:nvSpPr>
          <p:cNvPr id="0" name="DetBox"/>
          <p:cNvSpPr/>
          <p:nvPr/>
        </p:nvSpPr>
        <p:spPr>
          <a:xfrm>
            <a:off x="457200" y="3931920"/>
            <a:ext cx="11247120" cy="182880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731520" y="4069080"/>
            <a:ext cx="10698480" cy="1554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200" b="1" dirty="0">
                <a:solidFill>
                  <a:srgbClr val="E0A458"/>
                </a:solidFill>
                <a:latin typeface="Calibri"/>
              </a:rPr>
              <a:t>Details:</a:t>
            </a:r>
          </a:p>
          <a:p>
            <a:pPr algn="l"/>
            <a:r>
              <a:rPr lang="en-US" sz="1400" dirty="0">
                <a:solidFill>
                  <a:srgbClr val="FFFFFF"/>
                </a:solidFill>
                <a:latin typeface="Calibri"/>
              </a:rPr>
              <a:t>ISRO scientist. Contributions to rocket propulsion.</a:t>
            </a:r>
          </a:p>
        </p:txBody>
      </p:sp>
      <p:sp>
        <p:nvSpPr>
          <p:cNvPr id="0" name="Brand2"/>
          <p:cNvSpPr/>
          <p:nvPr/>
        </p:nvSpPr>
        <p:spPr>
          <a:xfrm>
            <a:off x="365760" y="6217920"/>
            <a:ext cx="11430000" cy="457200"/>
          </a:xfrm>
          <a:prstGeom prst="roundRect">
            <a:avLst>
              <a:gd name="adj" fmla="val 5000"/>
            </a:avLst>
          </a:prstGeom>
          <a:solidFill>
            <a:srgbClr val="1623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548640" y="6245352"/>
            <a:ext cx="109728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000" dirty="0">
                <a:solidFill>
                  <a:srgbClr val="C7CFDB"/>
                </a:solidFill>
                <a:latin typeface="Calibri"/>
              </a:rPr>
              <a:t>UKPSC DECODED  |  Telegram: @UKPSCDECODED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"/>
          <p:cNvSpPr txBox="1"/>
          <p:nvPr/>
        </p:nvSpPr>
        <p:spPr>
          <a:xfrm>
            <a:off x="731520" y="731520"/>
            <a:ext cx="10972800" cy="91440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3600" b="1" dirty="0">
                <a:solidFill>
                  <a:srgbClr val="FFFFFF"/>
                </a:solidFill>
                <a:latin typeface="Calibri"/>
              </a:rPr>
              <a:t>Kitne Sahi Aaye?</a:t>
            </a:r>
          </a:p>
        </p:txBody>
      </p:sp>
      <p:sp>
        <p:nvSpPr>
          <p:cNvPr id="0" name="Sc0"/>
          <p:cNvSpPr/>
          <p:nvPr/>
        </p:nvSpPr>
        <p:spPr>
          <a:xfrm>
            <a:off x="1371600" y="2011680"/>
            <a:ext cx="941832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1645920" y="2148840"/>
            <a:ext cx="411480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800" b="1" dirty="0">
                <a:solidFill>
                  <a:srgbClr val="27AE60"/>
                </a:solidFill>
                <a:latin typeface="Calibri"/>
              </a:rPr>
              <a:t>28+ Correct</a:t>
            </a:r>
          </a:p>
        </p:txBody>
      </p:sp>
      <p:sp>
        <p:nvSpPr>
          <p:cNvPr id="0" name="T"/>
          <p:cNvSpPr txBox="1"/>
          <p:nvPr/>
        </p:nvSpPr>
        <p:spPr>
          <a:xfrm>
            <a:off x="5943600" y="2148840"/>
            <a:ext cx="457200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400" dirty="0">
                <a:solidFill>
                  <a:srgbClr val="FFFFFF"/>
                </a:solidFill>
                <a:latin typeface="Calibri"/>
              </a:rPr>
              <a:t>Prep STRONG hai!</a:t>
            </a:r>
          </a:p>
        </p:txBody>
      </p:sp>
      <p:sp>
        <p:nvSpPr>
          <p:cNvPr id="0" name="Sc1"/>
          <p:cNvSpPr/>
          <p:nvPr/>
        </p:nvSpPr>
        <p:spPr>
          <a:xfrm>
            <a:off x="1371600" y="3291840"/>
            <a:ext cx="941832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1645920" y="3429000"/>
            <a:ext cx="411480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800" b="1" dirty="0">
                <a:solidFill>
                  <a:srgbClr val="F39C12"/>
                </a:solidFill>
                <a:latin typeface="Calibri"/>
              </a:rPr>
              <a:t>18-27 Correct</a:t>
            </a:r>
          </a:p>
        </p:txBody>
      </p:sp>
      <p:sp>
        <p:nvSpPr>
          <p:cNvPr id="0" name="T"/>
          <p:cNvSpPr txBox="1"/>
          <p:nvPr/>
        </p:nvSpPr>
        <p:spPr>
          <a:xfrm>
            <a:off x="5943600" y="3429000"/>
            <a:ext cx="457200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400" dirty="0">
                <a:solidFill>
                  <a:srgbClr val="FFFFFF"/>
                </a:solidFill>
                <a:latin typeface="Calibri"/>
              </a:rPr>
              <a:t>Achhi hai, gaps fill karo</a:t>
            </a:r>
          </a:p>
        </p:txBody>
      </p:sp>
      <p:sp>
        <p:nvSpPr>
          <p:cNvPr id="0" name="Sc2"/>
          <p:cNvSpPr/>
          <p:nvPr/>
        </p:nvSpPr>
        <p:spPr>
          <a:xfrm>
            <a:off x="1371600" y="4572000"/>
            <a:ext cx="941832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1645920" y="4709160"/>
            <a:ext cx="411480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800" b="1" dirty="0">
                <a:solidFill>
                  <a:srgbClr val="E74C3C"/>
                </a:solidFill>
                <a:latin typeface="Calibri"/>
              </a:rPr>
              <a:t>18 se kam</a:t>
            </a:r>
          </a:p>
        </p:txBody>
      </p:sp>
      <p:sp>
        <p:nvSpPr>
          <p:cNvPr id="0" name="T"/>
          <p:cNvSpPr txBox="1"/>
          <p:nvPr/>
        </p:nvSpPr>
        <p:spPr>
          <a:xfrm>
            <a:off x="5943600" y="4709160"/>
            <a:ext cx="457200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400" dirty="0">
                <a:solidFill>
                  <a:srgbClr val="FFFFFF"/>
                </a:solidFill>
                <a:latin typeface="Calibri"/>
              </a:rPr>
              <a:t>Is video SAVE karo, dubara dekho</a:t>
            </a:r>
          </a:p>
        </p:txBody>
      </p:sp>
      <p:sp>
        <p:nvSpPr>
          <p:cNvPr id="0" name="CTA"/>
          <p:cNvSpPr/>
          <p:nvPr/>
        </p:nvSpPr>
        <p:spPr>
          <a:xfrm>
            <a:off x="914400" y="5303520"/>
            <a:ext cx="10332720" cy="1097280"/>
          </a:xfrm>
          <a:prstGeom prst="roundRect">
            <a:avLst>
              <a:gd name="adj" fmla="val 5000"/>
            </a:avLst>
          </a:prstGeom>
          <a:solidFill>
            <a:srgbClr val="E0A45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"/>
          <p:cNvSpPr txBox="1"/>
          <p:nvPr/>
        </p:nvSpPr>
        <p:spPr>
          <a:xfrm>
            <a:off x="1097280" y="5394960"/>
            <a:ext cx="9966960" cy="91440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600" b="1" dirty="0">
                <a:solidFill>
                  <a:srgbClr val="16233A"/>
                </a:solidFill>
                <a:latin typeface="Calibri"/>
              </a:rPr>
              <a:t>SUBSCRIBE + Bell ON | Telegram: @UKPSCDECODED</a:t>
            </a:r>
          </a:p>
          <a:p>
            <a:pPr algn="ctr"/>
            <a:r>
              <a:rPr lang="en-US" sz="1300" dirty="0">
                <a:solidFill>
                  <a:srgbClr val="16233A"/>
                </a:solidFill>
                <a:latin typeface="Calibri"/>
              </a:rPr>
              <a:t>Next: Full Answer Key + Mains Strategy</a:t>
            </a:r>
          </a:p>
        </p:txBody>
      </p:sp>
    </p:spTree>
  </p:cSld>
  <p:clrMapOvr>
    <a:masterClrMapping/>
  </p:clrMapOvr>
</p:sld>
</file>