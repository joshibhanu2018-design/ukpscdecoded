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bg><p:bgPr><a:solidFill><a:srgbClr val="16233A"/></a:solidFill><a:effectLst/></p:bgPr></p:bg>
    <p:spTree>
      <p:nvGrpSpPr><p:cNvPr id="1" name=""/><p:cNvGrpSpPr/><p:nvPr/></p:nvGrpSpPr>
      <p:grpSpPr>
        <a:xfrm><a:off x="0" y="0"/><a:ext cx="0" cy="0"/><a:chOff x="0" y="0"/><a:chExt cx="0" cy="0"/></a:xfrm>
      </p:grpSpPr>
      <p:sp>
  <p:nvSpPr><p:cNvPr id="0" name="TextBox"/><p:cNvSpPr txBox="1"/><p:nvPr/></p:nvSpPr>
  <p:spPr>
    <a:xfrm><a:off x="731520" y="914400"/><a:ext cx="10698480" cy="457200"/></a:xfrm>
    <a:prstGeom prst="rect"><a:avLst/></a:prstGeom>
    <a:noFill/>
  </p:spPr>
  <p:txBody>
    <a:bodyPr wrap="square" rtlCol="0"/>
    <a:lstStyle/>
    <a:p><a:pPr algn="l"/><a:r><a:rPr lang="en-US" sz="1500" b="1" dirty="0"><a:solidFill><a:srgbClr val="E0A458"/></a:solidFill><a:latin typeface="Calibri"/></a:rPr><a:t>UKPSC RO/ARO PRELIMS 2026</a:t></a:r></a:p>
  </p:txBody>
</p:sp><p:sp>
  <p:nvSpPr><p:cNvPr id="0" name="TextBox"/><p:cNvSpPr txBox="1"/><p:nvPr/></p:nvSpPr>
  <p:spPr>
    <a:xfrm><a:off x="731520" y="1554480"/><a:ext cx="10698480" cy="1371600"/></a:xfrm>
    <a:prstGeom prst="rect"><a:avLst/></a:prstGeom>
    <a:noFill/>
  </p:spPr>
  <p:txBody>
    <a:bodyPr wrap="square" rtlCol="0"/>
    <a:lstStyle/>
    <a:p><a:pPr algn="l"/><a:r><a:rPr lang="en-US" sz="3800" b="1" dirty="0"><a:solidFill><a:srgbClr val="FFFFFF"/></a:solidFill><a:latin typeface="Calibri"/></a:rPr><a:t>Complete Paper Analysis</a:t></a:r></a:p>
  </p:txBody>
</p:sp><p:sp>
  <p:nvSpPr><p:cNvPr id="0" name="TextBox"/><p:cNvSpPr txBox="1"/><p:nvPr/></p:nvSpPr>
  <p:spPr>
    <a:xfrm><a:off x="731520" y="2468880"/><a:ext cx="10698480" cy="914400"/></a:xfrm>
    <a:prstGeom prst="rect"><a:avLst/></a:prstGeom>
    <a:noFill/>
  </p:spPr>
  <p:txBody>
    <a:bodyPr wrap="square" rtlCol="0"/>
    <a:lstStyle/>
    <a:p><a:pPr algn="l"/><a:r><a:rPr lang="en-US" sz="3200" b="1" dirty="0"><a:solidFill><a:srgbClr val="FFFFFF"/></a:solidFill><a:latin typeface="Calibri"/></a:rPr><a:t>& Expected Cut-Off Prediction</a:t></a:r></a:p>
  </p:txBody>
</p:sp><p:sp>
  <p:nvSpPr><p:cNvPr id="0" name="TextBox"/><p:cNvSpPr txBox="1"/><p:nvPr/></p:nvSpPr>
  <p:spPr>
    <a:xfrm><a:off x="731520" y="3474720"/><a:ext cx="10058400" cy="457200"/></a:xfrm>
    <a:prstGeom prst="rect"><a:avLst/></a:prstGeom>
    <a:noFill/>
  </p:spPr>
  <p:txBody>
    <a:bodyPr wrap="square" rtlCol="0"/>
    <a:lstStyle/>
    <a:p><a:pPr algn="l"/><a:r><a:rPr lang="en-US" sz="1500" dirty="0"><a:solidFill><a:srgbClr val="C7CFDB"/></a:solidFill><a:latin typeface="Calibri"/></a:rPr><a:t>Exam Date: 19 July 2026 | Section-wise Difficulty | Good Attempts | Safe Score</a:t></a:r></a:p>
  </p:txBody>
</p:sp><p:sp>
  <p:nvSpPr><p:cNvPr id="0" name="Box1"/><p:cNvSpPr/><p:nvPr/></p:nvSpPr>
  <p:spPr>
    <a:xfrm><a:off x="731520" y="4572000"/><a:ext cx="3200400" cy="1097280"/></a:xfrm>
    <a:prstGeom prst="roundRect"><a:avLst><a:gd name="adj" fmla="val 5000"/></a:avLst></a:prstGeom>
    <a:solidFill><a:srgbClr val="2E4057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822960" y="4663440"/><a:ext cx="3017520" cy="914400"/></a:xfrm>
    <a:prstGeom prst="rect"><a:avLst/></a:prstGeom>
    <a:noFill/>
  </p:spPr>
  <p:txBody>
    <a:bodyPr wrap="square" rtlCol="0"/>
    <a:lstStyle/>
    <a:p><a:pPr algn="ctr"/><a:r><a:rPr lang="en-US" sz="3400" b="1" dirty="0"><a:solidFill><a:srgbClr val="E0A458"/></a:solidFill><a:latin typeface="Calibri"/></a:rPr><a:t>150</a:t></a:r></a:p><a:p><a:pPr algn="ctr"/><a:r><a:rPr lang="en-US" sz="1200" dirty="0"><a:solidFill><a:srgbClr val="C7CFDB"/></a:solidFill><a:latin typeface="Calibri"/></a:rPr><a:t>Total Marks</a:t></a:r></a:p>
  </p:txBody>
</p:sp><p:sp>
  <p:nvSpPr><p:cNvPr id="0" name="Box2"/><p:cNvSpPr/><p:nvPr/></p:nvSpPr>
  <p:spPr>
    <a:xfrm><a:off x="4206240" y="4572000"/><a:ext cx="3200400" cy="1097280"/></a:xfrm>
    <a:prstGeom prst="roundRect"><a:avLst><a:gd name="adj" fmla="val 5000"/></a:avLst></a:prstGeom>
    <a:solidFill><a:srgbClr val="2E4057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4297680" y="4663440"/><a:ext cx="3017520" cy="914400"/></a:xfrm>
    <a:prstGeom prst="rect"><a:avLst/></a:prstGeom>
    <a:noFill/>
  </p:spPr>
  <p:txBody>
    <a:bodyPr wrap="square" rtlCol="0"/>
    <a:lstStyle/>
    <a:p><a:pPr algn="ctr"/><a:r><a:rPr lang="en-US" sz="3000" b="1" dirty="0"><a:solidFill><a:srgbClr val="E0A458"/></a:solidFill><a:latin typeface="Calibri"/></a:rPr><a:t>2 Hours</a:t></a:r></a:p><a:p><a:pPr algn="ctr"/><a:r><a:rPr lang="en-US" sz="1200" dirty="0"><a:solidFill><a:srgbClr val="C7CFDB"/></a:solidFill><a:latin typeface="Calibri"/></a:rPr><a:t>Duration</a:t></a:r></a:p>
  </p:txBody>
</p:sp><p:sp>
  <p:nvSpPr><p:cNvPr id="0" name="Box3"/><p:cNvSpPr/><p:nvPr/></p:nvSpPr>
  <p:spPr>
    <a:xfrm><a:off x="7680960" y="4572000"/><a:ext cx="3200400" cy="1097280"/></a:xfrm>
    <a:prstGeom prst="roundRect"><a:avLst><a:gd name="adj" fmla="val 5000"/></a:avLst></a:prstGeom>
    <a:solidFill><a:srgbClr val="2E4057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7772400" y="4663440"/><a:ext cx="3017520" cy="914400"/></a:xfrm>
    <a:prstGeom prst="rect"><a:avLst/></a:prstGeom>
    <a:noFill/>
  </p:spPr>
  <p:txBody>
    <a:bodyPr wrap="square" rtlCol="0"/>
    <a:lstStyle/>
    <a:p><a:pPr algn="ctr"/><a:r><a:rPr lang="en-US" sz="3000" b="1" dirty="0"><a:solidFill><a:srgbClr val="E0A458"/></a:solidFill><a:latin typeface="Calibri"/></a:rPr><a:t>0.25</a:t></a:r></a:p><a:p><a:pPr algn="ctr"/><a:r><a:rPr lang="en-US" sz="1200" dirty="0"><a:solidFill><a:srgbClr val="C7CFDB"/></a:solidFill><a:latin typeface="Calibri"/></a:rPr><a:t>Negative Marking</a:t></a:r></a:p>
  </p:txBody>
</p:sp>
    </p:spTree>
  </p:cSld>
  <p:clrMapOvr><a:masterClrMapping/></p:clrMapOvr>
</p:sld>
</file>

<file path=ppt/slides/slide2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bg><p:bgPr><a:solidFill><a:srgbClr val="F7F5F1"/></a:solidFill><a:effectLst/></p:bgPr></p:bg>
    <p:spTree>
      <p:nvGrpSpPr><p:cNvPr id="1" name=""/><p:cNvGrpSpPr/><p:nvPr/></p:nvGrpSpPr>
      <p:grpSpPr>
        <a:xfrm><a:off x="0" y="0"/><a:ext cx="0" cy="0"/><a:chOff x="0" y="0"/><a:chExt cx="0" cy="0"/></a:xfrm>
      </p:grpSpPr>
      <p:sp>
  <p:nvSpPr><p:cNvPr id="0" name="TextBox"/><p:cNvSpPr txBox="1"/><p:nvPr/></p:nvSpPr>
  <p:spPr>
    <a:xfrm><a:off x="640080" y="365760"/><a:ext cx="10881360" cy="640080"/></a:xfrm>
    <a:prstGeom prst="rect"><a:avLst/></a:prstGeom>
    <a:noFill/>
  </p:spPr>
  <p:txBody>
    <a:bodyPr wrap="square" rtlCol="0"/>
    <a:lstStyle/>
    <a:p><a:pPr algn="l"/><a:r><a:rPr lang="en-US" sz="3000" b="1" dirty="0"><a:solidFill><a:srgbClr val="16233A"/></a:solidFill><a:latin typeface="Calibri"/></a:rPr><a:t>Exam Blueprint</a:t></a:r></a:p>
  </p:txBody>
</p:sp><p:sp>
  <p:nvSpPr><p:cNvPr id="0" name="TextBox"/><p:cNvSpPr txBox="1"/><p:nvPr/></p:nvSpPr>
  <p:spPr>
    <a:xfrm><a:off x="640080" y="914400"/><a:ext cx="10881360" cy="365760"/></a:xfrm>
    <a:prstGeom prst="rect"><a:avLst/></a:prstGeom>
    <a:noFill/>
  </p:spPr>
  <p:txBody>
    <a:bodyPr wrap="square" rtlCol="0"/>
    <a:lstStyle/>
    <a:p><a:pPr algn="l"/><a:r><a:rPr lang="en-US" sz="1400" dirty="0"><a:solidFill><a:srgbClr val="6B7280"/></a:solidFill><a:latin typeface="Calibri"/></a:rPr><a:t>UKPSC RO/ARO Prelims 2026 — Paper Structure</a:t></a:r></a:p>
  </p:txBody>
</p:sp><p:sp>
  <p:nvSpPr><p:cNvPr id="0" name="GS_Card"/><p:cNvSpPr/><p:nvPr/></p:nvSpPr>
  <p:spPr>
    <a:xfrm><a:off x="640080" y="1554480"/><a:ext cx="5029200" cy="274320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914400" y="1737360"/><a:ext cx="4572000" cy="2377440"/></a:xfrm>
    <a:prstGeom prst="rect"><a:avLst/></a:prstGeom>
    <a:noFill/>
  </p:spPr>
  <p:txBody>
    <a:bodyPr wrap="square" rtlCol="0"/>
    <a:lstStyle/>
    <a:p><a:pPr algn="ctr"/><a:r><a:rPr lang="en-US" sz="1200" b="1" dirty="0"><a:solidFill><a:srgbClr val="E0A458"/></a:solidFill><a:latin typeface="Calibri"/></a:rPr><a:t>SECTION 1</a:t></a:r></a:p><a:p><a:pPr algn="ctr"/><a:r><a:rPr lang="en-US" sz="2400" b="1" dirty="0"><a:solidFill><a:srgbClr val="16233A"/></a:solidFill><a:latin typeface="Calibri"/></a:rPr><a:t>General Studies</a:t></a:r></a:p><a:p><a:pPr algn="ctr"/><a:r><a:rPr lang="en-US" sz="800" dirty="0"><a:solidFill><a:srgbClr val="16233A"/></a:solidFill><a:latin typeface="Calibri"/></a:rPr><a:t></a:t></a:r></a:p><a:p><a:pPr algn="ctr"/><a:r><a:rPr lang="en-US" sz="1500" dirty="0"><a:solidFill><a:srgbClr val="2A2A2A"/></a:solidFill><a:latin typeface="Calibri"/></a:rPr><a:t>Questions: 100</a:t></a:r></a:p><a:p><a:pPr algn="ctr"/><a:r><a:rPr lang="en-US" sz="1500" dirty="0"><a:solidFill><a:srgbClr val="2A2A2A"/></a:solidFill><a:latin typeface="Calibri"/></a:rPr><a:t>Marks: 100</a:t></a:r></a:p><a:p><a:pPr algn="ctr"/><a:r><a:rPr lang="en-US" sz="1300" dirty="0"><a:solidFill><a:srgbClr val="6B7280"/></a:solidFill><a:latin typeface="Calibri"/></a:rPr><a:t>Topics: History, Polity, Geography,</a:t></a:r></a:p><a:p><a:pPr algn="ctr"/><a:r><a:rPr lang="en-US" sz="1300" dirty="0"><a:solidFill><a:srgbClr val="6B7280"/></a:solidFill><a:latin typeface="Calibri"/></a:rPr><a:t>Economy, Science, Current Affairs, UK GK</a:t></a:r></a:p>
  </p:txBody>
</p:sp><p:sp>
  <p:nvSpPr><p:cNvPr id="0" name="Apt_Card"/><p:cNvSpPr/><p:nvPr/></p:nvSpPr>
  <p:spPr>
    <a:xfrm><a:off x="5943600" y="1554480"/><a:ext cx="5029200" cy="274320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6217920" y="1737360"/><a:ext cx="4572000" cy="2377440"/></a:xfrm>
    <a:prstGeom prst="rect"><a:avLst/></a:prstGeom>
    <a:noFill/>
  </p:spPr>
  <p:txBody>
    <a:bodyPr wrap="square" rtlCol="0"/>
    <a:lstStyle/>
    <a:p><a:pPr algn="ctr"/><a:r><a:rPr lang="en-US" sz="1200" b="1" dirty="0"><a:solidFill><a:srgbClr val="E0A458"/></a:solidFill><a:latin typeface="Calibri"/></a:rPr><a:t>SECTION 2</a:t></a:r></a:p><a:p><a:pPr algn="ctr"/><a:r><a:rPr lang="en-US" sz="2200" b="1" dirty="0"><a:solidFill><a:srgbClr val="16233A"/></a:solidFill><a:latin typeface="Calibri"/></a:rPr><a:t>General Aptitude & Intelligence</a:t></a:r></a:p><a:p><a:pPr algn="ctr"/><a:r><a:rPr lang="en-US" sz="800" dirty="0"><a:solidFill><a:srgbClr val="16233A"/></a:solidFill><a:latin typeface="Calibri"/></a:rPr><a:t></a:t></a:r></a:p><a:p><a:pPr algn="ctr"/><a:r><a:rPr lang="en-US" sz="1500" dirty="0"><a:solidFill><a:srgbClr val="2A2A2A"/></a:solidFill><a:latin typeface="Calibri"/></a:rPr><a:t>Questions: 50</a:t></a:r></a:p><a:p><a:pPr algn="ctr"/><a:r><a:rPr lang="en-US" sz="1500" dirty="0"><a:solidFill><a:srgbClr val="2A2A2A"/></a:solidFill><a:latin typeface="Calibri"/></a:rPr><a:t>Marks: 50</a:t></a:r></a:p><a:p><a:pPr algn="ctr"/><a:r><a:rPr lang="en-US" sz="1300" dirty="0"><a:solidFill><a:srgbClr val="6B7280"/></a:solidFill><a:latin typeface="Calibri"/></a:rPr><a:t>Topics: Maths, Reasoning,</a:t></a:r></a:p><a:p><a:pPr algn="ctr"/><a:r><a:rPr lang="en-US" sz="1300" dirty="0"><a:solidFill><a:srgbClr val="6B7280"/></a:solidFill><a:latin typeface="Calibri"/></a:rPr><a:t>Mental Ability, Data Interpretation</a:t></a:r></a:p>
  </p:txBody>
</p:sp><p:sp>
  <p:nvSpPr><p:cNvPr id="0" name="InfoBar"/><p:cNvSpPr/><p:nvPr/></p:nvSpPr>
  <p:spPr>
    <a:xfrm><a:off x="640080" y="4663440"/><a:ext cx="10698480" cy="1371600"/></a:xfrm>
    <a:prstGeom prst="roundRect"><a:avLst><a:gd name="adj" fmla="val 5000"/></a:avLst></a:prstGeom>
    <a:solidFill><a:srgbClr val="16233A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914400" y="4846320"/><a:ext cx="10241280" cy="1005840"/></a:xfrm>
    <a:prstGeom prst="rect"><a:avLst/></a:prstGeom>
    <a:noFill/>
  </p:spPr>
  <p:txBody>
    <a:bodyPr wrap="square" rtlCol="0"/>
    <a:lstStyle/>
    <a:p><a:pPr algn="ctr"/><a:r><a:rPr lang="en-US" sz="1500" b="1" dirty="0"><a:solidFill><a:srgbClr val="FFFFFF"/></a:solidFill><a:latin typeface="Calibri"/></a:rPr><a:t>Total: 150 Questions | 150 Marks | 2 Hours | Negative Marking: 1/4 (0.25 per wrong answer)</a:t></a:r></a:p><a:p><a:pPr algn="ctr"/><a:r><a:rPr lang="en-US" sz="1300" dirty="0"><a:solidFill><a:srgbClr val="C7CFDB"/></a:solidFill><a:latin typeface="Calibri"/></a:rPr><a:t>4 wrong answers = 1 mark deducted. Accuracy matters more than attempts!</a:t></a:r></a:p>
  </p:txBody>
</p:sp>
    </p:spTree>
  </p:cSld>
  <p:clrMapOvr><a:masterClrMapping/>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700" b="1" dirty="0">
                <a:solidFill>
                  <a:srgbClr val="16233A"/>
                </a:solidFill>
                <a:latin typeface="Calibri"/>
              </a:rPr>
              <a:t>General Studies — Section Breakdown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6B7280"/>
                </a:solidFill>
                <a:latin typeface="Calibri"/>
              </a:rPr>
              <a:t>Overall GS Difficulty: Moderate</a:t>
            </a:r>
          </a:p>
        </p:txBody>
      </p:sp>
      <p:sp>
        <p:nvSpPr>
          <p:cNvPr id="0" name="GS_History"/>
          <p:cNvSpPr/>
          <p:nvPr/>
        </p:nvSpPr>
        <p:spPr>
          <a:xfrm>
            <a:off x="64008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155448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History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15-18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_Polity"/>
          <p:cNvSpPr/>
          <p:nvPr/>
        </p:nvSpPr>
        <p:spPr>
          <a:xfrm>
            <a:off x="347472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3566160" y="155448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Polity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12-15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_Geography"/>
          <p:cNvSpPr/>
          <p:nvPr/>
        </p:nvSpPr>
        <p:spPr>
          <a:xfrm>
            <a:off x="630936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6400800" y="155448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Geography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10-12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_Economy"/>
          <p:cNvSpPr/>
          <p:nvPr/>
        </p:nvSpPr>
        <p:spPr>
          <a:xfrm>
            <a:off x="914400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235440" y="155448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Economy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8-10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_Science"/>
          <p:cNvSpPr/>
          <p:nvPr/>
        </p:nvSpPr>
        <p:spPr>
          <a:xfrm>
            <a:off x="640080" y="3474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365760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Science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8-10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_Current Affairs"/>
          <p:cNvSpPr/>
          <p:nvPr/>
        </p:nvSpPr>
        <p:spPr>
          <a:xfrm>
            <a:off x="3474720" y="3474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3566160" y="365760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Current Affairs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15-18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_Uttarakhand GK"/>
          <p:cNvSpPr/>
          <p:nvPr/>
        </p:nvSpPr>
        <p:spPr>
          <a:xfrm>
            <a:off x="6309360" y="34747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6400800" y="3657600"/>
            <a:ext cx="2377440" cy="1463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16233A"/>
                </a:solidFill>
                <a:latin typeface="Calibri"/>
              </a:rPr>
              <a:t>Uttarakhand GK</a:t>
            </a:r>
          </a:p>
          <a:p>
            <a:pPr algn="ctr"/>
            <a:r>
              <a:rPr lang="en-US" sz="2800" b="1" dirty="0">
                <a:solidFill>
                  <a:srgbClr val="E0A458"/>
                </a:solidFill>
                <a:latin typeface="Calibri"/>
              </a:rPr>
              <a:t>20-25</a:t>
            </a:r>
          </a:p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Qs</a:t>
            </a:r>
          </a:p>
        </p:txBody>
      </p:sp>
      <p:sp>
        <p:nvSpPr>
          <p:cNvPr id="0" name="GSInsight"/>
          <p:cNvSpPr/>
          <p:nvPr/>
        </p:nvSpPr>
        <p:spPr>
          <a:xfrm>
            <a:off x="640080" y="50292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5120640"/>
            <a:ext cx="1024128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500" b="1" dirty="0">
                <a:solidFill>
                  <a:srgbClr val="DC3545"/>
                </a:solidFill>
                <a:latin typeface="Calibri"/>
              </a:rPr>
              <a:t>Toughest: Statement-based History / Lengthy Math</a:t>
            </a:r>
          </a:p>
          <a:p>
            <a:pPr algn="ctr"/>
            <a:r>
              <a:rPr lang="en-US" sz="1500" b="1" dirty="0">
                <a:solidFill>
                  <a:srgbClr val="3F7D58"/>
                </a:solidFill>
                <a:latin typeface="Calibri"/>
              </a:rPr>
              <a:t>Easiest: Uttarakhand GK / Basic Reasoning</a:t>
            </a:r>
          </a:p>
        </p:txBody>
      </p:sp>
    </p:spTree>
  </p:cSld>
  <p:clrMapOvr>
    <a:masterClrMapping/>
  </p:clrMapOvr>
</p:sld>
</file>

<file path=ppt/slides/slide4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bg><p:bgPr><a:solidFill><a:srgbClr val="F7F5F1"/></a:solidFill><a:effectLst/></p:bgPr></p:bg>
    <p:spTree>
      <p:nvGrpSpPr><p:cNvPr id="1" name=""/><p:cNvGrpSpPr/><p:nvPr/></p:nvGrpSpPr>
      <p:grpSpPr>
        <a:xfrm><a:off x="0" y="0"/><a:ext cx="0" cy="0"/><a:chOff x="0" y="0"/><a:chExt cx="0" cy="0"/></a:xfrm>
      </p:grpSpPr>
      <p:sp>
  <p:nvSpPr><p:cNvPr id="0" name="TextBox"/><p:cNvSpPr txBox="1"/><p:nvPr/></p:nvSpPr>
  <p:spPr>
    <a:xfrm><a:off x="640080" y="274320"/><a:ext cx="10881360" cy="548640"/></a:xfrm>
    <a:prstGeom prst="rect"><a:avLst/></a:prstGeom>
    <a:noFill/>
  </p:spPr>
  <p:txBody>
    <a:bodyPr wrap="square" rtlCol="0"/>
    <a:lstStyle/>
    <a:p><a:pPr algn="l"/><a:r><a:rPr lang="en-US" sz="2700" b="1" dirty="0"><a:solidFill><a:srgbClr val="16233A"/></a:solidFill><a:latin typeface="Calibri"/></a:rPr><a:t>General Aptitude & Reasoning — 50 Questions</a:t></a:r></a:p>
  </p:txBody>
</p:sp><p:sp>
  <p:nvSpPr><p:cNvPr id="0" name="TextBox"/><p:cNvSpPr txBox="1"/><p:nvPr/></p:nvSpPr>
  <p:spPr>
    <a:xfrm><a:off x="640080" y="777240"/><a:ext cx="10881360" cy="365760"/></a:xfrm>
    <a:prstGeom prst="rect"><a:avLst/></a:prstGeom>
    <a:noFill/>
  </p:spPr>
  <p:txBody>
    <a:bodyPr wrap="square" rtlCol="0"/>
    <a:lstStyle/>
    <a:p><a:pPr algn="l"/><a:r><a:rPr lang="en-US" sz="1400" dirty="0"><a:solidFill><a:srgbClr val="6B7280"/></a:solidFill><a:latin typeface="Calibri"/></a:rPr><a:t>Overall Aptitude Difficulty: Moderate</a:t></a:r></a:p>
  </p:txBody>
</p:sp><p:sp>
  <p:nvSpPr><p:cNvPr id="0" name="MathCard"/><p:cNvSpPr/><p:nvPr/></p:nvSpPr>
  <p:spPr>
    <a:xfrm><a:off x="640080" y="1371600"/><a:ext cx="5212080" cy="292608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914400" y="1554480"/><a:ext cx="4754880" cy="2560320"/></a:xfrm>
    <a:prstGeom prst="rect"><a:avLst/></a:prstGeom>
    <a:noFill/>
  </p:spPr>
  <p:txBody>
    <a:bodyPr wrap="square" rtlCol="0"/>
    <a:lstStyle/>
    <a:p><a:pPr algn="ctr"/><a:r><a:rPr lang="en-US" sz="1400" b="1" dirty="0"><a:solidFill><a:srgbClr val="E0A458"/></a:solidFill><a:latin typeface="Calibri"/></a:rPr><a:t>MATHEMATICS</a:t></a:r></a:p><a:p><a:pPr algn="ctr"/><a:r><a:rPr lang="en-US" sz="600" dirty="0"><a:solidFill><a:srgbClr val="16233A"/></a:solidFill><a:latin typeface="Calibri"/></a:rPr><a:t></a:t></a:r></a:p><a:p><a:pPr algn="ctr"/><a:r><a:rPr lang="en-US" sz="2600" b="1" dirty="0"><a:solidFill><a:srgbClr val="16233A"/></a:solidFill><a:latin typeface="Calibri"/></a:rPr><a:t>20-25 Questions</a:t></a:r></a:p><a:p><a:pPr algn="ctr"/><a:r><a:rPr lang="en-US" sz="600" dirty="0"><a:solidFill><a:srgbClr val="16233A"/></a:solidFill><a:latin typeface="Calibri"/></a:rPr><a:t></a:t></a:r></a:p><a:p><a:pPr algn="ctr"/><a:r><a:rPr lang="en-US" sz="1300" dirty="0"><a:solidFill><a:srgbClr val="6B7280"/></a:solidFill><a:latin typeface="Calibri"/></a:rPr><a:t>Topics: Simplification, Percentage,</a:t></a:r></a:p><a:p><a:pPr algn="ctr"/><a:r><a:rPr lang="en-US" sz="1300" dirty="0"><a:solidFill><a:srgbClr val="6B7280"/></a:solidFill><a:latin typeface="Calibri"/></a:rPr><a:t>Profit-Loss, Time-Work-Speed,</a:t></a:r></a:p><a:p><a:pPr algn="ctr"/><a:r><a:rPr lang="en-US" sz="1300" dirty="0"><a:solidFill><a:srgbClr val="6B7280"/></a:solidFill><a:latin typeface="Calibri"/></a:rPr><a:t>Number Series, Data Interpretation</a:t></a:r></a:p>
  </p:txBody>
</p:sp><p:sp>
  <p:nvSpPr><p:cNvPr id="0" name="ReasonCard"/><p:cNvSpPr/><p:nvPr/></p:nvSpPr>
  <p:spPr>
    <a:xfrm><a:off x="6126480" y="1371600"/><a:ext cx="5212080" cy="292608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6400800" y="1554480"/><a:ext cx="4754880" cy="2560320"/></a:xfrm>
    <a:prstGeom prst="rect"><a:avLst/></a:prstGeom>
    <a:noFill/>
  </p:spPr>
  <p:txBody>
    <a:bodyPr wrap="square" rtlCol="0"/>
    <a:lstStyle/>
    <a:p><a:pPr algn="ctr"/><a:r><a:rPr lang="en-US" sz="1400" b="1" dirty="0"><a:solidFill><a:srgbClr val="E0A458"/></a:solidFill><a:latin typeface="Calibri"/></a:rPr><a:t>REASONING</a:t></a:r></a:p><a:p><a:pPr algn="ctr"/><a:r><a:rPr lang="en-US" sz="600" dirty="0"><a:solidFill><a:srgbClr val="16233A"/></a:solidFill><a:latin typeface="Calibri"/></a:rPr><a:t></a:t></a:r></a:p><a:p><a:pPr algn="ctr"/><a:r><a:rPr lang="en-US" sz="2600" b="1" dirty="0"><a:solidFill><a:srgbClr val="16233A"/></a:solidFill><a:latin typeface="Calibri"/></a:rPr><a:t>25-30 Questions</a:t></a:r></a:p><a:p><a:pPr algn="ctr"/><a:r><a:rPr lang="en-US" sz="600" dirty="0"><a:solidFill><a:srgbClr val="16233A"/></a:solidFill><a:latin typeface="Calibri"/></a:rPr><a:t></a:t></a:r></a:p><a:p><a:pPr algn="ctr"/><a:r><a:rPr lang="en-US" sz="1300" dirty="0"><a:solidFill><a:srgbClr val="6B7280"/></a:solidFill><a:latin typeface="Calibri"/></a:rPr><a:t>Topics: Coding-Decoding, Analogy,</a:t></a:r></a:p><a:p><a:pPr algn="ctr"/><a:r><a:rPr lang="en-US" sz="1300" dirty="0"><a:solidFill><a:srgbClr val="6B7280"/></a:solidFill><a:latin typeface="Calibri"/></a:rPr><a:t>Syllogism, Blood Relations,</a:t></a:r></a:p><a:p><a:pPr algn="ctr"/><a:r><a:rPr lang="en-US" sz="1300" dirty="0"><a:solidFill><a:srgbClr val="6B7280"/></a:solidFill><a:latin typeface="Calibri"/></a:rPr><a:t>Direction Test, Series</a:t></a:r></a:p>
  </p:txBody>
</p:sp><p:sp>
  <p:nvSpPr><p:cNvPr id="0" name="AptBar"/><p:cNvSpPr/><p:nvPr/></p:nvSpPr>
  <p:spPr>
    <a:xfrm><a:off x="640080" y="4663440"/><a:ext cx="10698480" cy="1371600"/></a:xfrm>
    <a:prstGeom prst="roundRect"><a:avLst><a:gd name="adj" fmla="val 5000"/></a:avLst></a:prstGeom>
    <a:solidFill><a:srgbClr val="16233A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914400" y="4846320"/><a:ext cx="10241280" cy="1005840"/></a:xfrm>
    <a:prstGeom prst="rect"><a:avLst/></a:prstGeom>
    <a:noFill/>
  </p:spPr>
  <p:txBody>
    <a:bodyPr wrap="square" rtlCol="0"/>
    <a:lstStyle/>
    <a:p><a:pPr algn="ctr"/><a:r><a:rPr lang="en-US" sz="1500" dirty="0"><a:solidFill><a:srgbClr val="FFFFFF"/></a:solidFill><a:latin typeface="Calibri"/></a:rPr><a:t>Student Feedback: GS was lengthy, Current Affairs direct, Math time-consuming</a:t></a:r></a:p><a:p><a:pPr algn="ctr"/><a:r><a:rPr lang="en-US" sz="1300" dirty="0"><a:solidFill><a:srgbClr val="C7CFDB"/></a:solidFill><a:latin typeface="Calibri"/></a:rPr><a:t>Math = Time-consuming | Reasoning = Relatively easier for most</a:t></a:r></a:p>
  </p:txBody>
</p:sp>
    </p:spTree>
  </p:cSld>
  <p:clrMapOvr><a:masterClrMapping/></p:clrMapOvr>
</p:sld>
</file>

<file path=ppt/slides/slide5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bg><p:bgPr><a:solidFill><a:srgbClr val="16233A"/></a:solidFill><a:effectLst/></p:bgPr></p:bg>
    <p:spTree>
      <p:nvGrpSpPr><p:cNvPr id="1" name=""/><p:cNvGrpSpPr/><p:nvPr/></p:nvGrpSpPr>
      <p:grpSpPr>
        <a:xfrm><a:off x="0" y="0"/><a:ext cx="0" cy="0"/><a:chOff x="0" y="0"/><a:chExt cx="0" cy="0"/></a:xfrm>
      </p:grpSpPr>
      <p:sp>
  <p:nvSpPr><p:cNvPr id="0" name="TextBox"/><p:cNvSpPr txBox="1"/><p:nvPr/></p:nvSpPr>
  <p:spPr>
    <a:xfrm><a:off x="640080" y="365760"/><a:ext cx="10881360" cy="640080"/></a:xfrm>
    <a:prstGeom prst="rect"><a:avLst/></a:prstGeom>
    <a:noFill/>
  </p:spPr>
  <p:txBody>
    <a:bodyPr wrap="square" rtlCol="0"/>
    <a:lstStyle/>
    <a:p><a:pPr algn="l"/><a:r><a:rPr lang="en-US" sz="3000" b="1" dirty="0"><a:solidFill><a:srgbClr val="FFFFFF"/></a:solidFill><a:latin typeface="Calibri"/></a:rPr><a:t>Good Attempts & Safe Score</a:t></a:r></a:p>
  </p:txBody>
</p:sp><p:sp>
  <p:nvSpPr><p:cNvPr id="0" name="TextBox"/><p:cNvSpPr txBox="1"/><p:nvPr/></p:nvSpPr>
  <p:spPr>
    <a:xfrm><a:off x="640080" y="914400"/><a:ext cx="10881360" cy="365760"/></a:xfrm>
    <a:prstGeom prst="rect"><a:avLst/></a:prstGeom>
    <a:noFill/>
  </p:spPr>
  <p:txBody>
    <a:bodyPr wrap="square" rtlCol="0"/>
    <a:lstStyle/>
    <a:p><a:pPr algn="l"/><a:r><a:rPr lang="en-US" sz="1300" dirty="0"><a:solidFill><a:srgbClr val="C7CFDB"/></a:solidFill><a:latin typeface="Calibri"/></a:rPr><a:t>Based on student feedback and difficulty analysis</a:t></a:r></a:p>
  </p:txBody>
</p:sp><p:sp>
  <p:nvSpPr><p:cNvPr id="0" name="GA_GS"/><p:cNvSpPr/><p:nvPr/></p:nvSpPr>
  <p:spPr>
    <a:xfrm><a:off x="731520" y="1554480"/><a:ext cx="3291840" cy="2286000"/></a:xfrm>
    <a:prstGeom prst="roundRect"><a:avLst><a:gd name="adj" fmla="val 5000"/></a:avLst></a:prstGeom>
    <a:solidFill><a:srgbClr val="2E4057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822960" y="1737360"/><a:ext cx="3108960" cy="1920240"/></a:xfrm>
    <a:prstGeom prst="rect"><a:avLst/></a:prstGeom>
    <a:noFill/>
  </p:spPr>
  <p:txBody>
    <a:bodyPr wrap="square" rtlCol="0"/>
    <a:lstStyle/>
    <a:p><a:pPr algn="ctr"/><a:r><a:rPr lang="en-US" sz="1200" dirty="0"><a:solidFill><a:srgbClr val="C7CFDB"/></a:solidFill><a:latin typeface="Calibri"/></a:rPr><a:t>General Studies</a:t></a:r></a:p><a:p><a:pPr algn="ctr"/><a:r><a:rPr lang="en-US" sz="1500" b="1" dirty="0"><a:solidFill><a:srgbClr val="FFFFFF"/></a:solidFill><a:latin typeface="Calibri"/></a:rPr><a:t>Good Attempts</a:t></a:r></a:p><a:p><a:pPr algn="ctr"/><a:r><a:rPr lang="en-US" sz="600" dirty="0"><a:solidFill><a:srgbClr val="FFFFFF"/></a:solidFill><a:latin typeface="Calibri"/></a:rPr><a:t></a:t></a:r></a:p><a:p><a:pPr algn="ctr"/><a:r><a:rPr lang="en-US" sz="3600" b="1" dirty="0"><a:solidFill><a:srgbClr val="E0A458"/></a:solidFill><a:latin typeface="Calibri"/></a:rPr><a:t>65-72</a:t></a:r></a:p><a:p><a:pPr algn="ctr"/><a:r><a:rPr lang="en-US" sz="1100" dirty="0"><a:solidFill><a:srgbClr val="C7CFDB"/></a:solidFill><a:latin typeface="Calibri"/></a:rPr><a:t>out of 100</a:t></a:r></a:p>
  </p:txBody>
</p:sp><p:sp>
  <p:nvSpPr><p:cNvPr id="0" name="GA_Apt"/><p:cNvSpPr/><p:nvPr/></p:nvSpPr>
  <p:spPr>
    <a:xfrm><a:off x="4297680" y="1554480"/><a:ext cx="3291840" cy="2286000"/></a:xfrm>
    <a:prstGeom prst="roundRect"><a:avLst><a:gd name="adj" fmla="val 5000"/></a:avLst></a:prstGeom>
    <a:solidFill><a:srgbClr val="2E4057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4389120" y="1737360"/><a:ext cx="3108960" cy="1920240"/></a:xfrm>
    <a:prstGeom prst="rect"><a:avLst/></a:prstGeom>
    <a:noFill/>
  </p:spPr>
  <p:txBody>
    <a:bodyPr wrap="square" rtlCol="0"/>
    <a:lstStyle/>
    <a:p><a:pPr algn="ctr"/><a:r><a:rPr lang="en-US" sz="1200" dirty="0"><a:solidFill><a:srgbClr val="C7CFDB"/></a:solidFill><a:latin typeface="Calibri"/></a:rPr><a:t>Aptitude</a:t></a:r></a:p><a:p><a:pPr algn="ctr"/><a:r><a:rPr lang="en-US" sz="1500" b="1" dirty="0"><a:solidFill><a:srgbClr val="FFFFFF"/></a:solidFill><a:latin typeface="Calibri"/></a:rPr><a:t>Good Attempts</a:t></a:r></a:p><a:p><a:pPr algn="ctr"/><a:r><a:rPr lang="en-US" sz="600" dirty="0"><a:solidFill><a:srgbClr val="FFFFFF"/></a:solidFill><a:latin typeface="Calibri"/></a:rPr><a:t></a:t></a:r></a:p><a:p><a:pPr algn="ctr"/><a:r><a:rPr lang="en-US" sz="3600" b="1" dirty="0"><a:solidFill><a:srgbClr val="E0A458"/></a:solidFill><a:latin typeface="Calibri"/></a:rPr><a:t>32-38</a:t></a:r></a:p><a:p><a:pPr algn="ctr"/><a:r><a:rPr lang="en-US" sz="1100" dirty="0"><a:solidFill><a:srgbClr val="C7CFDB"/></a:solidFill><a:latin typeface="Calibri"/></a:rPr><a:t>out of 50</a:t></a:r></a:p>
  </p:txBody>
</p:sp><p:sp>
  <p:nvSpPr><p:cNvPr id="0" name="GA_Total"/><p:cNvSpPr/><p:nvPr/></p:nvSpPr>
  <p:spPr>
    <a:xfrm><a:off x="7863840" y="1554480"/><a:ext cx="3291840" cy="228600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7955279" y="1737360"/><a:ext cx="3108960" cy="1920240"/></a:xfrm>
    <a:prstGeom prst="rect"><a:avLst/></a:prstGeom>
    <a:noFill/>
  </p:spPr>
  <p:txBody>
    <a:bodyPr wrap="square" rtlCol="0"/>
    <a:lstStyle/>
    <a:p><a:pPr algn="ctr"/><a:r><a:rPr lang="en-US" sz="1200" dirty="0"><a:solidFill><a:srgbClr val="16233A"/></a:solidFill><a:latin typeface="Calibri"/></a:rPr><a:t>TOTAL</a:t></a:r></a:p><a:p><a:pPr algn="ctr"/><a:r><a:rPr lang="en-US" sz="1500" b="1" dirty="0"><a:solidFill><a:srgbClr val="16233A"/></a:solidFill><a:latin typeface="Calibri"/></a:rPr><a:t>Good Attempts</a:t></a:r></a:p><a:p><a:pPr algn="ctr"/><a:r><a:rPr lang="en-US" sz="600" dirty="0"><a:solidFill><a:srgbClr val="16233A"/></a:solidFill><a:latin typeface="Calibri"/></a:rPr><a:t></a:t></a:r></a:p><a:p><a:pPr algn="ctr"/><a:r><a:rPr lang="en-US" sz="3600" b="1" dirty="0"><a:solidFill><a:srgbClr val="16233A"/></a:solidFill><a:latin typeface="Calibri"/></a:rPr><a:t>97-110</a:t></a:r></a:p><a:p><a:pPr algn="ctr"/><a:r><a:rPr lang="en-US" sz="1100" dirty="0"><a:solidFill><a:srgbClr val="16233A"/></a:solidFill><a:latin typeface="Calibri"/></a:rPr><a:t>out of 150</a:t></a:r></a:p>
  </p:txBody>
</p:sp><p:sp>
  <p:nvSpPr><p:cNvPr id="0" name="SafeBar"/><p:cNvSpPr/><p:nvPr/></p:nvSpPr>
  <p:spPr>
    <a:xfrm><a:off x="2286000" y="4206240"/><a:ext cx="7589520" cy="1097280"/></a:xfrm>
    <a:prstGeom prst="roundRect"><a:avLst><a:gd name="adj" fmla="val 5000"/></a:avLst></a:prstGeom>
    <a:solidFill><a:srgbClr val="3F7D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2468880" y="4297680"/><a:ext cx="7223760" cy="914400"/></a:xfrm>
    <a:prstGeom prst="rect"><a:avLst/></a:prstGeom>
    <a:noFill/>
  </p:spPr>
  <p:txBody>
    <a:bodyPr wrap="square" rtlCol="0"/>
    <a:lstStyle/>
    <a:p><a:pPr algn="ctr"/><a:r><a:rPr lang="en-US" sz="2200" b="1" dirty="0"><a:solidFill><a:srgbClr val="FFFFFF"/></a:solidFill><a:latin typeface="Calibri"/></a:rPr><a:t>SAFE SCORE: 105+ Marks</a:t></a:r></a:p><a:p><a:pPr algn="ctr"/><a:r><a:rPr lang="en-US" sz="1400" dirty="0"><a:solidFill><a:srgbClr val="FFFFFF"/></a:solidFill><a:latin typeface="Calibri"/></a:rPr><a:t>Agar itne marks aa rahe hain — Mains prep shuru karo!</a:t></a:r></a:p>
  </p:txBody>
</p:sp><p:sp>
  <p:nvSpPr><p:cNvPr id="0" name="TextBox"/><p:cNvSpPr txBox="1"/><p:nvPr/></p:nvSpPr>
  <p:spPr>
    <a:xfrm><a:off x="731520" y="5669280"/><a:ext cx="10698480" cy="457200"/></a:xfrm>
    <a:prstGeom prst="rect"><a:avLst/></a:prstGeom>
    <a:noFill/>
  </p:spPr>
  <p:txBody>
    <a:bodyPr wrap="square" rtlCol="0"/>
    <a:lstStyle/>
    <a:p><a:pPr algn="ctr"/><a:r><a:rPr lang="en-US" sz="1100" dirty="0"><a:solidFill><a:srgbClr val="C7CFDB"/></a:solidFill><a:latin typeface="Calibri"/></a:rPr><a:t>* Based on student reactions & historical trends. Official key may shift these by 2-3 marks.</a:t></a:r></a:p>
  </p:txBody>
</p:sp>
    </p:spTree>
  </p:cSld>
  <p:clrMapOvr><a:masterClrMapping/>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500" b="1" dirty="0">
                <a:solidFill>
                  <a:srgbClr val="16233A"/>
                </a:solidFill>
                <a:latin typeface="Calibri"/>
              </a:rPr>
              <a:t>Cut-Off Comparison: Previous vs Expected 2026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B7280"/>
                </a:solidFill>
                <a:latin typeface="Calibri"/>
              </a:rPr>
              <a:t>Official Previous Year Data vs Today's Prediction</a:t>
            </a:r>
          </a:p>
        </p:txBody>
      </p:sp>
      <p:sp>
        <p:nvSpPr>
          <p:cNvPr id="0" name="TblHeader"/>
          <p:cNvSpPr/>
          <p:nvPr/>
        </p:nvSpPr>
        <p:spPr>
          <a:xfrm>
            <a:off x="640080" y="128016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1325880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1325880"/>
            <a:ext cx="2743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Previous (RO Sectt.)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1325880"/>
            <a:ext cx="2286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Previous (RO UKPSC)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1325880"/>
            <a:ext cx="22860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b="1" dirty="0">
                <a:solidFill>
                  <a:srgbClr val="E0A458"/>
                </a:solidFill>
                <a:latin typeface="Calibri"/>
              </a:rPr>
              <a:t>Expected 2026</a:t>
            </a:r>
          </a:p>
        </p:txBody>
      </p:sp>
      <p:sp>
        <p:nvSpPr>
          <p:cNvPr id="0" name="Row0"/>
          <p:cNvSpPr/>
          <p:nvPr/>
        </p:nvSpPr>
        <p:spPr>
          <a:xfrm>
            <a:off x="640080" y="192024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196596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2A2A2A"/>
                </a:solidFill>
                <a:latin typeface="Calibri"/>
              </a:rPr>
              <a:t>General (UR)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196596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98.00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196596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97.00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196596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95-100</a:t>
            </a:r>
          </a:p>
        </p:txBody>
      </p:sp>
      <p:sp>
        <p:nvSpPr>
          <p:cNvPr id="0" name="Row1"/>
          <p:cNvSpPr/>
          <p:nvPr/>
        </p:nvSpPr>
        <p:spPr>
          <a:xfrm>
            <a:off x="640080" y="246888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251460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2A2A2A"/>
                </a:solidFill>
                <a:latin typeface="Calibri"/>
              </a:rPr>
              <a:t>OBC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251460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97.75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251460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96.25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251460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93-98</a:t>
            </a:r>
          </a:p>
        </p:txBody>
      </p:sp>
      <p:sp>
        <p:nvSpPr>
          <p:cNvPr id="0" name="Row2"/>
          <p:cNvSpPr/>
          <p:nvPr/>
        </p:nvSpPr>
        <p:spPr>
          <a:xfrm>
            <a:off x="640080" y="301752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306324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2A2A2A"/>
                </a:solidFill>
                <a:latin typeface="Calibri"/>
              </a:rPr>
              <a:t>EWS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306324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~94.50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306324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~94.50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306324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90-95</a:t>
            </a:r>
          </a:p>
        </p:txBody>
      </p:sp>
      <p:sp>
        <p:nvSpPr>
          <p:cNvPr id="0" name="Row3"/>
          <p:cNvSpPr/>
          <p:nvPr/>
        </p:nvSpPr>
        <p:spPr>
          <a:xfrm>
            <a:off x="640080" y="356616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361188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2A2A2A"/>
                </a:solidFill>
                <a:latin typeface="Calibri"/>
              </a:rPr>
              <a:t>SC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361188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87.00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361188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85.75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361188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82-87</a:t>
            </a:r>
          </a:p>
        </p:txBody>
      </p:sp>
      <p:sp>
        <p:nvSpPr>
          <p:cNvPr id="0" name="Row4"/>
          <p:cNvSpPr/>
          <p:nvPr/>
        </p:nvSpPr>
        <p:spPr>
          <a:xfrm>
            <a:off x="640080" y="411480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416052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2A2A2A"/>
                </a:solidFill>
                <a:latin typeface="Calibri"/>
              </a:rPr>
              <a:t>ST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416052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88.50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416052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—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416052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84-89</a:t>
            </a:r>
          </a:p>
        </p:txBody>
      </p:sp>
      <p:sp>
        <p:nvSpPr>
          <p:cNvPr id="0" name="Row5"/>
          <p:cNvSpPr/>
          <p:nvPr/>
        </p:nvSpPr>
        <p:spPr>
          <a:xfrm>
            <a:off x="640080" y="4663440"/>
            <a:ext cx="10698480" cy="502920"/>
          </a:xfrm>
          <a:prstGeom prst="roundRect">
            <a:avLst>
              <a:gd name="adj" fmla="val 5000"/>
            </a:avLst>
          </a:prstGeom>
          <a:solidFill>
            <a:srgbClr val="F7F5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470916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b="1" dirty="0">
                <a:solidFill>
                  <a:srgbClr val="2A2A2A"/>
                </a:solidFill>
                <a:latin typeface="Calibri"/>
              </a:rPr>
              <a:t>UK Women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3657600" y="4709160"/>
            <a:ext cx="27432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~85-88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470916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2A2A2A"/>
                </a:solidFill>
                <a:latin typeface="Calibri"/>
              </a:rPr>
              <a:t>~85-88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869680" y="4709160"/>
            <a:ext cx="228600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82-86</a:t>
            </a:r>
          </a:p>
        </p:txBody>
      </p:sp>
      <p:sp>
        <p:nvSpPr>
          <p:cNvPr id="0" name="NoteBar"/>
          <p:cNvSpPr/>
          <p:nvPr/>
        </p:nvSpPr>
        <p:spPr>
          <a:xfrm>
            <a:off x="64008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5394960"/>
            <a:ext cx="1024128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Today's Paper: Moderate | Historical General Cut-off: ~60-65% range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Cut-off shifts based on paper difficulty, competition, and vacancies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What's Next? — Mains Strategy Starts TODAY</a:t>
            </a:r>
          </a:p>
        </p:txBody>
      </p:sp>
      <p:sp>
        <p:nvSpPr>
          <p:cNvPr id="0" name="Num0"/>
          <p:cNvSpPr/>
          <p:nvPr/>
        </p:nvSpPr>
        <p:spPr>
          <a:xfrm>
            <a:off x="731520" y="128016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200" b="1" dirty="0">
                <a:solidFill>
                  <a:srgbClr val="16233A"/>
                </a:solidFill>
                <a:latin typeface="Calibri"/>
              </a:rPr>
              <a:t>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1261872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Don't Wait for Result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1691640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Start Mains prep immediately. Smart candidates don't waste 2-3 months waiting.</a:t>
            </a:r>
          </a:p>
        </p:txBody>
      </p:sp>
      <p:sp>
        <p:nvSpPr>
          <p:cNvPr id="0" name="Num1"/>
          <p:cNvSpPr/>
          <p:nvPr/>
        </p:nvSpPr>
        <p:spPr>
          <a:xfrm>
            <a:off x="731520" y="246888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200" b="1" dirty="0">
                <a:solidFill>
                  <a:srgbClr val="16233A"/>
                </a:solidFill>
                <a:latin typeface="Calibri"/>
              </a:rPr>
              <a:t>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2450592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Focus: GS Mains + Hindi + Essay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2880360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RO/ARO Mains = Descriptive. Writing practice &gt; Reading. Start daily answer writing.</a:t>
            </a:r>
          </a:p>
        </p:txBody>
      </p:sp>
      <p:sp>
        <p:nvSpPr>
          <p:cNvPr id="0" name="Num2"/>
          <p:cNvSpPr/>
          <p:nvPr/>
        </p:nvSpPr>
        <p:spPr>
          <a:xfrm>
            <a:off x="731520" y="365760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200" b="1" dirty="0">
                <a:solidFill>
                  <a:srgbClr val="16233A"/>
                </a:solidFill>
                <a:latin typeface="Calibri"/>
              </a:rPr>
              <a:t>3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3639312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Join Telegram for Answer Key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4069080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Official Answer Key challenge + detailed solutions coming soon on our channel.</a:t>
            </a:r>
          </a:p>
        </p:txBody>
      </p:sp>
      <p:sp>
        <p:nvSpPr>
          <p:cNvPr id="0" name="Num3"/>
          <p:cNvSpPr/>
          <p:nvPr/>
        </p:nvSpPr>
        <p:spPr>
          <a:xfrm>
            <a:off x="731520" y="4846320"/>
            <a:ext cx="548640" cy="5486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200" b="1" dirty="0">
                <a:solidFill>
                  <a:srgbClr val="16233A"/>
                </a:solidFill>
                <a:latin typeface="Calibri"/>
              </a:rPr>
              <a:t>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4828032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b="1" dirty="0">
                <a:solidFill>
                  <a:srgbClr val="FFFFFF"/>
                </a:solidFill>
                <a:latin typeface="Calibri"/>
              </a:rPr>
              <a:t>Subscribe for Mains Strategy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463040" y="5257800"/>
            <a:ext cx="9875520" cy="4114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Complete Mains roadmap series launching this week. Don't miss it.</a:t>
            </a:r>
          </a:p>
        </p:txBody>
      </p:sp>
      <p:sp>
        <p:nvSpPr>
          <p:cNvPr id="0" name="CTABar"/>
          <p:cNvSpPr/>
          <p:nvPr/>
        </p:nvSpPr>
        <p:spPr>
          <a:xfrm>
            <a:off x="1828800" y="5486400"/>
            <a:ext cx="8503920" cy="91440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2011680" y="5577840"/>
            <a:ext cx="813816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b="1" dirty="0">
                <a:solidFill>
                  <a:srgbClr val="16233A"/>
                </a:solidFill>
                <a:latin typeface="Calibri"/>
              </a:rPr>
              <a:t>SUBSCRIBE + Bell | Telegram: Link in Description</a:t>
            </a:r>
          </a:p>
          <a:p>
            <a:pPr algn="ctr"/>
            <a:r>
              <a:rPr lang="en-US" sz="1300" dirty="0">
                <a:solidFill>
                  <a:srgbClr val="16233A"/>
                </a:solidFill>
                <a:latin typeface="Calibri"/>
              </a:rPr>
              <a:t>Answer Key Challenge + Mains Roadmap Coming Soon!</a:t>
            </a:r>
          </a:p>
        </p:txBody>
      </p:sp>
    </p:spTree>
  </p:cSld>
  <p:clrMapOvr>
    <a:masterClrMapping/>
  </p:clrMapOvr>
</p:sld>
</file>