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1695" cy="6858000"/>
  <p:notesSz cx="6858000" cy="12191695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b="1" dirty="0">
                <a:solidFill>
                  <a:srgbClr val="E0A458"/>
                </a:solidFill>
                <a:latin typeface="Calibri"/>
              </a:rPr>
              <a:t>UKPSC GS1 — PYQ DEEP ANALYSIS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Calibri"/>
              </a:rPr>
              <a:t>450+ Questions. 4 Papers. Asli Pattern.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dirty="0">
                <a:solidFill>
                  <a:srgbClr val="C7CFDB"/>
                </a:solidFill>
                <a:latin typeface="Calibri"/>
              </a:rPr>
              <a:t>2016 · 2021 · 2024 · 2025 — Question-by-Question, Cluster-by-Cluster</a:t>
            </a:r>
          </a:p>
        </p:txBody>
      </p:sp>
      <p:sp>
        <p:nvSpPr>
          <p:cNvPr id="0" name="Box1"/>
          <p:cNvSpPr/>
          <p:nvPr/>
        </p:nvSpPr>
        <p:spPr>
          <a:xfrm>
            <a:off x="731520" y="41148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4206240"/>
            <a:ext cx="301752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400" b="1" dirty="0">
                <a:solidFill>
                  <a:srgbClr val="E0A458"/>
                </a:solidFill>
                <a:latin typeface="Calibri"/>
              </a:rPr>
              <a:t>600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Questions Tagged</a:t>
            </a:r>
          </a:p>
        </p:txBody>
      </p:sp>
      <p:sp>
        <p:nvSpPr>
          <p:cNvPr id="0" name="Box2"/>
          <p:cNvSpPr/>
          <p:nvPr/>
        </p:nvSpPr>
        <p:spPr>
          <a:xfrm>
            <a:off x="4114800" y="41148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206240" y="4206240"/>
            <a:ext cx="301752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400" b="1" dirty="0">
                <a:solidFill>
                  <a:srgbClr val="E0A458"/>
                </a:solidFill>
                <a:latin typeface="Calibri"/>
              </a:rPr>
              <a:t>14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Repeat-Topic Clusters</a:t>
            </a:r>
          </a:p>
        </p:txBody>
      </p:sp>
      <p:sp>
        <p:nvSpPr>
          <p:cNvPr id="0" name="Box3"/>
          <p:cNvSpPr/>
          <p:nvPr/>
        </p:nvSpPr>
        <p:spPr>
          <a:xfrm>
            <a:off x="7498079" y="41148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589520" y="4206240"/>
            <a:ext cx="301752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3400" b="1" dirty="0">
                <a:solidFill>
                  <a:srgbClr val="E0A458"/>
                </a:solidFill>
                <a:latin typeface="Calibri"/>
              </a:rPr>
              <a:t>8</a:t>
            </a:r>
          </a:p>
          <a:p>
            <a:pPr algn="ctr"/>
            <a:r>
              <a:rPr lang="en-US" sz="1200" dirty="0">
                <a:solidFill>
                  <a:srgbClr val="C7CFDB"/>
                </a:solidFill>
                <a:latin typeface="Calibri"/>
              </a:rPr>
              <a:t>Confirmed Cross-Year Repeats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200" b="1" dirty="0">
                <a:solidFill>
                  <a:srgbClr val="16233A"/>
                </a:solidFill>
                <a:latin typeface="Calibri"/>
              </a:rPr>
              <a:t>What I Analysed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500" dirty="0">
                <a:solidFill>
                  <a:srgbClr val="6B7280"/>
                </a:solidFill>
                <a:latin typeface="Calibri"/>
              </a:rPr>
              <a:t>4 Official Papers. Every Question Hand-Tagged. Subject + Unit + Repeat Status.</a:t>
            </a:r>
          </a:p>
        </p:txBody>
      </p:sp>
      <p:sp>
        <p:nvSpPr>
          <p:cNvPr id="0" name="Card2016"/>
          <p:cNvSpPr/>
          <p:nvPr/>
        </p:nvSpPr>
        <p:spPr>
          <a:xfrm>
            <a:off x="640080" y="1920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640080" y="2103120"/>
            <a:ext cx="25603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UKPCS</a:t>
            </a:r>
          </a:p>
          <a:p>
            <a:pPr algn="ctr"/>
            <a:r>
              <a:rPr lang="en-US" sz="4000" b="1" dirty="0">
                <a:solidFill>
                  <a:srgbClr val="16233A"/>
                </a:solidFill>
                <a:latin typeface="Calibri"/>
              </a:rPr>
              <a:t>2016</a:t>
            </a:r>
          </a:p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150 Qs</a:t>
            </a:r>
          </a:p>
        </p:txBody>
      </p:sp>
      <p:sp>
        <p:nvSpPr>
          <p:cNvPr id="0" name="Card2021"/>
          <p:cNvSpPr/>
          <p:nvPr/>
        </p:nvSpPr>
        <p:spPr>
          <a:xfrm>
            <a:off x="3474720" y="1920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3474720" y="2103120"/>
            <a:ext cx="25603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UKPCS</a:t>
            </a:r>
          </a:p>
          <a:p>
            <a:pPr algn="ctr"/>
            <a:r>
              <a:rPr lang="en-US" sz="4000" b="1" dirty="0">
                <a:solidFill>
                  <a:srgbClr val="16233A"/>
                </a:solidFill>
                <a:latin typeface="Calibri"/>
              </a:rPr>
              <a:t>2021</a:t>
            </a:r>
          </a:p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150 Qs</a:t>
            </a:r>
          </a:p>
        </p:txBody>
      </p:sp>
      <p:sp>
        <p:nvSpPr>
          <p:cNvPr id="0" name="Card2024"/>
          <p:cNvSpPr/>
          <p:nvPr/>
        </p:nvSpPr>
        <p:spPr>
          <a:xfrm>
            <a:off x="6309360" y="1920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6309360" y="2103120"/>
            <a:ext cx="25603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UKPCS</a:t>
            </a:r>
          </a:p>
          <a:p>
            <a:pPr algn="ctr"/>
            <a:r>
              <a:rPr lang="en-US" sz="4000" b="1" dirty="0">
                <a:solidFill>
                  <a:srgbClr val="16233A"/>
                </a:solidFill>
                <a:latin typeface="Calibri"/>
              </a:rPr>
              <a:t>2024</a:t>
            </a:r>
          </a:p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150 Qs</a:t>
            </a:r>
          </a:p>
        </p:txBody>
      </p:sp>
      <p:sp>
        <p:nvSpPr>
          <p:cNvPr id="0" name="Card2025"/>
          <p:cNvSpPr/>
          <p:nvPr/>
        </p:nvSpPr>
        <p:spPr>
          <a:xfrm>
            <a:off x="9144000" y="1920240"/>
            <a:ext cx="25603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0" y="2103120"/>
            <a:ext cx="25603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dirty="0">
                <a:solidFill>
                  <a:srgbClr val="6B7280"/>
                </a:solidFill>
                <a:latin typeface="Calibri"/>
              </a:rPr>
              <a:t>UKPCS</a:t>
            </a:r>
          </a:p>
          <a:p>
            <a:pPr algn="ctr"/>
            <a:r>
              <a:rPr lang="en-US" sz="4000" b="1" dirty="0">
                <a:solidFill>
                  <a:srgbClr val="16233A"/>
                </a:solidFill>
                <a:latin typeface="Calibri"/>
              </a:rPr>
              <a:t>2025</a:t>
            </a:r>
          </a:p>
          <a:p>
            <a:pPr algn="ctr"/>
            <a:r>
              <a:rPr lang="en-US" sz="1400" b="1" dirty="0">
                <a:solidFill>
                  <a:srgbClr val="E0A458"/>
                </a:solidFill>
                <a:latin typeface="Calibri"/>
              </a:rPr>
              <a:t>150 Qs</a:t>
            </a:r>
          </a:p>
        </p:txBody>
      </p:sp>
      <p:sp>
        <p:nvSpPr>
          <p:cNvPr id="0" name="BottomBar"/>
          <p:cNvSpPr/>
          <p:nvPr/>
        </p:nvSpPr>
        <p:spPr>
          <a:xfrm>
            <a:off x="640080" y="4389120"/>
            <a:ext cx="10881360" cy="137160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4572000"/>
            <a:ext cx="10332720" cy="10058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Every question tagged:</a:t>
            </a:r>
          </a:p>
          <a:p>
            <a:pPr algn="l"/>
            <a:r>
              <a:rPr lang="en-US" sz="1500" dirty="0">
                <a:solidFill>
                  <a:srgbClr val="C7CFDB"/>
                </a:solidFill>
                <a:latin typeface="Calibri"/>
              </a:rPr>
              <a:t>Subject · Syllabus Unit · Cross-year repeat check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640080" y="365760"/>
            <a:ext cx="1088136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700" b="1" dirty="0">
                <a:solidFill>
                  <a:srgbClr val="16233A"/>
                </a:solidFill>
                <a:latin typeface="Calibri"/>
              </a:rPr>
              <a:t>CONFIRMED REPEAT: Maiti Movement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6B7280"/>
                </a:solidFill>
                <a:latin typeface="Calibri"/>
              </a:rPr>
              <a:t>Same topic. 3 year gap. Different option order. Same answer.</a:t>
            </a:r>
          </a:p>
        </p:txBody>
      </p:sp>
      <p:sp>
        <p:nvSpPr>
          <p:cNvPr id="0" name="Q2021"/>
          <p:cNvSpPr/>
          <p:nvPr/>
        </p:nvSpPr>
        <p:spPr>
          <a:xfrm>
            <a:off x="640080" y="146304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Badge2021"/>
          <p:cNvSpPr/>
          <p:nvPr/>
        </p:nvSpPr>
        <p:spPr>
          <a:xfrm>
            <a:off x="822960" y="1645920"/>
            <a:ext cx="1645920" cy="36576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2960" y="1645920"/>
            <a:ext cx="16459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UKPCS 2021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2743200" y="1645920"/>
            <a:ext cx="29260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600" b="1" dirty="0">
                <a:solidFill>
                  <a:srgbClr val="2E4057"/>
                </a:solidFill>
                <a:latin typeface="Calibri"/>
              </a:rPr>
              <a:t>Q.99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22960" y="2194560"/>
            <a:ext cx="48463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2A2A2A"/>
                </a:solidFill>
                <a:latin typeface="Calibri"/>
              </a:rPr>
              <a:t>Who initiated the 'Maiti Movement'</a:t>
            </a:r>
          </a:p>
          <a:p>
            <a:pPr algn="l"/>
            <a:r>
              <a:rPr lang="en-US" sz="1400" b="1" dirty="0">
                <a:solidFill>
                  <a:srgbClr val="2A2A2A"/>
                </a:solidFill>
                <a:latin typeface="Calibri"/>
              </a:rPr>
              <a:t>in Uttarakhand?</a:t>
            </a:r>
          </a:p>
          <a:p>
            <a:pPr algn="l"/>
            <a:r>
              <a:rPr lang="en-US" sz="800" dirty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/>
            <a:r>
              <a:rPr lang="en-US" sz="1200" dirty="0">
                <a:solidFill>
                  <a:srgbClr val="6B7280"/>
                </a:solidFill>
                <a:latin typeface="Calibri"/>
              </a:rPr>
              <a:t>A) Sundar Lal Bahuguna</a:t>
            </a:r>
          </a:p>
          <a:p>
            <a:pPr algn="l"/>
            <a:r>
              <a:rPr lang="en-US" sz="1200" dirty="0">
                <a:solidFill>
                  <a:srgbClr val="6B7280"/>
                </a:solidFill>
                <a:latin typeface="Calibri"/>
              </a:rPr>
              <a:t>B) Chandi Prasad Bhatt</a:t>
            </a:r>
          </a:p>
          <a:p>
            <a:pPr algn="l"/>
            <a:r>
              <a:rPr lang="en-US" sz="1200" b="1" dirty="0">
                <a:solidFill>
                  <a:srgbClr val="3F7D58"/>
                </a:solidFill>
                <a:latin typeface="Calibri"/>
              </a:rPr>
              <a:t>C) Kalyan Singh Rawat  ✓</a:t>
            </a:r>
          </a:p>
          <a:p>
            <a:pPr algn="l"/>
            <a:r>
              <a:rPr lang="en-US" sz="1200" dirty="0">
                <a:solidFill>
                  <a:srgbClr val="6B7280"/>
                </a:solidFill>
                <a:latin typeface="Calibri"/>
              </a:rPr>
              <a:t>D) Medha Patkar</a:t>
            </a:r>
          </a:p>
        </p:txBody>
      </p:sp>
      <p:sp>
        <p:nvSpPr>
          <p:cNvPr id="0" name="Q2024"/>
          <p:cNvSpPr/>
          <p:nvPr/>
        </p:nvSpPr>
        <p:spPr>
          <a:xfrm>
            <a:off x="6126480" y="1463040"/>
            <a:ext cx="521208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Badge2024"/>
          <p:cNvSpPr/>
          <p:nvPr/>
        </p:nvSpPr>
        <p:spPr>
          <a:xfrm>
            <a:off x="6309360" y="1645920"/>
            <a:ext cx="1645920" cy="36576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6309360" y="1645920"/>
            <a:ext cx="164592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b="1" dirty="0">
                <a:solidFill>
                  <a:srgbClr val="16233A"/>
                </a:solidFill>
                <a:latin typeface="Calibri"/>
              </a:rPr>
              <a:t>UKPCS 2024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229600" y="1645920"/>
            <a:ext cx="292608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600" b="1" dirty="0">
                <a:solidFill>
                  <a:srgbClr val="2E4057"/>
                </a:solidFill>
                <a:latin typeface="Calibri"/>
              </a:rPr>
              <a:t>Q.24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309360" y="2194560"/>
            <a:ext cx="484632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b="1" dirty="0">
                <a:solidFill>
                  <a:srgbClr val="2A2A2A"/>
                </a:solidFill>
                <a:latin typeface="Calibri"/>
              </a:rPr>
              <a:t>Who started the 'Maiti Movement'</a:t>
            </a:r>
          </a:p>
          <a:p>
            <a:pPr algn="l"/>
            <a:r>
              <a:rPr lang="en-US" sz="1400" b="1" dirty="0">
                <a:solidFill>
                  <a:srgbClr val="2A2A2A"/>
                </a:solidFill>
                <a:latin typeface="Calibri"/>
              </a:rPr>
              <a:t>for plantation?</a:t>
            </a:r>
          </a:p>
          <a:p>
            <a:pPr algn="l"/>
            <a:r>
              <a:rPr lang="en-US" sz="800" dirty="0">
                <a:solidFill>
                  <a:srgbClr val="2A2A2A"/>
                </a:solidFill>
                <a:latin typeface="Calibri"/>
              </a:rPr>
              <a:t/>
            </a:r>
          </a:p>
          <a:p>
            <a:pPr algn="l"/>
            <a:r>
              <a:rPr lang="en-US" sz="1200" dirty="0">
                <a:solidFill>
                  <a:srgbClr val="6B7280"/>
                </a:solidFill>
                <a:latin typeface="Calibri"/>
              </a:rPr>
              <a:t>A) Bhagat Singh Rawat</a:t>
            </a:r>
          </a:p>
          <a:p>
            <a:pPr algn="l"/>
            <a:r>
              <a:rPr lang="en-US" sz="1200" b="1" dirty="0">
                <a:solidFill>
                  <a:srgbClr val="3F7D58"/>
                </a:solidFill>
                <a:latin typeface="Calibri"/>
              </a:rPr>
              <a:t>B) Kalyan Singh Rawat  ✓</a:t>
            </a:r>
          </a:p>
          <a:p>
            <a:pPr algn="l"/>
            <a:r>
              <a:rPr lang="en-US" sz="1200" dirty="0">
                <a:solidFill>
                  <a:srgbClr val="6B7280"/>
                </a:solidFill>
                <a:latin typeface="Calibri"/>
              </a:rPr>
              <a:t>C) Sundar Lal Bahuguna</a:t>
            </a:r>
          </a:p>
          <a:p>
            <a:pPr algn="l"/>
            <a:r>
              <a:rPr lang="en-US" sz="1200" dirty="0">
                <a:solidFill>
                  <a:srgbClr val="6B7280"/>
                </a:solidFill>
                <a:latin typeface="Calibri"/>
              </a:rPr>
              <a:t>D) Mohan Singh Negi</a:t>
            </a:r>
          </a:p>
        </p:txBody>
      </p:sp>
      <p:sp>
        <p:nvSpPr>
          <p:cNvPr id="0" name="InsightBar"/>
          <p:cNvSpPr/>
          <p:nvPr/>
        </p:nvSpPr>
        <p:spPr>
          <a:xfrm>
            <a:off x="640080" y="429768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4480560"/>
            <a:ext cx="10241280" cy="12801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600" b="1" dirty="0">
                <a:solidFill>
                  <a:srgbClr val="E0A458"/>
                </a:solidFill>
                <a:latin typeface="Calibri"/>
              </a:rPr>
              <a:t>Answer both times: Kalyan Singh Rawat</a:t>
            </a:r>
          </a:p>
          <a:p>
            <a:pPr algn="l"/>
            <a:r>
              <a:rPr lang="en-US" sz="1400" dirty="0">
                <a:solidFill>
                  <a:srgbClr val="C7CFDB"/>
                </a:solidFill>
                <a:latin typeface="Calibri"/>
              </a:rPr>
              <a:t>Options reordered. Wording changed. Core fact: identical.</a:t>
            </a:r>
          </a:p>
          <a:p>
            <a:pPr algn="l"/>
            <a:r>
              <a:rPr lang="en-US" sz="1400" dirty="0">
                <a:solidFill>
                  <a:srgbClr val="C7CFDB"/>
                </a:solidFill>
                <a:latin typeface="Calibri"/>
              </a:rPr>
              <a:t>Pattern: Movement-Founder recall questions repeat.</a:t>
            </a:r>
          </a:p>
        </p:txBody>
      </p:sp>
    </p:spTree>
  </p:cSld>
  <p:clrMapOvr>
    <a:masterClrMapping/>
  </p:clrMapOvr>
</p:sld>
</file>

<file path=ppt/slides/slide4.xml><?xml version="1.0" encoding="UTF-8" standalone="yes"?>
<p:sld xmlns:a="http://schemas.openxmlformats.org/drawingml/2006/main"
       xmlns:r="http://schemas.openxmlformats.org/officeDocument/2006/relationships"
       xmlns:p="http://schemas.openxmlformats.org/presentationml/2006/main">
  <p:cSld>
    <p:bg><p:bgPr><a:solidFill><a:srgbClr val="F7F5F1"/></a:solidFill><a:effectLst/></p:bgPr></p:bg>
    <p:spTree>
      <p:nvGrpSpPr><p:cNvPr id="1" name=""/><p:cNvGrpSpPr/><p:nvPr/></p:nvGrpSpPr>
      <p:grpSpPr>
        <a:xfrm><a:off x="0" y="0"/><a:ext cx="0" cy="0"/><a:chOff x="0" y="0"/><a:chExt cx="0" cy="0"/></a:xfrm>
      </p:grpSpPr>
      <p:sp>
  <p:nvSpPr><p:cNvPr id="0" name="TextBox"/><p:cNvSpPr txBox="1"/><p:nvPr/></p:nvSpPr>
  <p:spPr>
    <a:xfrm><a:off x="640080" y="274320"/><a:ext cx="10881360" cy="548640"/></a:xfrm>
    <a:prstGeom prst="rect"><a:avLst/></a:prstGeom>
    <a:noFill/>
  </p:spPr>
  <p:txBody>
    <a:bodyPr wrap="square" rtlCol="0"/>
    <a:lstStyle/>
    <a:p><a:pPr algn="l"/><a:r><a:rPr lang="en-US" sz="2500" b="1" dirty="0"><a:solidFill><a:srgbClr val="16233A"/></a:solidFill><a:latin typeface="Calibri"/></a:rPr><a:t>Wildlife Sanctuaries & National Parks</a:t></a:r></a:p>
  </p:txBody>
</p:sp><p:sp>
  <p:nvSpPr><p:cNvPr id="0" name="TextBox"/><p:cNvSpPr txBox="1"/><p:nvPr/></p:nvSpPr>
  <p:spPr>
    <a:xfrm><a:off x="640080" y="777240"/><a:ext cx="10881360" cy="365760"/></a:xfrm>
    <a:prstGeom prst="rect"><a:avLst/></a:prstGeom>
    <a:noFill/>
  </p:spPr>
  <p:txBody>
    <a:bodyPr wrap="square" rtlCol="0"/>
    <a:lstStyle/>
    <a:p><a:pPr algn="l"/><a:r><a:rPr lang="en-US" sz="1300" dirty="0"><a:solidFill><a:srgbClr val="6B7280"/></a:solidFill><a:latin typeface="Calibri"/></a:rPr><a:t>Every single paper. Format: Match / Arrange / Identify. Most reliable cluster.</a:t></a:r></a:p>
  </p:txBody>
</p:sp><p:sp>
  <p:nvSpPr><p:cNvPr id="0" name="WCard0"/><p:cNvSpPr/><p:nvPr/></p:nvSpPr>
  <p:spPr>
    <a:xfrm><a:off x="640080" y="1371600"/><a:ext cx="3474720" cy="219456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WBadge0"/><p:cNvSpPr/><p:nvPr/></p:nvSpPr>
  <p:spPr>
    <a:xfrm><a:off x="777240" y="1508760"/><a:ext cx="1280160" cy="320040"/></a:xfrm>
    <a:prstGeom prst="roundRect"><a:avLst><a:gd name="adj" fmla="val 5000"/></a:avLst></a:prstGeom>
    <a:solidFill><a:srgbClr val="E0A458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777240" y="1508760"/><a:ext cx="1280160" cy="320040"/></a:xfrm>
    <a:prstGeom prst="rect"><a:avLst/></a:prstGeom>
    <a:noFill/>
  </p:spPr>
  <p:txBody>
    <a:bodyPr wrap="square" rtlCol="0"/>
    <a:lstStyle/>
    <a:p><a:pPr algn="ctr"/><a:r><a:rPr lang="en-US" sz="1000" b="1" dirty="0"><a:solidFill><a:srgbClr val="16233A"/></a:solidFill><a:latin typeface="Calibri"/></a:rPr><a:t>2024</a:t></a:r></a:p>
  </p:txBody>
</p:sp><p:sp>
  <p:nvSpPr><p:cNvPr id="0" name="TextBox"/><p:cNvSpPr txBox="1"/><p:nvPr/></p:nvSpPr>
  <p:spPr>
    <a:xfrm><a:off x="2651760" y="1508760"/><a:ext cx="1280160" cy="320040"/></a:xfrm>
    <a:prstGeom prst="rect"><a:avLst/></a:prstGeom>
    <a:noFill/>
  </p:spPr>
  <p:txBody>
    <a:bodyPr wrap="square" rtlCol="0"/>
    <a:lstStyle/>
    <a:p><a:pPr algn="r"/><a:r><a:rPr lang="en-US" sz="1200" b="1" dirty="0"><a:solidFill><a:srgbClr val="2E4057"/></a:solidFill><a:latin typeface="Calibri"/></a:rPr><a:t>Q.86</a:t></a:r></a:p>
  </p:txBody>
</p:sp><p:sp>
  <p:nvSpPr><p:cNvPr id="0" name="TextBox"/><p:cNvSpPr txBox="1"/><p:nvPr/></p:nvSpPr>
  <p:spPr>
    <a:xfrm><a:off x="777240" y="1920240"/><a:ext cx="3200400" cy="1463040"/></a:xfrm>
    <a:prstGeom prst="rect"><a:avLst/></a:prstGeom>
    <a:noFill/>
  </p:spPr>
  <p:txBody>
    <a:bodyPr wrap="square" rtlCol="0"/>
    <a:lstStyle/>
    <a:p><a:pPr algn="l"/><a:r><a:rPr lang="en-US" sz="1150" dirty="0"><a:solidFill><a:srgbClr val="2A2A2A"/></a:solidFill><a:latin typeface="Calibri"/></a:rPr><a:t>Match Sanctuary → Year:
Govind WLS-1955
Valley of Flowers-1982
Kedarnath-1972</a:t></a:r></a:p>
  </p:txBody>
</p:sp><p:sp>
  <p:nvSpPr><p:cNvPr id="0" name="WCard1"/><p:cNvSpPr/><p:nvPr/></p:nvSpPr>
  <p:spPr>
    <a:xfrm><a:off x="4389120" y="1371600"/><a:ext cx="3474720" cy="219456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WBadge1"/><p:cNvSpPr/><p:nvPr/></p:nvSpPr>
  <p:spPr>
    <a:xfrm><a:off x="4526280" y="1508760"/><a:ext cx="1280160" cy="320040"/></a:xfrm>
    <a:prstGeom prst="roundRect"><a:avLst><a:gd name="adj" fmla="val 5000"/></a:avLst></a:prstGeom>
    <a:solidFill><a:srgbClr val="E0A458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4526280" y="1508760"/><a:ext cx="1280160" cy="320040"/></a:xfrm>
    <a:prstGeom prst="rect"><a:avLst/></a:prstGeom>
    <a:noFill/>
  </p:spPr>
  <p:txBody>
    <a:bodyPr wrap="square" rtlCol="0"/>
    <a:lstStyle/>
    <a:p><a:pPr algn="ctr"/><a:r><a:rPr lang="en-US" sz="1000" b="1" dirty="0"><a:solidFill><a:srgbClr val="16233A"/></a:solidFill><a:latin typeface="Calibri"/></a:rPr><a:t>2024</a:t></a:r></a:p>
  </p:txBody>
</p:sp><p:sp>
  <p:nvSpPr><p:cNvPr id="0" name="TextBox"/><p:cNvSpPr txBox="1"/><p:nvPr/></p:nvSpPr>
  <p:spPr>
    <a:xfrm><a:off x="6400800" y="1508760"/><a:ext cx="1280160" cy="320040"/></a:xfrm>
    <a:prstGeom prst="rect"><a:avLst/></a:prstGeom>
    <a:noFill/>
  </p:spPr>
  <p:txBody>
    <a:bodyPr wrap="square" rtlCol="0"/>
    <a:lstStyle/>
    <a:p><a:pPr algn="r"/><a:r><a:rPr lang="en-US" sz="1200" b="1" dirty="0"><a:solidFill><a:srgbClr val="2E4057"/></a:solidFill><a:latin typeface="Calibri"/></a:rPr><a:t>Q.87</a:t></a:r></a:p>
  </p:txBody>
</p:sp><p:sp>
  <p:nvSpPr><p:cNvPr id="0" name="TextBox"/><p:cNvSpPr txBox="1"/><p:nvPr/></p:nvSpPr>
  <p:spPr>
    <a:xfrm><a:off x="4526280" y="1920240"/><a:ext cx="3200400" cy="1463040"/></a:xfrm>
    <a:prstGeom prst="rect"><a:avLst/></a:prstGeom>
    <a:noFill/>
  </p:spPr>
  <p:txBody>
    <a:bodyPr wrap="square" rtlCol="0"/>
    <a:lstStyle/>
    <a:p><a:pPr algn="l"/><a:r><a:rPr lang="en-US" sz="1150" dirty="0"><a:solidFill><a:srgbClr val="2A2A2A"/></a:solidFill><a:latin typeface="Calibri"/></a:rPr><a:t>Match Sanctuary → District:
Sona Nadi-Pauri
Askote-Pithoragarh
Govind-Uttarkashi</a:t></a:r></a:p>
  </p:txBody>
</p:sp><p:sp>
  <p:nvSpPr><p:cNvPr id="0" name="WCard2"/><p:cNvSpPr/><p:nvPr/></p:nvSpPr>
  <p:spPr>
    <a:xfrm><a:off x="8138159" y="1371600"/><a:ext cx="3474720" cy="219456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WBadge2"/><p:cNvSpPr/><p:nvPr/></p:nvSpPr>
  <p:spPr>
    <a:xfrm><a:off x="8275319" y="1508760"/><a:ext cx="1280160" cy="320040"/></a:xfrm>
    <a:prstGeom prst="roundRect"><a:avLst><a:gd name="adj" fmla="val 5000"/></a:avLst></a:prstGeom>
    <a:solidFill><a:srgbClr val="E0A458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8275319" y="1508760"/><a:ext cx="1280160" cy="320040"/></a:xfrm>
    <a:prstGeom prst="rect"><a:avLst/></a:prstGeom>
    <a:noFill/>
  </p:spPr>
  <p:txBody>
    <a:bodyPr wrap="square" rtlCol="0"/>
    <a:lstStyle/>
    <a:p><a:pPr algn="ctr"/><a:r><a:rPr lang="en-US" sz="1000" b="1" dirty="0"><a:solidFill><a:srgbClr val="16233A"/></a:solidFill><a:latin typeface="Calibri"/></a:rPr><a:t>2021</a:t></a:r></a:p>
  </p:txBody>
</p:sp><p:sp>
  <p:nvSpPr><p:cNvPr id="0" name="TextBox"/><p:cNvSpPr txBox="1"/><p:nvPr/></p:nvSpPr>
  <p:spPr>
    <a:xfrm><a:off x="10149839" y="1508760"/><a:ext cx="1280160" cy="320040"/></a:xfrm>
    <a:prstGeom prst="rect"><a:avLst/></a:prstGeom>
    <a:noFill/>
  </p:spPr>
  <p:txBody>
    <a:bodyPr wrap="square" rtlCol="0"/>
    <a:lstStyle/>
    <a:p><a:pPr algn="r"/><a:r><a:rPr lang="en-US" sz="1200" b="1" dirty="0"><a:solidFill><a:srgbClr val="2E4057"/></a:solidFill><a:latin typeface="Calibri"/></a:rPr><a:t>Q.23</a:t></a:r></a:p>
  </p:txBody>
</p:sp><p:sp>
  <p:nvSpPr><p:cNvPr id="0" name="TextBox"/><p:cNvSpPr txBox="1"/><p:nvPr/></p:nvSpPr>
  <p:spPr>
    <a:xfrm><a:off x="8275319" y="1920240"/><a:ext cx="3200400" cy="1463040"/></a:xfrm>
    <a:prstGeom prst="rect"><a:avLst/></a:prstGeom>
    <a:noFill/>
  </p:spPr>
  <p:txBody>
    <a:bodyPr wrap="square" rtlCol="0"/>
    <a:lstStyle/>
    <a:p><a:pPr algn="l"/><a:r><a:rPr lang="en-US" sz="1150" dirty="0"><a:solidFill><a:srgbClr val="2A2A2A"/></a:solidFill><a:latin typeface="Calibri"/></a:rPr><a:t>Govind National Park
includes source of
which river? (Tons ✓)</a:t></a:r></a:p>
  </p:txBody>
</p:sp><p:sp>
  <p:nvSpPr><p:cNvPr id="0" name="WCard3"/><p:cNvSpPr/><p:nvPr/></p:nvSpPr>
  <p:spPr>
    <a:xfrm><a:off x="640080" y="3840480"/><a:ext cx="3474720" cy="219456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WBadge3"/><p:cNvSpPr/><p:nvPr/></p:nvSpPr>
  <p:spPr>
    <a:xfrm><a:off x="777240" y="3977640"/><a:ext cx="1280160" cy="320040"/></a:xfrm>
    <a:prstGeom prst="roundRect"><a:avLst><a:gd name="adj" fmla="val 5000"/></a:avLst></a:prstGeom>
    <a:solidFill><a:srgbClr val="E0A458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777240" y="3977640"/><a:ext cx="1280160" cy="320040"/></a:xfrm>
    <a:prstGeom prst="rect"><a:avLst/></a:prstGeom>
    <a:noFill/>
  </p:spPr>
  <p:txBody>
    <a:bodyPr wrap="square" rtlCol="0"/>
    <a:lstStyle/>
    <a:p><a:pPr algn="ctr"/><a:r><a:rPr lang="en-US" sz="1000" b="1" dirty="0"><a:solidFill><a:srgbClr val="16233A"/></a:solidFill><a:latin typeface="Calibri"/></a:rPr><a:t>2025</a:t></a:r></a:p>
  </p:txBody>
</p:sp><p:sp>
  <p:nvSpPr><p:cNvPr id="0" name="TextBox"/><p:cNvSpPr txBox="1"/><p:nvPr/></p:nvSpPr>
  <p:spPr>
    <a:xfrm><a:off x="2651760" y="3977640"/><a:ext cx="1280160" cy="320040"/></a:xfrm>
    <a:prstGeom prst="rect"><a:avLst/></a:prstGeom>
    <a:noFill/>
  </p:spPr>
  <p:txBody>
    <a:bodyPr wrap="square" rtlCol="0"/>
    <a:lstStyle/>
    <a:p><a:pPr algn="r"/><a:r><a:rPr lang="en-US" sz="1200" b="1" dirty="0"><a:solidFill><a:srgbClr val="2E4057"/></a:solidFill><a:latin typeface="Calibri"/></a:rPr><a:t>Q.19</a:t></a:r></a:p>
  </p:txBody>
</p:sp><p:sp>
  <p:nvSpPr><p:cNvPr id="0" name="TextBox"/><p:cNvSpPr txBox="1"/><p:nvPr/></p:nvSpPr>
  <p:spPr>
    <a:xfrm><a:off x="777240" y="4389120"/><a:ext cx="3200400" cy="1463040"/></a:xfrm>
    <a:prstGeom prst="rect"><a:avLst/></a:prstGeom>
    <a:noFill/>
  </p:spPr>
  <p:txBody>
    <a:bodyPr wrap="square" rtlCol="0"/>
    <a:lstStyle/>
    <a:p><a:pPr algn="l"/><a:r><a:rPr lang="en-US" sz="1150" dirty="0"><a:solidFill><a:srgbClr val="2A2A2A"/></a:solidFill><a:latin typeface="Calibri"/></a:rPr><a:t>Match Wildlife Sanctuary
with Location:
Askot, Binsar, Govind,
Nandhaur</a:t></a:r></a:p>
  </p:txBody>
</p:sp><p:sp>
  <p:nvSpPr><p:cNvPr id="0" name="WCard4"/><p:cNvSpPr/><p:nvPr/></p:nvSpPr>
  <p:spPr>
    <a:xfrm><a:off x="4389120" y="3840480"/><a:ext cx="3474720" cy="219456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WBadge4"/><p:cNvSpPr/><p:nvPr/></p:nvSpPr>
  <p:spPr>
    <a:xfrm><a:off x="4526280" y="3977640"/><a:ext cx="1280160" cy="320040"/></a:xfrm>
    <a:prstGeom prst="roundRect"><a:avLst><a:gd name="adj" fmla="val 5000"/></a:avLst></a:prstGeom>
    <a:solidFill><a:srgbClr val="E0A458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4526280" y="3977640"/><a:ext cx="1280160" cy="320040"/></a:xfrm>
    <a:prstGeom prst="rect"><a:avLst/></a:prstGeom>
    <a:noFill/>
  </p:spPr>
  <p:txBody>
    <a:bodyPr wrap="square" rtlCol="0"/>
    <a:lstStyle/>
    <a:p><a:pPr algn="ctr"/><a:r><a:rPr lang="en-US" sz="1000" b="1" dirty="0"><a:solidFill><a:srgbClr val="16233A"/></a:solidFill><a:latin typeface="Calibri"/></a:rPr><a:t>2025</a:t></a:r></a:p>
  </p:txBody>
</p:sp><p:sp>
  <p:nvSpPr><p:cNvPr id="0" name="TextBox"/><p:cNvSpPr txBox="1"/><p:nvPr/></p:nvSpPr>
  <p:spPr>
    <a:xfrm><a:off x="6400800" y="3977640"/><a:ext cx="1280160" cy="320040"/></a:xfrm>
    <a:prstGeom prst="rect"><a:avLst/></a:prstGeom>
    <a:noFill/>
  </p:spPr>
  <p:txBody>
    <a:bodyPr wrap="square" rtlCol="0"/>
    <a:lstStyle/>
    <a:p><a:pPr algn="r"/><a:r><a:rPr lang="en-US" sz="1200" b="1" dirty="0"><a:solidFill><a:srgbClr val="2E4057"/></a:solidFill><a:latin typeface="Calibri"/></a:rPr><a:t>Q.22</a:t></a:r></a:p>
  </p:txBody>
</p:sp><p:sp>
  <p:nvSpPr><p:cNvPr id="0" name="TextBox"/><p:cNvSpPr txBox="1"/><p:nvPr/></p:nvSpPr>
  <p:spPr>
    <a:xfrm><a:off x="4526280" y="4389120"/><a:ext cx="3200400" cy="1463040"/></a:xfrm>
    <a:prstGeom prst="rect"><a:avLst/></a:prstGeom>
    <a:noFill/>
  </p:spPr>
  <p:txBody>
    <a:bodyPr wrap="square" rtlCol="0"/>
    <a:lstStyle/>
    <a:p><a:pPr algn="l"/><a:r><a:rPr lang="en-US" sz="1150" dirty="0"><a:solidFill><a:srgbClr val="2A2A2A"/></a:solidFill><a:latin typeface="Calibri"/></a:rPr><a:t>National Parks — Year:
Govind-1989, Rajaji-1983
Corbett-1936, Gangotri-1989</a:t></a:r></a:p>
  </p:txBody>
</p:sp><p:sp>
  <p:nvSpPr><p:cNvPr id="0" name="WCard5"/><p:cNvSpPr/><p:nvPr/></p:nvSpPr>
  <p:spPr>
    <a:xfrm><a:off x="8138159" y="3840480"/><a:ext cx="3474720" cy="2194560"/></a:xfrm>
    <a:prstGeom prst="roundRect"><a:avLst><a:gd name="adj" fmla="val 5000"/></a:avLst></a:prstGeom>
    <a:solidFill><a:srgbClr val="FFFFFF"/></a:solidFill>
    <a:ln><a:noFill/></a:ln>
  </p:spPr>
  <p:txBody><a:bodyPr/><a:lstStyle/><a:p><a:endParaRPr lang="en-US"/></a:p></p:txBody>
</p:sp><p:sp>
  <p:nvSpPr><p:cNvPr id="0" name="WBadge5"/><p:cNvSpPr/><p:nvPr/></p:nvSpPr>
  <p:spPr>
    <a:xfrm><a:off x="8275319" y="3977640"/><a:ext cx="1280160" cy="320040"/></a:xfrm>
    <a:prstGeom prst="roundRect"><a:avLst><a:gd name="adj" fmla="val 5000"/></a:avLst></a:prstGeom>
    <a:solidFill><a:srgbClr val="E0A458"/></a:solidFill>
    <a:ln><a:noFill/></a:ln>
  </p:spPr>
  <p:txBody><a:bodyPr/><a:lstStyle/><a:p><a:endParaRPr lang="en-US"/></a:p></p:txBody>
</p:sp><p:sp>
  <p:nvSpPr><p:cNvPr id="0" name="TextBox"/><p:cNvSpPr txBox="1"/><p:nvPr/></p:nvSpPr>
  <p:spPr>
    <a:xfrm><a:off x="8275319" y="3977640"/><a:ext cx="1280160" cy="320040"/></a:xfrm>
    <a:prstGeom prst="rect"><a:avLst/></a:prstGeom>
    <a:noFill/>
  </p:spPr>
  <p:txBody>
    <a:bodyPr wrap="square" rtlCol="0"/>
    <a:lstStyle/>
    <a:p><a:pPr algn="ctr"/><a:r><a:rPr lang="en-US" sz="1000" b="1" dirty="0"><a:solidFill><a:srgbClr val="16233A"/></a:solidFill><a:latin typeface="Calibri"/></a:rPr><a:t>2024</a:t></a:r></a:p>
  </p:txBody>
</p:sp><p:sp>
  <p:nvSpPr><p:cNvPr id="0" name="TextBox"/><p:cNvSpPr txBox="1"/><p:nvPr/></p:nvSpPr>
  <p:spPr>
    <a:xfrm><a:off x="10149839" y="3977640"/><a:ext cx="1280160" cy="320040"/></a:xfrm>
    <a:prstGeom prst="rect"><a:avLst/></a:prstGeom>
    <a:noFill/>
  </p:spPr>
  <p:txBody>
    <a:bodyPr wrap="square" rtlCol="0"/>
    <a:lstStyle/>
    <a:p><a:pPr algn="r"/><a:r><a:rPr lang="en-US" sz="1200" b="1" dirty="0"><a:solidFill><a:srgbClr val="2E4057"/></a:solidFill><a:latin typeface="Calibri"/></a:rPr><a:t>Q.102</a:t></a:r></a:p>
  </p:txBody>
</p:sp><p:sp>
  <p:nvSpPr><p:cNvPr id="0" name="TextBox"/><p:cNvSpPr txBox="1"/><p:nvPr/></p:nvSpPr>
  <p:spPr>
    <a:xfrm><a:off x="8275319" y="4389120"/><a:ext cx="3200400" cy="1463040"/></a:xfrm>
    <a:prstGeom prst="rect"><a:avLst/></a:prstGeom>
    <a:noFill/>
  </p:spPr>
  <p:txBody>
    <a:bodyPr wrap="square" rtlCol="0"/>
    <a:lstStyle/>
    <a:p><a:pPr algn="l"/><a:r><a:rPr lang="en-US" sz="1150" dirty="0"><a:solidFill><a:srgbClr val="2A2A2A"/></a:solidFill><a:latin typeface="Calibri"/></a:rPr><a:t>Kedarnath WLS for
conservation of which
animal? (Musk Deer ✓)</a:t></a:r></a:p>
  </p:txBody>
</p:sp>
    </p:spTree>
  </p:cSld>
  <p:clrMapOvr><a:masterClrMapping/>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640080" y="365760"/>
            <a:ext cx="10881360" cy="6400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500" b="1" dirty="0">
                <a:solidFill>
                  <a:srgbClr val="FFFFFF"/>
                </a:solidFill>
                <a:latin typeface="Calibri"/>
              </a:rPr>
              <a:t>WARNING: Most Common Student Mistake</a:t>
            </a:r>
          </a:p>
        </p:txBody>
      </p:sp>
      <p:sp>
        <p:nvSpPr>
          <p:cNvPr id="0" name="GovindLeft"/>
          <p:cNvSpPr/>
          <p:nvPr/>
        </p:nvSpPr>
        <p:spPr>
          <a:xfrm>
            <a:off x="640080" y="128016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1463040"/>
            <a:ext cx="4754880" cy="2377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600" b="1" dirty="0">
                <a:solidFill>
                  <a:srgbClr val="E0A458"/>
                </a:solidFill>
                <a:latin typeface="Calibri"/>
              </a:rPr>
              <a:t>Govind Wildlife SANCTUARY</a:t>
            </a:r>
          </a:p>
          <a:p>
            <a:pPr algn="l"/>
            <a:r>
              <a:rPr lang="en-US" sz="1200" dirty="0">
                <a:solidFill>
                  <a:srgbClr val="C7CFDB"/>
                </a:solidFill>
                <a:latin typeface="Calibri"/>
              </a:rPr>
              <a:t>Paper: 2024, Q.86</a:t>
            </a:r>
          </a:p>
          <a:p>
            <a:pPr algn="l"/>
            <a:r>
              <a:rPr lang="en-US" sz="8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lang="en-US" sz="3000" b="1" dirty="0">
                <a:solidFill>
                  <a:srgbClr val="FFFFFF"/>
                </a:solidFill>
                <a:latin typeface="Calibri"/>
              </a:rPr>
              <a:t>Established: 1955</a:t>
            </a:r>
          </a:p>
          <a:p>
            <a:pPr algn="l"/>
            <a:r>
              <a:rPr lang="en-US" sz="8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Status: Wildlife Sanctuary</a:t>
            </a:r>
          </a:p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Uttarkashi District</a:t>
            </a:r>
          </a:p>
        </p:txBody>
      </p:sp>
      <p:sp>
        <p:nvSpPr>
          <p:cNvPr id="0" name="GovindRight"/>
          <p:cNvSpPr/>
          <p:nvPr/>
        </p:nvSpPr>
        <p:spPr>
          <a:xfrm>
            <a:off x="6126480" y="1280160"/>
            <a:ext cx="5212080" cy="274320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6400800" y="1463040"/>
            <a:ext cx="4754880" cy="23774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600" b="1" dirty="0">
                <a:solidFill>
                  <a:srgbClr val="E0A458"/>
                </a:solidFill>
                <a:latin typeface="Calibri"/>
              </a:rPr>
              <a:t>Govind NATIONAL PARK</a:t>
            </a:r>
          </a:p>
          <a:p>
            <a:pPr algn="l"/>
            <a:r>
              <a:rPr lang="en-US" sz="1200" dirty="0">
                <a:solidFill>
                  <a:srgbClr val="C7CFDB"/>
                </a:solidFill>
                <a:latin typeface="Calibri"/>
              </a:rPr>
              <a:t>Paper: 2025, Q.22</a:t>
            </a:r>
          </a:p>
          <a:p>
            <a:pPr algn="l"/>
            <a:r>
              <a:rPr lang="en-US" sz="8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lang="en-US" sz="3000" b="1" dirty="0">
                <a:solidFill>
                  <a:srgbClr val="FFFFFF"/>
                </a:solidFill>
                <a:latin typeface="Calibri"/>
              </a:rPr>
              <a:t>Established: 1989</a:t>
            </a:r>
          </a:p>
          <a:p>
            <a:pPr algn="l"/>
            <a:r>
              <a:rPr lang="en-US" sz="800" dirty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Status: National Park (carved out)</a:t>
            </a:r>
          </a:p>
          <a:p>
            <a:pPr algn="l"/>
            <a:r>
              <a:rPr lang="en-US" sz="1300" dirty="0">
                <a:solidFill>
                  <a:srgbClr val="C7CFDB"/>
                </a:solidFill>
                <a:latin typeface="Calibri"/>
              </a:rPr>
              <a:t>Separate legal entity</a:t>
            </a:r>
          </a:p>
        </p:txBody>
      </p:sp>
      <p:sp>
        <p:nvSpPr>
          <p:cNvPr id="0" name="WarnBar"/>
          <p:cNvSpPr/>
          <p:nvPr/>
        </p:nvSpPr>
        <p:spPr>
          <a:xfrm>
            <a:off x="640080" y="438912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4572000"/>
            <a:ext cx="1024128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800" b="1" dirty="0">
                <a:solidFill>
                  <a:srgbClr val="16233A"/>
                </a:solidFill>
                <a:latin typeface="Calibri"/>
              </a:rPr>
              <a:t>Sanctuary ≠ National Park</a:t>
            </a:r>
          </a:p>
          <a:p>
            <a:pPr algn="ctr"/>
            <a:r>
              <a:rPr lang="en-US" sz="1500" dirty="0">
                <a:solidFill>
                  <a:srgbClr val="16233A"/>
                </a:solidFill>
                <a:latin typeface="Calibri"/>
              </a:rPr>
              <a:t>Same name. Different entity. Different year. UKPSC's favourite trap.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2500" b="1" dirty="0">
                <a:solidFill>
                  <a:srgbClr val="16233A"/>
                </a:solidFill>
                <a:latin typeface="Calibri"/>
              </a:rPr>
              <a:t>Central Govt Institutes in Uttarakhand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" y="777240"/>
            <a:ext cx="10881360" cy="36576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300" dirty="0">
                <a:solidFill>
                  <a:srgbClr val="6B7280"/>
                </a:solidFill>
                <a:latin typeface="Calibri"/>
              </a:rPr>
              <a:t>Same 12 institutes. Every paper. Format: Which is / Which is NOT / Match with city.</a:t>
            </a:r>
          </a:p>
        </p:txBody>
      </p:sp>
      <p:sp>
        <p:nvSpPr>
          <p:cNvPr id="0" name="ICard0"/>
          <p:cNvSpPr/>
          <p:nvPr/>
        </p:nvSpPr>
        <p:spPr>
          <a:xfrm>
            <a:off x="640080" y="137160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IBadge0"/>
          <p:cNvSpPr/>
          <p:nvPr/>
        </p:nvSpPr>
        <p:spPr>
          <a:xfrm>
            <a:off x="777240" y="1508760"/>
            <a:ext cx="1280160" cy="3200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77240" y="1508760"/>
            <a:ext cx="1280160" cy="320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b="1" dirty="0">
                <a:solidFill>
                  <a:srgbClr val="16233A"/>
                </a:solidFill>
                <a:latin typeface="Calibri"/>
              </a:rPr>
              <a:t>2024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2651760" y="1508760"/>
            <a:ext cx="1280160" cy="320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b="1" dirty="0">
                <a:solidFill>
                  <a:srgbClr val="2E4057"/>
                </a:solidFill>
                <a:latin typeface="Calibri"/>
              </a:rPr>
              <a:t>Q.115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77240" y="2011680"/>
            <a:ext cx="320040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2A2A2A"/>
                </a:solidFill>
                <a:latin typeface="Calibri"/>
              </a:rPr>
              <a:t>HQ in Dehradun — which?
ASI / Survey of India /
BSI / GSI</a:t>
            </a:r>
          </a:p>
        </p:txBody>
      </p:sp>
      <p:sp>
        <p:nvSpPr>
          <p:cNvPr id="0" name="ICard1"/>
          <p:cNvSpPr/>
          <p:nvPr/>
        </p:nvSpPr>
        <p:spPr>
          <a:xfrm>
            <a:off x="4389120" y="137160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IBadge1"/>
          <p:cNvSpPr/>
          <p:nvPr/>
        </p:nvSpPr>
        <p:spPr>
          <a:xfrm>
            <a:off x="4526280" y="1508760"/>
            <a:ext cx="1280160" cy="3200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4526280" y="1508760"/>
            <a:ext cx="1280160" cy="320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b="1" dirty="0">
                <a:solidFill>
                  <a:srgbClr val="16233A"/>
                </a:solidFill>
                <a:latin typeface="Calibri"/>
              </a:rPr>
              <a:t>2021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6400800" y="1508760"/>
            <a:ext cx="1280160" cy="320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b="1" dirty="0">
                <a:solidFill>
                  <a:srgbClr val="2E4057"/>
                </a:solidFill>
                <a:latin typeface="Calibri"/>
              </a:rPr>
              <a:t>Q.74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4526280" y="2011680"/>
            <a:ext cx="320040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2A2A2A"/>
                </a:solidFill>
                <a:latin typeface="Calibri"/>
              </a:rPr>
              <a:t>Which is NOT in UK?
CBRI / ONGC /
HAL / BHEL</a:t>
            </a:r>
          </a:p>
        </p:txBody>
      </p:sp>
      <p:sp>
        <p:nvSpPr>
          <p:cNvPr id="0" name="ICard2"/>
          <p:cNvSpPr/>
          <p:nvPr/>
        </p:nvSpPr>
        <p:spPr>
          <a:xfrm>
            <a:off x="8138159" y="1371600"/>
            <a:ext cx="34747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IBadge2"/>
          <p:cNvSpPr/>
          <p:nvPr/>
        </p:nvSpPr>
        <p:spPr>
          <a:xfrm>
            <a:off x="8275319" y="1508760"/>
            <a:ext cx="1280160" cy="32004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8275319" y="1508760"/>
            <a:ext cx="1280160" cy="320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000" b="1" dirty="0">
                <a:solidFill>
                  <a:srgbClr val="16233A"/>
                </a:solidFill>
                <a:latin typeface="Calibri"/>
              </a:rPr>
              <a:t>2025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0149839" y="1508760"/>
            <a:ext cx="1280160" cy="320040"/>
          </a:xfrm>
          <a:prstGeom prst="rect">
            <a:avLst/>
          </a:prstGeom>
          <a:noFill/>
        </p:spPr>
        <p:txBody>
          <a:bodyPr wrap="square" rtlCol="0"/>
          <a:lstStyle/>
          <a:p>
            <a:pPr algn="r"/>
            <a:r>
              <a:rPr lang="en-US" sz="1200" b="1" dirty="0">
                <a:solidFill>
                  <a:srgbClr val="2E4057"/>
                </a:solidFill>
                <a:latin typeface="Calibri"/>
              </a:rPr>
              <a:t>Q.111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8275319" y="2011680"/>
            <a:ext cx="3200400" cy="16459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200" dirty="0">
                <a:solidFill>
                  <a:srgbClr val="2A2A2A"/>
                </a:solidFill>
                <a:latin typeface="Calibri"/>
              </a:rPr>
              <a:t>Incorrect match:
ASI-Dehradun /
Hydrology-Roorkee /
FRI-Dehradun /
Fisheries-Haldwani</a:t>
            </a:r>
          </a:p>
        </p:txBody>
      </p:sp>
      <p:sp>
        <p:nvSpPr>
          <p:cNvPr id="0" name="ActionBar"/>
          <p:cNvSpPr/>
          <p:nvPr/>
        </p:nvSpPr>
        <p:spPr>
          <a:xfrm>
            <a:off x="640080" y="4297680"/>
            <a:ext cx="10698480" cy="1463040"/>
          </a:xfrm>
          <a:prstGeom prst="roundRect">
            <a:avLst>
              <a:gd name="adj" fmla="val 5000"/>
            </a:avLst>
          </a:prstGeom>
          <a:solidFill>
            <a:srgbClr val="1623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4480560"/>
            <a:ext cx="10241280" cy="109728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600" b="1" dirty="0">
                <a:solidFill>
                  <a:srgbClr val="E0A458"/>
                </a:solidFill>
                <a:latin typeface="Calibri"/>
              </a:rPr>
              <a:t>Action: Make a list of 12 institutes × City × Function</a:t>
            </a:r>
          </a:p>
          <a:p>
            <a:pPr algn="l"/>
            <a:r>
              <a:rPr lang="en-US" sz="1400" dirty="0">
                <a:solidFill>
                  <a:srgbClr val="C7CFDB"/>
                </a:solidFill>
                <a:latin typeface="Calibri"/>
              </a:rPr>
              <a:t>15 minutes. Guaranteed 1-2 marks every paper.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Action Items — Karna Kya Hai</a:t>
            </a:r>
          </a:p>
        </p:txBody>
      </p:sp>
      <p:sp>
        <p:nvSpPr>
          <p:cNvPr id="0" name="Num0"/>
          <p:cNvSpPr/>
          <p:nvPr/>
        </p:nvSpPr>
        <p:spPr>
          <a:xfrm>
            <a:off x="731520" y="137160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1371600"/>
            <a:ext cx="594360" cy="594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16233A"/>
                </a:solidFill>
                <a:latin typeface="Calibri"/>
              </a:rPr>
              <a:t>1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554480" y="1325880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Calibri"/>
              </a:rPr>
              <a:t>Wildlife Master Table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554480" y="1828800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C7CFDB"/>
                </a:solidFill>
                <a:latin typeface="Calibri"/>
              </a:rPr>
              <a:t>20 Protected Areas × Name / Year / District / Species / Legal Status</a:t>
            </a:r>
          </a:p>
        </p:txBody>
      </p:sp>
      <p:sp>
        <p:nvSpPr>
          <p:cNvPr id="0" name="Num1"/>
          <p:cNvSpPr/>
          <p:nvPr/>
        </p:nvSpPr>
        <p:spPr>
          <a:xfrm>
            <a:off x="731520" y="292608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2926080"/>
            <a:ext cx="594360" cy="594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16233A"/>
                </a:solidFill>
                <a:latin typeface="Calibri"/>
              </a:rPr>
              <a:t>2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554480" y="2880360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Calibri"/>
              </a:rPr>
              <a:t>Movement-Founder List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554480" y="3383280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C7CFDB"/>
                </a:solidFill>
                <a:latin typeface="Calibri"/>
              </a:rPr>
              <a:t>15-20 UK Movements × Founder × Year × Type</a:t>
            </a:r>
          </a:p>
        </p:txBody>
      </p:sp>
      <p:sp>
        <p:nvSpPr>
          <p:cNvPr id="0" name="Num2"/>
          <p:cNvSpPr/>
          <p:nvPr/>
        </p:nvSpPr>
        <p:spPr>
          <a:xfrm>
            <a:off x="731520" y="4480560"/>
            <a:ext cx="594360" cy="59436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731520" y="4480560"/>
            <a:ext cx="594360" cy="59436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2400" b="1" dirty="0">
                <a:solidFill>
                  <a:srgbClr val="16233A"/>
                </a:solidFill>
                <a:latin typeface="Calibri"/>
              </a:rPr>
              <a:t>3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554480" y="4434840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Calibri"/>
              </a:rPr>
              <a:t>Central Institutes List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1554480" y="4937760"/>
            <a:ext cx="960120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400" dirty="0">
                <a:solidFill>
                  <a:srgbClr val="C7CFDB"/>
                </a:solidFill>
                <a:latin typeface="Calibri"/>
              </a:rPr>
              <a:t>12 Institutes × City × Function</a:t>
            </a:r>
          </a:p>
        </p:txBody>
      </p:sp>
      <p:sp>
        <p:nvSpPr>
          <p:cNvPr id="0" name="SumBar"/>
          <p:cNvSpPr/>
          <p:nvPr/>
        </p:nvSpPr>
        <p:spPr>
          <a:xfrm>
            <a:off x="640080" y="548640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2E405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914400" y="5577840"/>
            <a:ext cx="10241280" cy="54864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700" b="1" dirty="0">
                <a:solidFill>
                  <a:srgbClr val="E0A458"/>
                </a:solidFill>
                <a:latin typeface="Calibri"/>
              </a:rPr>
              <a:t>3 lists. 2 hours. 8-10 guaranteed marks.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600" b="1" dirty="0">
                <a:solidFill>
                  <a:srgbClr val="E0A458"/>
                </a:solidFill>
                <a:latin typeface="Calibri"/>
              </a:rPr>
              <a:t>Next Video...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2011680"/>
            <a:ext cx="10698480" cy="1371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Dynasty Cluster — 12 Questions in ONE Paper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en-US" sz="1700" dirty="0">
                <a:solidFill>
                  <a:srgbClr val="C7CFDB"/>
                </a:solidFill>
                <a:latin typeface="Calibri"/>
              </a:rPr>
              <a:t>The densest pattern nobody warns you about.</a:t>
            </a:r>
          </a:p>
        </p:txBody>
      </p:sp>
      <p:sp>
        <p:nvSpPr>
          <p:cNvPr id="0" name="CTABox"/>
          <p:cNvSpPr/>
          <p:nvPr/>
        </p:nvSpPr>
        <p:spPr>
          <a:xfrm>
            <a:off x="2286000" y="4389120"/>
            <a:ext cx="7589520" cy="1097280"/>
          </a:xfrm>
          <a:prstGeom prst="roundRect">
            <a:avLst>
              <a:gd name="adj" fmla="val 5000"/>
            </a:avLst>
          </a:prstGeom>
          <a:solidFill>
            <a:srgbClr val="E0A45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0" name="TextBox"/>
          <p:cNvSpPr txBox="1"/>
          <p:nvPr/>
        </p:nvSpPr>
        <p:spPr>
          <a:xfrm>
            <a:off x="2468880" y="4480560"/>
            <a:ext cx="7223760" cy="9144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700" b="1" dirty="0">
                <a:solidFill>
                  <a:srgbClr val="16233A"/>
                </a:solidFill>
                <a:latin typeface="Calibri"/>
              </a:rPr>
              <a:t>FREE PYQ Tracker — Telegram Link in Description</a:t>
            </a:r>
          </a:p>
          <a:p>
            <a:pPr algn="ctr"/>
            <a:r>
              <a:rPr lang="en-US" sz="1400" dirty="0">
                <a:solidFill>
                  <a:srgbClr val="16233A"/>
                </a:solidFill>
                <a:latin typeface="Calibri"/>
              </a:rPr>
              <a:t>Comment 'TRACKER' — Link milega | Subscribe + Bell</a:t>
            </a:r>
          </a:p>
        </p:txBody>
      </p:sp>
      <p:sp>
        <p:nvSpPr>
          <p:cNvPr id="0" name="TextBox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300" dirty="0">
                <a:solidFill>
                  <a:srgbClr val="C7CFDB"/>
                </a:solidFill>
                <a:latin typeface="Calibri"/>
              </a:rPr>
              <a:t>UKPSC DECODED — Prepare Smarter, Not Longer</a:t>
            </a:r>
          </a:p>
        </p:txBody>
      </p:sp>
    </p:spTree>
  </p:cSld>
  <p:clrMapOvr>
    <a:masterClrMapping/>
  </p:clrMapOvr>
</p:sld>
</file>