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M A S T E R C L A S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E5E5E5"/>
                </a:solidFill>
                <a:latin typeface="Garamond"/>
              </a:rPr>
              <a:t>The Note-Making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E5E5E5"/>
                </a:solidFill>
                <a:latin typeface="Garamond"/>
              </a:rPr>
              <a:t>Architecture Toppers Hide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5E5E5"/>
                </a:solidFill>
                <a:latin typeface="Inter"/>
              </a:rPr>
              <a:t>The 5-Layer System Behind 800+ Mains Scores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645920" cy="41148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5902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373"/>
                </a:solidFill>
                <a:latin typeface="Inter"/>
              </a:rPr>
              <a:t>5 Layers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572000"/>
            <a:ext cx="1645920" cy="41148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5902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373"/>
                </a:solidFill>
                <a:latin typeface="Inter"/>
              </a:rPr>
              <a:t>4 Secrets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572000"/>
            <a:ext cx="1645920" cy="41148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45902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373"/>
                </a:solidFill>
                <a:latin typeface="Inter"/>
              </a:rPr>
              <a:t>1 Page Rule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T H E  D I A G N O S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5E5E5"/>
                </a:solidFill>
                <a:latin typeface="Garamond"/>
              </a:rPr>
              <a:t>Summary ≠ Notes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4A373"/>
                </a:solidFill>
                <a:latin typeface="Garamond"/>
              </a:rPr>
              <a:t>"If your notes are a smaller version of the book, you haven't made notes."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2926080" cy="27432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Inter"/>
              </a:rPr>
              <a:t>THE SUMMARY TRAP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1. Read chapter 3 times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2. Condense to 10 pages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3. Re-read like a book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4. Same recall lag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Result: Page count changed.</a:t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Processing speed didn't.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651760"/>
            <a:ext cx="2926080" cy="27432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7B9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74320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B9E89"/>
                </a:solidFill>
                <a:latin typeface="Inter"/>
              </a:rPr>
              <a:t>THE SYSTEM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1. Demand-deconstruct PYQs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2. Remove overlap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3. Structure by dimension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4. Instant retrieval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Result: Recall is instant.</a:t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Structure = muscle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6928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Compression without a framework doesn't create recall pathways.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B9E89"/>
                </a:solidFill>
                <a:latin typeface="Inter"/>
              </a:rPr>
              <a:t>L A Y E R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E5E5E5"/>
                </a:solidFill>
                <a:latin typeface="Garamond"/>
              </a:rPr>
              <a:t>Content Sourcing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Three sources. One system. Everything else is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92024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4A373"/>
                </a:solidFill>
                <a:latin typeface="Inter"/>
              </a:rPr>
              <a:t>Syllabus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The skeleton. Every note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must trace back to a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syllabus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377440"/>
            <a:ext cx="192024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514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4A373"/>
                </a:solidFill>
                <a:latin typeface="Inter"/>
              </a:rPr>
              <a:t>PYQs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0175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The demand map. What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exams actually ask —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not what you assume.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377440"/>
            <a:ext cx="192024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4A373"/>
                </a:solidFill>
                <a:latin typeface="Inter"/>
              </a:rPr>
              <a:t>Current Affairs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0175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The living layer. Folded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into structure, never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stored separately.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94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Never build notes from a raw book alone. Build from demands.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B9E89"/>
                </a:solidFill>
                <a:latin typeface="Inter"/>
              </a:rPr>
              <a:t>L A Y E R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5E5E5"/>
                </a:solidFill>
                <a:latin typeface="Garamond"/>
              </a:rPr>
              <a:t>Micro-Thematic Structuring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4A373"/>
                </a:solidFill>
                <a:latin typeface="Garamond"/>
              </a:rPr>
              <a:t>Don't build notes topic-by-topic. Build them demand-by-demand.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74320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Inter"/>
              </a:rPr>
              <a:t>BEFORE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22 PYQs on Globalisation</a:t>
            </a:r>
          </a:p>
          <a:p>
            <a:pPr algn="l"/>
            <a:r>
              <a:rPr sz="1100" b="0">
                <a:solidFill>
                  <a:srgbClr val="E5E5E5"/>
                </a:solidFill>
                <a:latin typeface="Inter"/>
              </a:rPr>
              <a:t>Impact on women</a:t>
            </a:r>
          </a:p>
          <a:p>
            <a:pPr algn="l"/>
            <a:r>
              <a:rPr sz="1100" b="0">
                <a:solidFill>
                  <a:srgbClr val="E5E5E5"/>
                </a:solidFill>
                <a:latin typeface="Inter"/>
              </a:rPr>
              <a:t>Impact on elderly</a:t>
            </a:r>
          </a:p>
          <a:p>
            <a:pPr algn="l"/>
            <a:r>
              <a:rPr sz="1100" b="0">
                <a:solidFill>
                  <a:srgbClr val="E5E5E5"/>
                </a:solidFill>
                <a:latin typeface="Inter"/>
              </a:rPr>
              <a:t>Cultural identity</a:t>
            </a:r>
          </a:p>
          <a:p>
            <a:pPr algn="l"/>
            <a:r>
              <a:rPr sz="1100" b="0">
                <a:solidFill>
                  <a:srgbClr val="E5E5E5"/>
                </a:solidFill>
                <a:latin typeface="Inter"/>
              </a:rPr>
              <a:t>Technology effects</a:t>
            </a:r>
          </a:p>
          <a:p>
            <a:pPr algn="l"/>
            <a:r>
              <a:rPr sz="1100" b="0">
                <a:solidFill>
                  <a:srgbClr val="E5E5E5"/>
                </a:solidFill>
                <a:latin typeface="Inter"/>
              </a:rPr>
              <a:t>Trade dynamics</a:t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...and 17 more overlaps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4A373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2377440"/>
            <a:ext cx="274320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7B9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46888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B9E89"/>
                </a:solidFill>
                <a:latin typeface="Inter"/>
              </a:rPr>
              <a:t>AFTER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500" b="1">
                <a:solidFill>
                  <a:srgbClr val="D4A373"/>
                </a:solidFill>
                <a:latin typeface="Inter"/>
              </a:rPr>
              <a:t>9 Real Dimensions</a:t>
            </a:r>
          </a:p>
          <a:p>
            <a:pPr algn="l"/>
            <a:r>
              <a:rPr sz="5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Redundancy removed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Same content coverage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1/3 the pages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3x retrieval speed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6217920" cy="54864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UPSC rotates the same 3-4 dimensions in different costumes. Find the costume, ignore the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B9E89"/>
                </a:solidFill>
                <a:latin typeface="Inter"/>
              </a:rPr>
              <a:t>L A Y E R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5E5E5"/>
                </a:solidFill>
                <a:latin typeface="Garamond"/>
              </a:rPr>
              <a:t>Cross-Paper Consolidation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One fact. Multiple papers. Maximum marks per unit of knowledge.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D4A373"/>
                </a:solidFill>
                <a:latin typeface="Inter"/>
              </a:rPr>
              <a:t>THEME: Women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463040" cy="1828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B9E89"/>
                </a:solidFill>
                <a:latin typeface="Inter"/>
              </a:rPr>
              <a:t>GS1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Society: Status,</a:t>
            </a:r>
          </a:p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education, workforce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2743200"/>
            <a:ext cx="1463040" cy="1828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8346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B9E89"/>
                </a:solidFill>
                <a:latin typeface="Inter"/>
              </a:rPr>
              <a:t>GS2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0040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Governance: SHGs,</a:t>
            </a:r>
          </a:p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policies, rights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743200"/>
            <a:ext cx="1463040" cy="1828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28346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B9E89"/>
                </a:solidFill>
                <a:latin typeface="Inter"/>
              </a:rPr>
              <a:t>GS3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0040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Economy: Labour</a:t>
            </a:r>
          </a:p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participation, MUDRA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2743200"/>
            <a:ext cx="1463040" cy="1828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8346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B9E89"/>
                </a:solidFill>
                <a:latin typeface="Inter"/>
              </a:rPr>
              <a:t>GS4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20040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Ethics: Feminist</a:t>
            </a:r>
          </a:p>
          <a:p>
            <a:pPr algn="ctr"/>
            <a:r>
              <a:rPr sz="1000" b="0">
                <a:solidFill>
                  <a:srgbClr val="E5E5E5"/>
                </a:solidFill>
                <a:latin typeface="Inter"/>
              </a:rPr>
              <a:t>ethics, case studies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6217920" cy="502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373"/>
                </a:solidFill>
                <a:latin typeface="Inter"/>
              </a:rPr>
              <a:t>Principle: Content is limited; application is unlimited.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7784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6928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Ask for every fact: 'Where else could this live?' — one habit that shrinks total 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B9E89"/>
                </a:solidFill>
                <a:latin typeface="Inter"/>
              </a:rPr>
              <a:t>L A Y E R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E5E5E5"/>
                </a:solidFill>
                <a:latin typeface="Garamond"/>
              </a:rPr>
              <a:t>Periodic Enrichment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Fold new content into existing structure. Never start a separate pile.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1920240" cy="20116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373"/>
                </a:solidFill>
                <a:latin typeface="Inter"/>
              </a:rPr>
              <a:t>Month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Build base structure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from syllabus + PYQs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286000"/>
            <a:ext cx="1920240" cy="20116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423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373"/>
                </a:solidFill>
                <a:latin typeface="Inter"/>
              </a:rPr>
              <a:t>Month 4–8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9260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Fold current affairs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into existing themes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286000"/>
            <a:ext cx="1920240" cy="20116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423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373"/>
                </a:solidFill>
                <a:latin typeface="Inter"/>
              </a:rPr>
              <a:t>Month 9–12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Final enrichment +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revision-ready polish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D4A373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D4A373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63440"/>
            <a:ext cx="6217920" cy="502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373"/>
                </a:solidFill>
                <a:latin typeface="Inter"/>
              </a:rPr>
              <a:t>Rule: New information has an obvious home the moment you find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9496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Structure-first, content-second. The app doesn't save you if the folder logic is chaotic.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B9E89"/>
                </a:solidFill>
                <a:latin typeface="Inter"/>
              </a:rPr>
              <a:t>L A Y E R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E5E5E5"/>
                </a:solidFill>
                <a:latin typeface="Garamond"/>
              </a:rPr>
              <a:t>Reflection in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4A373"/>
                </a:solidFill>
                <a:latin typeface="Garamond"/>
              </a:rPr>
              <a:t>Your copy is a mirror of your notes — nothing more, nothing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74320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Inter"/>
              </a:rPr>
              <a:t>YOUR NOTE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GHI: 107 (2023)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India rank: 111/125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Child wasting: 18.7%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ICDS + PM Poshan link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Keyword: nutritional</a:t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sovereignty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4A373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2377440"/>
            <a:ext cx="274320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7B9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46888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B9E89"/>
                </a:solidFill>
                <a:latin typeface="Inter"/>
              </a:rPr>
              <a:t>YOUR ANSWER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India's GHI score of 107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(rank 111/125) reveals a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systemic crisis in nutritional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sovereignty. With child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wasting at 18.7%, convergence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of ICDS and PM Poshan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remains critical...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6217920" cy="54864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Model answers are already in exam-language. Build from them to skip the translation lag.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S T A T I C  R U L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5E5E5"/>
                </a:solidFill>
                <a:latin typeface="Garamond"/>
              </a:rPr>
              <a:t>The One-Page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1">
                <a:solidFill>
                  <a:srgbClr val="D4A373"/>
                </a:solidFill>
                <a:latin typeface="Garamond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6217920" cy="12801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4A373"/>
                </a:solidFill>
                <a:latin typeface="Inter"/>
              </a:rPr>
              <a:t>If it doesn't fit on one page, it isn't a note yet.</a:t>
            </a:r>
          </a:p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It's still raw material.</a:t>
            </a:r>
          </a:p>
          <a:p>
            <a:pPr algn="l"/>
            <a:r>
              <a:rPr sz="5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One page forces demand-deconstruction. You can't cheat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your way to one page by writing smaller — only by removing overlap.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The one-page constraint is a forcing function, not an arbitrary limit.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T O O L  S T R A T E G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E5E5E5"/>
                </a:solidFill>
                <a:latin typeface="Garamond"/>
              </a:rPr>
              <a:t>Digital vs Physical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Different content types need different tools.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926080" cy="2926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373"/>
                </a:solidFill>
                <a:latin typeface="Inter"/>
              </a:rPr>
              <a:t>HANDWRITTEN</a:t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Static Subjects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1. History maps + timelines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2. Polity fundamentals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3. Geography one-pagers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4. Ethics case templates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Why: Forces pre-processing</a:t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that typing skips entirely.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286000"/>
            <a:ext cx="2926080" cy="2926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7B9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B9E89"/>
                </a:solidFill>
                <a:latin typeface="Inter"/>
              </a:rPr>
              <a:t>DIGITAL</a:t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Current Affairs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1. Screenshot key data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2. Tag by GS paper + theme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3. Update as events evolve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4. Search instantly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Why: Fastest-decaying content</a:t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needs fastest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6217920" cy="54864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Hand-copying current affairs = using your slowest tool on your fastest-decaying content.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T H E  A I  E D G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E5E5E5"/>
                </a:solidFill>
                <a:latin typeface="Garamond"/>
              </a:rPr>
              <a:t>AI's Two Jobs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Velocity on pattern-recognition. Not a replacement for judgment.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92608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373"/>
                </a:solidFill>
                <a:latin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373"/>
                </a:solidFill>
                <a:latin typeface="Inter"/>
              </a:rPr>
              <a:t>Cluster PYQs Into Themes</a:t>
            </a:r>
          </a:p>
          <a:p>
            <a:pPr algn="ctr"/>
            <a:r>
              <a:rPr sz="5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Feed it a decade of PYQs.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It finds recurring patterns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in minutes — replacing a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weekend of manual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926080" cy="25603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373"/>
                </a:solidFill>
                <a:latin typeface="Garamo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260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373"/>
                </a:solidFill>
                <a:latin typeface="Inter"/>
              </a:rPr>
              <a:t>Draft Practice Case Studies</a:t>
            </a:r>
          </a:p>
          <a:p>
            <a:pPr algn="ctr"/>
            <a:r>
              <a:rPr sz="5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Generate ethics dilemmas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around a keyword. Select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and refine the 5-6 that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fit your answer templates.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20640"/>
            <a:ext cx="6217920" cy="4114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480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AI removes the tedious first pass. Your judgment decides what stays.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6217920" cy="45720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064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Human-in-the-loop always. AI accelerates — it does not replace thinking.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T A C T I C A L  S P L I 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E5E5E5"/>
                </a:solidFill>
                <a:latin typeface="Garamond"/>
              </a:rPr>
              <a:t>Mains vs Prelims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Same notes. Two different deployment modes.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926080" cy="30175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373"/>
                </a:solidFill>
                <a:latin typeface="Inter"/>
              </a:rPr>
              <a:t>MAINS</a:t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Argument Synthesis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1. 250-word ceiling constraint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2. Sub-150 words per dimension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3. Intro-Body-Conclusion pre-built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4. Skeleton reusable across topics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Goal: Reproduce structured</a:t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argument from one-page note</a:t>
            </a:r>
          </a:p>
          <a:p>
            <a:pPr algn="l"/>
            <a:r>
              <a:rPr sz="1100" b="0">
                <a:solidFill>
                  <a:srgbClr val="7B9E89"/>
                </a:solidFill>
                <a:latin typeface="Inter"/>
              </a:rPr>
              <a:t>in under 7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286000"/>
            <a:ext cx="2926080" cy="30175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7B9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3774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9E89"/>
                </a:solidFill>
                <a:latin typeface="Inter"/>
              </a:rPr>
              <a:t>PRELIMS</a:t>
            </a:r>
          </a:p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Fact Recall + Clarity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1. Pure fact-retention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2. Conceptual clarity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3. Recognition speed</a:t>
            </a:r>
          </a:p>
          <a:p>
            <a:pPr algn="l"/>
            <a:r>
              <a:rPr sz="1200" b="0">
                <a:solidFill>
                  <a:srgbClr val="E5E5E5"/>
                </a:solidFill>
                <a:latin typeface="Inter"/>
              </a:rPr>
              <a:t>4. Same map, dual payoff</a:t>
            </a:r>
          </a:p>
          <a:p>
            <a:pPr algn="l"/>
            <a:r>
              <a:rPr sz="6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Goal: Recognise correct option</a:t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in under 60 seconds using</a:t>
            </a:r>
          </a:p>
          <a:p>
            <a:pPr algn="l"/>
            <a:r>
              <a:rPr sz="1100" b="0">
                <a:solidFill>
                  <a:srgbClr val="D4A373"/>
                </a:solidFill>
                <a:latin typeface="Inter"/>
              </a:rPr>
              <a:t>the same integrated map.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Integrated notes = one build, two payoffs. Don't maintain separate systems.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U K P S C  S T R A T E G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5E5E5"/>
                </a:solidFill>
                <a:latin typeface="Garamond"/>
              </a:rPr>
              <a:t>The UKPSC–UPSC Overlap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Your efficiency multiplier if preparing for both exams.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286000"/>
            <a:ext cx="4023360" cy="1645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373"/>
                </a:solidFill>
                <a:latin typeface="Inter"/>
              </a:rPr>
              <a:t>SHARED STATIC CORE</a:t>
            </a:r>
          </a:p>
          <a:p>
            <a:pPr algn="ctr"/>
            <a:r>
              <a:rPr sz="5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ctr"/>
            <a:r>
              <a:rPr sz="1300" b="0">
                <a:solidFill>
                  <a:srgbClr val="E5E5E5"/>
                </a:solidFill>
                <a:latin typeface="Inter"/>
              </a:rPr>
              <a:t>History  |  Geography  |  Polity</a:t>
            </a:r>
          </a:p>
          <a:p>
            <a:pPr algn="ctr"/>
            <a:r>
              <a:rPr sz="4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Build ONE integrated map.</a:t>
            </a:r>
          </a:p>
          <a:p>
            <a:pPr algn="ctr"/>
            <a:r>
              <a:rPr sz="1200" b="0">
                <a:solidFill>
                  <a:srgbClr val="E5E5E5"/>
                </a:solidFill>
                <a:latin typeface="Inter"/>
              </a:rPr>
              <a:t>Barely diverges between exams.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2926080" cy="13716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7B9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B9E89"/>
                </a:solidFill>
                <a:latin typeface="Inter"/>
              </a:rPr>
              <a:t>+ UKPSC LAYER</a:t>
            </a:r>
          </a:p>
          <a:p>
            <a:pPr algn="ctr"/>
            <a:r>
              <a:rPr sz="4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State-specific current affairs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Uttarakhand schemes + movements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State geography specifics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297680"/>
            <a:ext cx="2926080" cy="13716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438912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4A373"/>
                </a:solidFill>
                <a:latin typeface="Inter"/>
              </a:rPr>
              <a:t>+ UPSC LAYER</a:t>
            </a:r>
          </a:p>
          <a:p>
            <a:pPr algn="ctr"/>
            <a:r>
              <a:rPr sz="400" b="0">
                <a:solidFill>
                  <a:srgbClr val="E5E5E5"/>
                </a:solidFill>
                <a:latin typeface="Inter"/>
              </a:rPr>
              <a:t/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National current affairs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International relations</a:t>
            </a:r>
          </a:p>
          <a:p>
            <a:pPr algn="ctr"/>
            <a:r>
              <a:rPr sz="1100" b="0">
                <a:solidFill>
                  <a:srgbClr val="E5E5E5"/>
                </a:solidFill>
                <a:latin typeface="Inter"/>
              </a:rPr>
              <a:t>Advanced governance topics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943600"/>
            <a:ext cx="6217920" cy="45720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Don't build two separate systems. Layer state-specific on top of a shared foundation.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Inter"/>
              </a:rPr>
              <a:t>T O P P E R  S E C R E T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5E5E5"/>
                </a:solidFill>
                <a:latin typeface="Garamond"/>
              </a:rPr>
              <a:t>The 4 Non-Obvious Truths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22860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457200" cy="45720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71717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5E5E5"/>
                </a:solidFill>
                <a:latin typeface="Inter"/>
              </a:rPr>
              <a:t>Demand Deconstruction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Build notes by demand, not by chapter. 22 PYQ variations collapse into 8-10 reusable dimensions.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457200" cy="45720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71717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88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5E5E5"/>
                </a:solidFill>
                <a:latin typeface="Inter"/>
              </a:rPr>
              <a:t>Model Answers Over 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54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Build from exam-language sources. Skip the book-to-answer translation lag entirely.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457200" cy="45720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71717"/>
                </a:solidFill>
                <a:latin typeface="Inte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49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5E5E5"/>
                </a:solidFill>
                <a:latin typeface="Inter"/>
              </a:rPr>
              <a:t>Skip What You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1147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Notes = record of what you'd forget + phrases that differentiate you from everyone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09160"/>
            <a:ext cx="457200" cy="45720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71717"/>
                </a:solidFill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09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5E5E5"/>
                </a:solidFill>
                <a:latin typeface="Inter"/>
              </a:rPr>
              <a:t>Cross-Paper Transfer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Every fact should earn marks in multiple papers. Ask: where else could this live?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60720"/>
            <a:ext cx="6217920" cy="502920"/>
          </a:xfrm>
          <a:prstGeom prst="roundRect">
            <a:avLst/>
          </a:prstGeom>
          <a:solidFill>
            <a:srgbClr val="171717"/>
          </a:solidFill>
          <a:ln w="12700">
            <a:solidFill>
              <a:srgbClr val="D4A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521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D4A373"/>
                </a:solidFill>
                <a:latin typeface="Inter"/>
              </a:rPr>
              <a:t>★ </a:t>
            </a:r>
            <a:r>
              <a:rPr sz="1300" b="1">
                <a:solidFill>
                  <a:srgbClr val="D4A373"/>
                </a:solidFill>
                <a:latin typeface="Inter"/>
              </a:rPr>
              <a:t>Insider Tip  </a:t>
            </a:r>
            <a:r>
              <a:rPr sz="1300">
                <a:solidFill>
                  <a:srgbClr val="E5E5E5"/>
                </a:solidFill>
                <a:latin typeface="Inter"/>
              </a:rPr>
              <a:t>These secrets compound. Each layer makes the next one exponentially more effective.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A3AF"/>
                </a:solidFill>
                <a:latin typeface="Inter"/>
              </a:rPr>
              <a:t>T H E  S I N G L E  T A K E A W A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5E5E5"/>
                </a:solidFill>
                <a:latin typeface="Garamond"/>
              </a:rPr>
              <a:t>Build the demand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5E5E5"/>
                </a:solidFill>
                <a:latin typeface="Garamond"/>
              </a:rPr>
              <a:t>before you build the note.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840480"/>
            <a:ext cx="1828800" cy="19050"/>
          </a:xfrm>
          <a:prstGeom prst="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CA3AF"/>
                </a:solidFill>
                <a:latin typeface="Inter"/>
              </a:rPr>
              <a:t>That's the whole secret.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373"/>
                </a:solidFill>
                <a:latin typeface="Inter"/>
              </a:rPr>
              <a:t>UKPSC DECODED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Inter"/>
              </a:rPr>
              <a:t>Prepare Smarter. Not Longer.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