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5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1695" cy="6858000"/>
  <p:notesSz cx="6858000" cy="12191695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" Target="slides/slide11.xml"/>
  <Relationship Id="rId12" Type="http://schemas.openxmlformats.org/officeDocument/2006/relationships/slide" Target="slides/slide12.xml"/>
  <Relationship Id="rId13" Type="http://schemas.openxmlformats.org/officeDocument/2006/relationships/slide" Target="slides/slide13.xml"/>
  <Relationship Id="rId14" Type="http://schemas.openxmlformats.org/officeDocument/2006/relationships/slide" Target="slides/slide14.xml"/>
  <Relationship Id="rId15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"/>
          <p:cNvSpPr txBox="1"/>
          <p:nvPr/>
        </p:nvSpPr>
        <p:spPr>
          <a:xfrm>
            <a:off x="731520" y="914400"/>
            <a:ext cx="64008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9CA3AF"/>
                </a:solidFill>
                <a:latin typeface="Inter"/>
              </a:rPr>
              <a:t>M A S T E R C L A S 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31520" y="1645920"/>
            <a:ext cx="6400800" cy="18288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4800" b="1" dirty="0">
                <a:solidFill>
                  <a:srgbClr val="E5E5E5"/>
                </a:solidFill>
                <a:latin typeface="Garamond"/>
              </a:rPr>
              <a:t>The Note-Making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31520" y="2560320"/>
            <a:ext cx="6400800" cy="13716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4800" b="1" dirty="0">
                <a:solidFill>
                  <a:srgbClr val="E5E5E5"/>
                </a:solidFill>
                <a:latin typeface="Garamond"/>
              </a:rPr>
              <a:t>Architecture Toppers Hide</a:t>
            </a:r>
          </a:p>
        </p:txBody>
      </p:sp>
      <p:sp>
        <p:nvSpPr>
          <p:cNvPr id="0" name="Line"/>
          <p:cNvSpPr/>
          <p:nvPr/>
        </p:nvSpPr>
        <p:spPr>
          <a:xfrm>
            <a:off x="731520" y="3840480"/>
            <a:ext cx="2468880" cy="0"/>
          </a:xfrm>
          <a:prstGeom prst="line">
            <a:avLst/>
          </a:prstGeom>
          <a:ln w="12700">
            <a:solidFill>
              <a:srgbClr val="D4A373"/>
            </a:solidFill>
          </a:ln>
        </p:spPr>
      </p:sp>
      <p:sp>
        <p:nvSpPr>
          <p:cNvPr id="0" name="TextBox"/>
          <p:cNvSpPr txBox="1"/>
          <p:nvPr/>
        </p:nvSpPr>
        <p:spPr>
          <a:xfrm>
            <a:off x="731520" y="4114800"/>
            <a:ext cx="64008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600" dirty="0">
                <a:solidFill>
                  <a:srgbClr val="E5E5E5"/>
                </a:solidFill>
                <a:latin typeface="Inter"/>
              </a:rPr>
              <a:t>The 5-Layer System Behind 800+ Mains Scores</a:t>
            </a:r>
          </a:p>
        </p:txBody>
      </p:sp>
      <p:sp>
        <p:nvSpPr>
          <p:cNvPr id="0" name="Pill"/>
          <p:cNvSpPr/>
          <p:nvPr/>
        </p:nvSpPr>
        <p:spPr>
          <a:xfrm>
            <a:off x="731520" y="4846320"/>
            <a:ext cx="1828800" cy="457200"/>
          </a:xfrm>
          <a:prstGeom prst="roundRect">
            <a:avLst>
              <a:gd name="adj" fmla="val 3000"/>
            </a:avLst>
          </a:prstGeom>
          <a:solidFill>
            <a:srgbClr val="171717"/>
          </a:solidFill>
          <a:ln w="12700">
            <a:solidFill>
              <a:srgbClr val="D4A37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731520" y="4892040"/>
            <a:ext cx="1828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dirty="0">
                <a:solidFill>
                  <a:srgbClr val="D4A373"/>
                </a:solidFill>
                <a:latin typeface="Inter"/>
              </a:rPr>
              <a:t>5 Layers</a:t>
            </a:r>
          </a:p>
        </p:txBody>
      </p:sp>
      <p:sp>
        <p:nvSpPr>
          <p:cNvPr id="0" name="Pill"/>
          <p:cNvSpPr/>
          <p:nvPr/>
        </p:nvSpPr>
        <p:spPr>
          <a:xfrm>
            <a:off x="2926080" y="4846320"/>
            <a:ext cx="1828800" cy="457200"/>
          </a:xfrm>
          <a:prstGeom prst="roundRect">
            <a:avLst>
              <a:gd name="adj" fmla="val 3000"/>
            </a:avLst>
          </a:prstGeom>
          <a:solidFill>
            <a:srgbClr val="171717"/>
          </a:solidFill>
          <a:ln w="12700">
            <a:solidFill>
              <a:srgbClr val="D4A37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2926080" y="4892040"/>
            <a:ext cx="1828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dirty="0">
                <a:solidFill>
                  <a:srgbClr val="D4A373"/>
                </a:solidFill>
                <a:latin typeface="Inter"/>
              </a:rPr>
              <a:t>4 Secrets</a:t>
            </a:r>
          </a:p>
        </p:txBody>
      </p:sp>
      <p:sp>
        <p:nvSpPr>
          <p:cNvPr id="0" name="Pill"/>
          <p:cNvSpPr/>
          <p:nvPr/>
        </p:nvSpPr>
        <p:spPr>
          <a:xfrm>
            <a:off x="5120640" y="4846320"/>
            <a:ext cx="1828800" cy="457200"/>
          </a:xfrm>
          <a:prstGeom prst="roundRect">
            <a:avLst>
              <a:gd name="adj" fmla="val 3000"/>
            </a:avLst>
          </a:prstGeom>
          <a:solidFill>
            <a:srgbClr val="171717"/>
          </a:solidFill>
          <a:ln w="12700">
            <a:solidFill>
              <a:srgbClr val="D4A37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5120640" y="4892040"/>
            <a:ext cx="18288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dirty="0">
                <a:solidFill>
                  <a:srgbClr val="D4A373"/>
                </a:solidFill>
                <a:latin typeface="Inter"/>
              </a:rPr>
              <a:t>1 Page Rule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"/>
          <p:cNvSpPr txBox="1"/>
          <p:nvPr/>
        </p:nvSpPr>
        <p:spPr>
          <a:xfrm>
            <a:off x="731520" y="457200"/>
            <a:ext cx="64008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9CA3AF"/>
                </a:solidFill>
                <a:latin typeface="Inter"/>
              </a:rPr>
              <a:t>T H E  D I A G N O S I 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31520" y="914400"/>
            <a:ext cx="640080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4400" b="1" dirty="0">
                <a:solidFill>
                  <a:srgbClr val="E5E5E5"/>
                </a:solidFill>
                <a:latin typeface="Garamond"/>
              </a:rPr>
              <a:t>Summary ≠ Notes</a:t>
            </a:r>
          </a:p>
        </p:txBody>
      </p:sp>
      <p:sp>
        <p:nvSpPr>
          <p:cNvPr id="0" name="Line"/>
          <p:cNvSpPr/>
          <p:nvPr/>
        </p:nvSpPr>
        <p:spPr>
          <a:xfrm>
            <a:off x="731520" y="1828800"/>
            <a:ext cx="2468880" cy="0"/>
          </a:xfrm>
          <a:prstGeom prst="line">
            <a:avLst/>
          </a:prstGeom>
          <a:ln w="12700">
            <a:solidFill>
              <a:srgbClr val="D4A373"/>
            </a:solidFill>
          </a:ln>
        </p:spPr>
      </p:sp>
      <p:sp>
        <p:nvSpPr>
          <p:cNvPr id="0" name="TextBox"/>
          <p:cNvSpPr txBox="1"/>
          <p:nvPr/>
        </p:nvSpPr>
        <p:spPr>
          <a:xfrm>
            <a:off x="731520" y="2103120"/>
            <a:ext cx="640080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D4A373"/>
                </a:solidFill>
                <a:latin typeface="Garamond"/>
              </a:rPr>
              <a:t>"If your notes are a smaller version of the book, you haven't made notes."</a:t>
            </a:r>
          </a:p>
        </p:txBody>
      </p:sp>
      <p:sp>
        <p:nvSpPr>
          <p:cNvPr id="0" name="WrongBox"/>
          <p:cNvSpPr/>
          <p:nvPr/>
        </p:nvSpPr>
        <p:spPr>
          <a:xfrm>
            <a:off x="731520" y="3108960"/>
            <a:ext cx="3017520" cy="256032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14400" y="3291840"/>
            <a:ext cx="2743200" cy="2286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b="1" dirty="0">
                <a:solidFill>
                  <a:srgbClr val="9CA3AF"/>
                </a:solidFill>
                <a:latin typeface="Inter"/>
              </a:rPr>
              <a:t>THE SUMMARY TRAP</a:t>
            </a:r>
          </a:p>
          <a:p>
            <a:pPr algn="l"/>
            <a:r>
              <a:rPr lang="en-US" sz="600" dirty="0">
                <a:solidFill>
                  <a:srgbClr val="E5E5E5"/>
                </a:solidFill>
                <a:latin typeface="Inter"/>
              </a:rPr>
              <a:t/>
            </a:r>
          </a:p>
          <a:p>
            <a:pPr algn="l"/>
            <a:r>
              <a:rPr lang="en-US" sz="1300" dirty="0">
                <a:solidFill>
                  <a:srgbClr val="E5E5E5"/>
                </a:solidFill>
                <a:latin typeface="Inter"/>
              </a:rPr>
              <a:t>1. Read chapter 3 times</a:t>
            </a:r>
          </a:p>
          <a:p>
            <a:pPr algn="l"/>
            <a:r>
              <a:rPr lang="en-US" sz="1300" dirty="0">
                <a:solidFill>
                  <a:srgbClr val="E5E5E5"/>
                </a:solidFill>
                <a:latin typeface="Inter"/>
              </a:rPr>
              <a:t>2. Condense to 10 pages</a:t>
            </a:r>
          </a:p>
          <a:p>
            <a:pPr algn="l"/>
            <a:r>
              <a:rPr lang="en-US" sz="1300" dirty="0">
                <a:solidFill>
                  <a:srgbClr val="E5E5E5"/>
                </a:solidFill>
                <a:latin typeface="Inter"/>
              </a:rPr>
              <a:t>3. Re-read like a book</a:t>
            </a:r>
          </a:p>
          <a:p>
            <a:pPr algn="l"/>
            <a:r>
              <a:rPr lang="en-US" sz="1300" dirty="0">
                <a:solidFill>
                  <a:srgbClr val="E5E5E5"/>
                </a:solidFill>
                <a:latin typeface="Inter"/>
              </a:rPr>
              <a:t>4. Same recall lag</a:t>
            </a:r>
          </a:p>
          <a:p>
            <a:pPr algn="l"/>
            <a:r>
              <a:rPr lang="en-US" sz="600" dirty="0">
                <a:solidFill>
                  <a:srgbClr val="E5E5E5"/>
                </a:solidFill>
                <a:latin typeface="Inter"/>
              </a:rPr>
              <a:t/>
            </a:r>
          </a:p>
          <a:p>
            <a:pPr algn="l"/>
            <a:r>
              <a:rPr lang="en-US" sz="1200" dirty="0">
                <a:solidFill>
                  <a:srgbClr val="9CA3AF"/>
                </a:solidFill>
                <a:latin typeface="Inter"/>
              </a:rPr>
              <a:t>Result: Page count changed.</a:t>
            </a:r>
          </a:p>
          <a:p>
            <a:pPr algn="l"/>
            <a:r>
              <a:rPr lang="en-US" sz="1200" dirty="0">
                <a:solidFill>
                  <a:srgbClr val="9CA3AF"/>
                </a:solidFill>
                <a:latin typeface="Inter"/>
              </a:rPr>
              <a:t>Processing speed didn't.</a:t>
            </a:r>
          </a:p>
        </p:txBody>
      </p:sp>
      <p:sp>
        <p:nvSpPr>
          <p:cNvPr id="0" name="RightBox"/>
          <p:cNvSpPr/>
          <p:nvPr/>
        </p:nvSpPr>
        <p:spPr>
          <a:xfrm>
            <a:off x="4023360" y="3108960"/>
            <a:ext cx="3017520" cy="256032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7B9E8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4206240" y="3291840"/>
            <a:ext cx="2743200" cy="2286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b="1" dirty="0">
                <a:solidFill>
                  <a:srgbClr val="7B9E89"/>
                </a:solidFill>
                <a:latin typeface="Inter"/>
              </a:rPr>
              <a:t>THE SYSTEM</a:t>
            </a:r>
          </a:p>
          <a:p>
            <a:pPr algn="l"/>
            <a:r>
              <a:rPr lang="en-US" sz="600" dirty="0">
                <a:solidFill>
                  <a:srgbClr val="E5E5E5"/>
                </a:solidFill>
                <a:latin typeface="Inter"/>
              </a:rPr>
              <a:t/>
            </a:r>
          </a:p>
          <a:p>
            <a:pPr algn="l"/>
            <a:r>
              <a:rPr lang="en-US" sz="1300" dirty="0">
                <a:solidFill>
                  <a:srgbClr val="E5E5E5"/>
                </a:solidFill>
                <a:latin typeface="Inter"/>
              </a:rPr>
              <a:t>1. Demand-deconstruct PYQs</a:t>
            </a:r>
          </a:p>
          <a:p>
            <a:pPr algn="l"/>
            <a:r>
              <a:rPr lang="en-US" sz="1300" dirty="0">
                <a:solidFill>
                  <a:srgbClr val="E5E5E5"/>
                </a:solidFill>
                <a:latin typeface="Inter"/>
              </a:rPr>
              <a:t>2. Remove overlap</a:t>
            </a:r>
          </a:p>
          <a:p>
            <a:pPr algn="l"/>
            <a:r>
              <a:rPr lang="en-US" sz="1300" dirty="0">
                <a:solidFill>
                  <a:srgbClr val="E5E5E5"/>
                </a:solidFill>
                <a:latin typeface="Inter"/>
              </a:rPr>
              <a:t>3. Structure by dimension</a:t>
            </a:r>
          </a:p>
          <a:p>
            <a:pPr algn="l"/>
            <a:r>
              <a:rPr lang="en-US" sz="1300" dirty="0">
                <a:solidFill>
                  <a:srgbClr val="E5E5E5"/>
                </a:solidFill>
                <a:latin typeface="Inter"/>
              </a:rPr>
              <a:t>4. Instant retrieval</a:t>
            </a:r>
          </a:p>
          <a:p>
            <a:pPr algn="l"/>
            <a:r>
              <a:rPr lang="en-US" sz="600" dirty="0">
                <a:solidFill>
                  <a:srgbClr val="E5E5E5"/>
                </a:solidFill>
                <a:latin typeface="Inter"/>
              </a:rPr>
              <a:t/>
            </a:r>
          </a:p>
          <a:p>
            <a:pPr algn="l"/>
            <a:r>
              <a:rPr lang="en-US" sz="1200" dirty="0">
                <a:solidFill>
                  <a:srgbClr val="7B9E89"/>
                </a:solidFill>
                <a:latin typeface="Inter"/>
              </a:rPr>
              <a:t>Result: Recall is instant.</a:t>
            </a:r>
          </a:p>
          <a:p>
            <a:pPr algn="l"/>
            <a:r>
              <a:rPr lang="en-US" sz="1200" dirty="0">
                <a:solidFill>
                  <a:srgbClr val="7B9E89"/>
                </a:solidFill>
                <a:latin typeface="Inter"/>
              </a:rPr>
              <a:t>Structure = muscle memory.</a:t>
            </a:r>
          </a:p>
        </p:txBody>
      </p:sp>
      <p:sp>
        <p:nvSpPr>
          <p:cNvPr id="0" name="TipBox"/>
          <p:cNvSpPr/>
          <p:nvPr/>
        </p:nvSpPr>
        <p:spPr>
          <a:xfrm>
            <a:off x="731520" y="5943600"/>
            <a:ext cx="6400800" cy="548640"/>
          </a:xfrm>
          <a:prstGeom prst="roundRect">
            <a:avLst>
              <a:gd name="adj" fmla="val 3000"/>
            </a:avLst>
          </a:prstGeom>
          <a:solidFill>
            <a:srgbClr val="171717"/>
          </a:solidFill>
          <a:ln w="12700">
            <a:solidFill>
              <a:srgbClr val="D4A37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60120" y="6080760"/>
            <a:ext cx="594360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dirty="0">
                <a:solidFill>
                  <a:srgbClr val="D4A373"/>
                </a:solidFill>
                <a:latin typeface="Inter"/>
              </a:rPr>
              <a:t>★ </a:t>
            </a:r>
            <a:r>
              <a:rPr lang="en-US" sz="1400" b="1" dirty="0">
                <a:solidFill>
                  <a:srgbClr val="D4A373"/>
                </a:solidFill>
                <a:latin typeface="Inter"/>
              </a:rPr>
              <a:t>Insider Tip  </a:t>
            </a:r>
            <a:r>
              <a:rPr lang="en-US" sz="1400" dirty="0">
                <a:solidFill>
                  <a:srgbClr val="E5E5E5"/>
                </a:solidFill>
                <a:latin typeface="Inter"/>
              </a:rPr>
              <a:t>Compression without a framework doesn't create recall pathways.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"/>
          <p:cNvSpPr txBox="1"/>
          <p:nvPr/>
        </p:nvSpPr>
        <p:spPr>
          <a:xfrm>
            <a:off x="731520" y="457200"/>
            <a:ext cx="64008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7B9E89"/>
                </a:solidFill>
                <a:latin typeface="Inter"/>
              </a:rPr>
              <a:t>L A Y E R  1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31520" y="914400"/>
            <a:ext cx="640080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4000" b="1" dirty="0">
                <a:solidFill>
                  <a:srgbClr val="E5E5E5"/>
                </a:solidFill>
                <a:latin typeface="Garamond"/>
              </a:rPr>
              <a:t>Content Sourcing</a:t>
            </a:r>
          </a:p>
        </p:txBody>
      </p:sp>
      <p:sp>
        <p:nvSpPr>
          <p:cNvPr id="0" name="Line"/>
          <p:cNvSpPr/>
          <p:nvPr/>
        </p:nvSpPr>
        <p:spPr>
          <a:xfrm>
            <a:off x="731520" y="1737360"/>
            <a:ext cx="2468880" cy="0"/>
          </a:xfrm>
          <a:prstGeom prst="line">
            <a:avLst/>
          </a:prstGeom>
          <a:ln w="12700">
            <a:solidFill>
              <a:srgbClr val="D4A373"/>
            </a:solidFill>
          </a:ln>
        </p:spPr>
      </p:sp>
      <p:sp>
        <p:nvSpPr>
          <p:cNvPr id="0" name="TextBox"/>
          <p:cNvSpPr txBox="1"/>
          <p:nvPr/>
        </p:nvSpPr>
        <p:spPr>
          <a:xfrm>
            <a:off x="731520" y="2011680"/>
            <a:ext cx="64008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9CA3AF"/>
                </a:solidFill>
                <a:latin typeface="Inter"/>
              </a:rPr>
              <a:t>Three sources. One system. Everything else is noise.</a:t>
            </a:r>
          </a:p>
        </p:txBody>
      </p:sp>
      <p:sp>
        <p:nvSpPr>
          <p:cNvPr id="0" name="Src0"/>
          <p:cNvSpPr/>
          <p:nvPr/>
        </p:nvSpPr>
        <p:spPr>
          <a:xfrm>
            <a:off x="731520" y="2743200"/>
            <a:ext cx="2011680" cy="256032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731520" y="2926080"/>
            <a:ext cx="201168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500" b="1" dirty="0">
                <a:solidFill>
                  <a:srgbClr val="D4A373"/>
                </a:solidFill>
                <a:latin typeface="Inter"/>
              </a:rPr>
              <a:t>Syllabus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868680" y="3474720"/>
            <a:ext cx="173736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dirty="0">
                <a:solidFill>
                  <a:srgbClr val="E5E5E5"/>
                </a:solidFill>
                <a:latin typeface="Inter"/>
              </a:rPr>
              <a:t>The skeleton. Every note</a:t>
            </a:r>
          </a:p>
          <a:p>
            <a:pPr algn="ctr"/>
            <a:r>
              <a:rPr lang="en-US" sz="1100" dirty="0">
                <a:solidFill>
                  <a:srgbClr val="E5E5E5"/>
                </a:solidFill>
                <a:latin typeface="Inter"/>
              </a:rPr>
              <a:t>must trace back to a</a:t>
            </a:r>
          </a:p>
          <a:p>
            <a:pPr algn="ctr"/>
            <a:r>
              <a:rPr lang="en-US" sz="1100" dirty="0">
                <a:solidFill>
                  <a:srgbClr val="E5E5E5"/>
                </a:solidFill>
                <a:latin typeface="Inter"/>
              </a:rPr>
              <a:t>syllabus line.</a:t>
            </a:r>
          </a:p>
        </p:txBody>
      </p:sp>
      <p:sp>
        <p:nvSpPr>
          <p:cNvPr id="0" name="Src1"/>
          <p:cNvSpPr/>
          <p:nvPr/>
        </p:nvSpPr>
        <p:spPr>
          <a:xfrm>
            <a:off x="3017520" y="2743200"/>
            <a:ext cx="2011680" cy="256032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3017520" y="2926080"/>
            <a:ext cx="201168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500" b="1" dirty="0">
                <a:solidFill>
                  <a:srgbClr val="D4A373"/>
                </a:solidFill>
                <a:latin typeface="Inter"/>
              </a:rPr>
              <a:t>PYQs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3154680" y="3474720"/>
            <a:ext cx="173736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dirty="0">
                <a:solidFill>
                  <a:srgbClr val="E5E5E5"/>
                </a:solidFill>
                <a:latin typeface="Inter"/>
              </a:rPr>
              <a:t>The demand map. What</a:t>
            </a:r>
          </a:p>
          <a:p>
            <a:pPr algn="ctr"/>
            <a:r>
              <a:rPr lang="en-US" sz="1100" dirty="0">
                <a:solidFill>
                  <a:srgbClr val="E5E5E5"/>
                </a:solidFill>
                <a:latin typeface="Inter"/>
              </a:rPr>
              <a:t>UPSC/UKPSC actually</a:t>
            </a:r>
          </a:p>
          <a:p>
            <a:pPr algn="ctr"/>
            <a:r>
              <a:rPr lang="en-US" sz="1100" dirty="0">
                <a:solidFill>
                  <a:srgbClr val="E5E5E5"/>
                </a:solidFill>
                <a:latin typeface="Inter"/>
              </a:rPr>
              <a:t>asks — not what you</a:t>
            </a:r>
          </a:p>
          <a:p>
            <a:pPr algn="ctr"/>
            <a:r>
              <a:rPr lang="en-US" sz="1100" dirty="0">
                <a:solidFill>
                  <a:srgbClr val="E5E5E5"/>
                </a:solidFill>
                <a:latin typeface="Inter"/>
              </a:rPr>
              <a:t>assume they ask.</a:t>
            </a:r>
          </a:p>
        </p:txBody>
      </p:sp>
      <p:sp>
        <p:nvSpPr>
          <p:cNvPr id="0" name="Src2"/>
          <p:cNvSpPr/>
          <p:nvPr/>
        </p:nvSpPr>
        <p:spPr>
          <a:xfrm>
            <a:off x="5303520" y="2743200"/>
            <a:ext cx="2011680" cy="256032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5303520" y="2926080"/>
            <a:ext cx="201168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500" b="1" dirty="0">
                <a:solidFill>
                  <a:srgbClr val="D4A373"/>
                </a:solidFill>
                <a:latin typeface="Inter"/>
              </a:rPr>
              <a:t>Current Affairs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440680" y="3474720"/>
            <a:ext cx="173736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dirty="0">
                <a:solidFill>
                  <a:srgbClr val="E5E5E5"/>
                </a:solidFill>
                <a:latin typeface="Inter"/>
              </a:rPr>
              <a:t>The living layer. Folded</a:t>
            </a:r>
          </a:p>
          <a:p>
            <a:pPr algn="ctr"/>
            <a:r>
              <a:rPr lang="en-US" sz="1100" dirty="0">
                <a:solidFill>
                  <a:srgbClr val="E5E5E5"/>
                </a:solidFill>
                <a:latin typeface="Inter"/>
              </a:rPr>
              <a:t>into structure, never</a:t>
            </a:r>
          </a:p>
          <a:p>
            <a:pPr algn="ctr"/>
            <a:r>
              <a:rPr lang="en-US" sz="1100" dirty="0">
                <a:solidFill>
                  <a:srgbClr val="E5E5E5"/>
                </a:solidFill>
                <a:latin typeface="Inter"/>
              </a:rPr>
              <a:t>stored separately.</a:t>
            </a:r>
          </a:p>
        </p:txBody>
      </p:sp>
      <p:sp>
        <p:nvSpPr>
          <p:cNvPr id="0" name="TipBox"/>
          <p:cNvSpPr/>
          <p:nvPr/>
        </p:nvSpPr>
        <p:spPr>
          <a:xfrm>
            <a:off x="731520" y="5760720"/>
            <a:ext cx="6400800" cy="548640"/>
          </a:xfrm>
          <a:prstGeom prst="roundRect">
            <a:avLst>
              <a:gd name="adj" fmla="val 3000"/>
            </a:avLst>
          </a:prstGeom>
          <a:solidFill>
            <a:srgbClr val="171717"/>
          </a:solidFill>
          <a:ln w="12700">
            <a:solidFill>
              <a:srgbClr val="D4A37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60120" y="5897880"/>
            <a:ext cx="594360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dirty="0">
                <a:solidFill>
                  <a:srgbClr val="D4A373"/>
                </a:solidFill>
                <a:latin typeface="Inter"/>
              </a:rPr>
              <a:t>★ </a:t>
            </a:r>
            <a:r>
              <a:rPr lang="en-US" sz="1400" b="1" dirty="0">
                <a:solidFill>
                  <a:srgbClr val="D4A373"/>
                </a:solidFill>
                <a:latin typeface="Inter"/>
              </a:rPr>
              <a:t>Insider Tip  </a:t>
            </a:r>
            <a:r>
              <a:rPr lang="en-US" sz="1400" dirty="0">
                <a:solidFill>
                  <a:srgbClr val="E5E5E5"/>
                </a:solidFill>
                <a:latin typeface="Inter"/>
              </a:rPr>
              <a:t>Never build notes from a raw book alone. Build from demands.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"/>
          <p:cNvSpPr txBox="1"/>
          <p:nvPr/>
        </p:nvSpPr>
        <p:spPr>
          <a:xfrm>
            <a:off x="731520" y="457200"/>
            <a:ext cx="64008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7B9E89"/>
                </a:solidFill>
                <a:latin typeface="Inter"/>
              </a:rPr>
              <a:t>L A Y E R  2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31520" y="914400"/>
            <a:ext cx="640080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3600" b="1" dirty="0">
                <a:solidFill>
                  <a:srgbClr val="E5E5E5"/>
                </a:solidFill>
                <a:latin typeface="Garamond"/>
              </a:rPr>
              <a:t>Micro-Thematic Structuring</a:t>
            </a:r>
          </a:p>
        </p:txBody>
      </p:sp>
      <p:sp>
        <p:nvSpPr>
          <p:cNvPr id="0" name="Line"/>
          <p:cNvSpPr/>
          <p:nvPr/>
        </p:nvSpPr>
        <p:spPr>
          <a:xfrm>
            <a:off x="731520" y="1691640"/>
            <a:ext cx="2468880" cy="0"/>
          </a:xfrm>
          <a:prstGeom prst="line">
            <a:avLst/>
          </a:prstGeom>
          <a:ln w="12700">
            <a:solidFill>
              <a:srgbClr val="D4A373"/>
            </a:solidFill>
          </a:ln>
        </p:spPr>
      </p:sp>
      <p:sp>
        <p:nvSpPr>
          <p:cNvPr id="0" name="TextBox"/>
          <p:cNvSpPr txBox="1"/>
          <p:nvPr/>
        </p:nvSpPr>
        <p:spPr>
          <a:xfrm>
            <a:off x="731520" y="1920240"/>
            <a:ext cx="64008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D4A373"/>
                </a:solidFill>
                <a:latin typeface="Garamond"/>
              </a:rPr>
              <a:t>Don't build notes topic-by-topic. Build them demand-by-demand.</a:t>
            </a:r>
          </a:p>
        </p:txBody>
      </p:sp>
      <p:sp>
        <p:nvSpPr>
          <p:cNvPr id="0" name="Before"/>
          <p:cNvSpPr/>
          <p:nvPr/>
        </p:nvSpPr>
        <p:spPr>
          <a:xfrm>
            <a:off x="731520" y="2651760"/>
            <a:ext cx="2743200" cy="228600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14400" y="2743200"/>
            <a:ext cx="2377440" cy="21031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b="1" dirty="0">
                <a:solidFill>
                  <a:srgbClr val="9CA3AF"/>
                </a:solidFill>
                <a:latin typeface="Inter"/>
              </a:rPr>
              <a:t>BEFORE</a:t>
            </a:r>
          </a:p>
          <a:p>
            <a:pPr algn="l"/>
            <a:r>
              <a:rPr lang="en-US" sz="500" dirty="0">
                <a:solidFill>
                  <a:srgbClr val="E5E5E5"/>
                </a:solidFill>
                <a:latin typeface="Inter"/>
              </a:rPr>
              <a:t/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22 PYQs on Globalisation</a:t>
            </a:r>
          </a:p>
          <a:p>
            <a:pPr algn="l"/>
            <a:r>
              <a:rPr lang="en-US" sz="1100" dirty="0">
                <a:solidFill>
                  <a:srgbClr val="E5E5E5"/>
                </a:solidFill>
                <a:latin typeface="Inter"/>
              </a:rPr>
              <a:t>Impact on women</a:t>
            </a:r>
          </a:p>
          <a:p>
            <a:pPr algn="l"/>
            <a:r>
              <a:rPr lang="en-US" sz="1100" dirty="0">
                <a:solidFill>
                  <a:srgbClr val="E5E5E5"/>
                </a:solidFill>
                <a:latin typeface="Inter"/>
              </a:rPr>
              <a:t>Impact on elderly</a:t>
            </a:r>
          </a:p>
          <a:p>
            <a:pPr algn="l"/>
            <a:r>
              <a:rPr lang="en-US" sz="1100" dirty="0">
                <a:solidFill>
                  <a:srgbClr val="E5E5E5"/>
                </a:solidFill>
                <a:latin typeface="Inter"/>
              </a:rPr>
              <a:t>Cultural identity</a:t>
            </a:r>
          </a:p>
          <a:p>
            <a:pPr algn="l"/>
            <a:r>
              <a:rPr lang="en-US" sz="1100" dirty="0">
                <a:solidFill>
                  <a:srgbClr val="E5E5E5"/>
                </a:solidFill>
                <a:latin typeface="Inter"/>
              </a:rPr>
              <a:t>Technology effects</a:t>
            </a:r>
          </a:p>
          <a:p>
            <a:pPr algn="l"/>
            <a:r>
              <a:rPr lang="en-US" sz="1100" dirty="0">
                <a:solidFill>
                  <a:srgbClr val="E5E5E5"/>
                </a:solidFill>
                <a:latin typeface="Inter"/>
              </a:rPr>
              <a:t>Trade dynamics</a:t>
            </a:r>
          </a:p>
          <a:p>
            <a:pPr algn="l"/>
            <a:r>
              <a:rPr lang="en-US" sz="1100" dirty="0">
                <a:solidFill>
                  <a:srgbClr val="9CA3AF"/>
                </a:solidFill>
                <a:latin typeface="Inter"/>
              </a:rPr>
              <a:t>...and 17 more overlaps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3657600" y="3474720"/>
            <a:ext cx="73152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2400" b="1" dirty="0">
                <a:solidFill>
                  <a:srgbClr val="D4A373"/>
                </a:solidFill>
                <a:latin typeface="Inter"/>
              </a:rPr>
              <a:t>--&gt;</a:t>
            </a:r>
          </a:p>
        </p:txBody>
      </p:sp>
      <p:sp>
        <p:nvSpPr>
          <p:cNvPr id="0" name="After"/>
          <p:cNvSpPr/>
          <p:nvPr/>
        </p:nvSpPr>
        <p:spPr>
          <a:xfrm>
            <a:off x="4389120" y="2651760"/>
            <a:ext cx="2743200" cy="228600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7B9E8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4572000" y="2743200"/>
            <a:ext cx="2377440" cy="21031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b="1" dirty="0">
                <a:solidFill>
                  <a:srgbClr val="7B9E89"/>
                </a:solidFill>
                <a:latin typeface="Inter"/>
              </a:rPr>
              <a:t>AFTER</a:t>
            </a:r>
          </a:p>
          <a:p>
            <a:pPr algn="l"/>
            <a:r>
              <a:rPr lang="en-US" sz="500" dirty="0">
                <a:solidFill>
                  <a:srgbClr val="E5E5E5"/>
                </a:solidFill>
                <a:latin typeface="Inter"/>
              </a:rPr>
              <a:t/>
            </a:r>
          </a:p>
          <a:p>
            <a:pPr algn="l"/>
            <a:r>
              <a:rPr lang="en-US" sz="1500" b="1" dirty="0">
                <a:solidFill>
                  <a:srgbClr val="D4A373"/>
                </a:solidFill>
                <a:latin typeface="Inter"/>
              </a:rPr>
              <a:t>9 Real Dimensions</a:t>
            </a:r>
          </a:p>
          <a:p>
            <a:pPr algn="l"/>
            <a:r>
              <a:rPr lang="en-US" sz="400" dirty="0">
                <a:solidFill>
                  <a:srgbClr val="E5E5E5"/>
                </a:solidFill>
                <a:latin typeface="Inter"/>
              </a:rPr>
              <a:t/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Redundancy removed</a:t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Same content coverage</a:t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1/3 the pages</a:t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3x retrieval speed</a:t>
            </a:r>
          </a:p>
        </p:txBody>
      </p:sp>
      <p:sp>
        <p:nvSpPr>
          <p:cNvPr id="0" name="TipBox"/>
          <p:cNvSpPr/>
          <p:nvPr/>
        </p:nvSpPr>
        <p:spPr>
          <a:xfrm>
            <a:off x="731520" y="5486400"/>
            <a:ext cx="6400800" cy="640080"/>
          </a:xfrm>
          <a:prstGeom prst="roundRect">
            <a:avLst>
              <a:gd name="adj" fmla="val 3000"/>
            </a:avLst>
          </a:prstGeom>
          <a:solidFill>
            <a:srgbClr val="171717"/>
          </a:solidFill>
          <a:ln w="12700">
            <a:solidFill>
              <a:srgbClr val="D4A37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60120" y="5623560"/>
            <a:ext cx="59436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dirty="0">
                <a:solidFill>
                  <a:srgbClr val="D4A373"/>
                </a:solidFill>
                <a:latin typeface="Inter"/>
              </a:rPr>
              <a:t>★ </a:t>
            </a:r>
            <a:r>
              <a:rPr lang="en-US" sz="1400" b="1" dirty="0">
                <a:solidFill>
                  <a:srgbClr val="D4A373"/>
                </a:solidFill>
                <a:latin typeface="Inter"/>
              </a:rPr>
              <a:t>Insider Tip  </a:t>
            </a:r>
            <a:r>
              <a:rPr lang="en-US" sz="1400" dirty="0">
                <a:solidFill>
                  <a:srgbClr val="E5E5E5"/>
                </a:solidFill>
                <a:latin typeface="Inter"/>
              </a:rPr>
              <a:t>UPSC rotates the same 3-4 dimensions in different costumes. Find the costume, ignore the noise.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"/>
          <p:cNvSpPr txBox="1"/>
          <p:nvPr/>
        </p:nvSpPr>
        <p:spPr>
          <a:xfrm>
            <a:off x="731520" y="457200"/>
            <a:ext cx="64008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7B9E89"/>
                </a:solidFill>
                <a:latin typeface="Inter"/>
              </a:rPr>
              <a:t>L A Y E R  3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31520" y="914400"/>
            <a:ext cx="640080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3600" b="1" dirty="0">
                <a:solidFill>
                  <a:srgbClr val="E5E5E5"/>
                </a:solidFill>
                <a:latin typeface="Garamond"/>
              </a:rPr>
              <a:t>Cross-Paper Consolidation</a:t>
            </a:r>
          </a:p>
        </p:txBody>
      </p:sp>
      <p:sp>
        <p:nvSpPr>
          <p:cNvPr id="0" name="Line"/>
          <p:cNvSpPr/>
          <p:nvPr/>
        </p:nvSpPr>
        <p:spPr>
          <a:xfrm>
            <a:off x="731520" y="1691640"/>
            <a:ext cx="2468880" cy="0"/>
          </a:xfrm>
          <a:prstGeom prst="line">
            <a:avLst/>
          </a:prstGeom>
          <a:ln w="12700">
            <a:solidFill>
              <a:srgbClr val="D4A373"/>
            </a:solidFill>
          </a:ln>
        </p:spPr>
      </p:sp>
      <p:sp>
        <p:nvSpPr>
          <p:cNvPr id="0" name="TextBox"/>
          <p:cNvSpPr txBox="1"/>
          <p:nvPr/>
        </p:nvSpPr>
        <p:spPr>
          <a:xfrm>
            <a:off x="731520" y="1920240"/>
            <a:ext cx="64008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dirty="0">
                <a:solidFill>
                  <a:srgbClr val="9CA3AF"/>
                </a:solidFill>
                <a:latin typeface="Inter"/>
              </a:rPr>
              <a:t>One fact. Multiple papers. Maximum marks per unit of knowledge.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2286000" y="2560320"/>
            <a:ext cx="27432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600" b="1" dirty="0">
                <a:solidFill>
                  <a:srgbClr val="D4A373"/>
                </a:solidFill>
                <a:latin typeface="Inter"/>
              </a:rPr>
              <a:t>THEME: Women</a:t>
            </a:r>
          </a:p>
        </p:txBody>
      </p:sp>
      <p:sp>
        <p:nvSpPr>
          <p:cNvPr id="0" name="GS0"/>
          <p:cNvSpPr/>
          <p:nvPr/>
        </p:nvSpPr>
        <p:spPr>
          <a:xfrm>
            <a:off x="731520" y="3200400"/>
            <a:ext cx="1554480" cy="182880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731520" y="3291840"/>
            <a:ext cx="155448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rgbClr val="7B9E89"/>
                </a:solidFill>
                <a:latin typeface="Inter"/>
              </a:rPr>
              <a:t>GS1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822960" y="3749039"/>
            <a:ext cx="137160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50" dirty="0">
                <a:solidFill>
                  <a:srgbClr val="E5E5E5"/>
                </a:solidFill>
                <a:latin typeface="Inter"/>
              </a:rPr>
              <a:t>Society: Status,</a:t>
            </a:r>
          </a:p>
          <a:p>
            <a:pPr algn="ctr"/>
            <a:r>
              <a:rPr lang="en-US" sz="1050" dirty="0">
                <a:solidFill>
                  <a:srgbClr val="E5E5E5"/>
                </a:solidFill>
                <a:latin typeface="Inter"/>
              </a:rPr>
              <a:t>education, workforce</a:t>
            </a:r>
          </a:p>
        </p:txBody>
      </p:sp>
      <p:sp>
        <p:nvSpPr>
          <p:cNvPr id="0" name="GS1"/>
          <p:cNvSpPr/>
          <p:nvPr/>
        </p:nvSpPr>
        <p:spPr>
          <a:xfrm>
            <a:off x="2423160" y="3200400"/>
            <a:ext cx="1554480" cy="182880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2423160" y="3291840"/>
            <a:ext cx="155448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rgbClr val="7B9E89"/>
                </a:solidFill>
                <a:latin typeface="Inter"/>
              </a:rPr>
              <a:t>GS2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2514600" y="3749039"/>
            <a:ext cx="137160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50" dirty="0">
                <a:solidFill>
                  <a:srgbClr val="E5E5E5"/>
                </a:solidFill>
                <a:latin typeface="Inter"/>
              </a:rPr>
              <a:t>Governance: SHGs,</a:t>
            </a:r>
          </a:p>
          <a:p>
            <a:pPr algn="ctr"/>
            <a:r>
              <a:rPr lang="en-US" sz="1050" dirty="0">
                <a:solidFill>
                  <a:srgbClr val="E5E5E5"/>
                </a:solidFill>
                <a:latin typeface="Inter"/>
              </a:rPr>
              <a:t>policies, rights</a:t>
            </a:r>
          </a:p>
        </p:txBody>
      </p:sp>
      <p:sp>
        <p:nvSpPr>
          <p:cNvPr id="0" name="GS2"/>
          <p:cNvSpPr/>
          <p:nvPr/>
        </p:nvSpPr>
        <p:spPr>
          <a:xfrm>
            <a:off x="4114800" y="3200400"/>
            <a:ext cx="1554480" cy="182880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4114800" y="3291840"/>
            <a:ext cx="155448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rgbClr val="7B9E89"/>
                </a:solidFill>
                <a:latin typeface="Inter"/>
              </a:rPr>
              <a:t>GS3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4206240" y="3749039"/>
            <a:ext cx="137160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50" dirty="0">
                <a:solidFill>
                  <a:srgbClr val="E5E5E5"/>
                </a:solidFill>
                <a:latin typeface="Inter"/>
              </a:rPr>
              <a:t>Economy: Labour</a:t>
            </a:r>
          </a:p>
          <a:p>
            <a:pPr algn="ctr"/>
            <a:r>
              <a:rPr lang="en-US" sz="1050" dirty="0">
                <a:solidFill>
                  <a:srgbClr val="E5E5E5"/>
                </a:solidFill>
                <a:latin typeface="Inter"/>
              </a:rPr>
              <a:t>participation, MUDRA</a:t>
            </a:r>
          </a:p>
        </p:txBody>
      </p:sp>
      <p:sp>
        <p:nvSpPr>
          <p:cNvPr id="0" name="GS3"/>
          <p:cNvSpPr/>
          <p:nvPr/>
        </p:nvSpPr>
        <p:spPr>
          <a:xfrm>
            <a:off x="5806440" y="3200400"/>
            <a:ext cx="1554480" cy="182880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5806440" y="3291840"/>
            <a:ext cx="155448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rgbClr val="7B9E89"/>
                </a:solidFill>
                <a:latin typeface="Inter"/>
              </a:rPr>
              <a:t>GS4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897880" y="3749039"/>
            <a:ext cx="137160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50" dirty="0">
                <a:solidFill>
                  <a:srgbClr val="E5E5E5"/>
                </a:solidFill>
                <a:latin typeface="Inter"/>
              </a:rPr>
              <a:t>Ethics: Feminist</a:t>
            </a:r>
          </a:p>
          <a:p>
            <a:pPr algn="ctr"/>
            <a:r>
              <a:rPr lang="en-US" sz="1050" dirty="0">
                <a:solidFill>
                  <a:srgbClr val="E5E5E5"/>
                </a:solidFill>
                <a:latin typeface="Inter"/>
              </a:rPr>
              <a:t>ethics, case studies</a:t>
            </a:r>
          </a:p>
        </p:txBody>
      </p:sp>
      <p:sp>
        <p:nvSpPr>
          <p:cNvPr id="0" name="Principle"/>
          <p:cNvSpPr/>
          <p:nvPr/>
        </p:nvSpPr>
        <p:spPr>
          <a:xfrm>
            <a:off x="731520" y="5303520"/>
            <a:ext cx="6400800" cy="64008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14400" y="5394960"/>
            <a:ext cx="603504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D4A373"/>
                </a:solidFill>
                <a:latin typeface="Inter"/>
              </a:rPr>
              <a:t>Principle: </a:t>
            </a:r>
            <a:r>
              <a:rPr lang="en-US" sz="1400" dirty="0">
                <a:solidFill>
                  <a:srgbClr val="E5E5E5"/>
                </a:solidFill>
                <a:latin typeface="Inter"/>
              </a:rPr>
              <a:t>Content is limited; application is unlimited.</a:t>
            </a:r>
          </a:p>
        </p:txBody>
      </p:sp>
      <p:sp>
        <p:nvSpPr>
          <p:cNvPr id="0" name="TipBox"/>
          <p:cNvSpPr/>
          <p:nvPr/>
        </p:nvSpPr>
        <p:spPr>
          <a:xfrm>
            <a:off x="731520" y="6126480"/>
            <a:ext cx="6400800" cy="502920"/>
          </a:xfrm>
          <a:prstGeom prst="roundRect">
            <a:avLst>
              <a:gd name="adj" fmla="val 3000"/>
            </a:avLst>
          </a:prstGeom>
          <a:solidFill>
            <a:srgbClr val="171717"/>
          </a:solidFill>
          <a:ln w="12700">
            <a:solidFill>
              <a:srgbClr val="D4A37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60120" y="6263640"/>
            <a:ext cx="5943600" cy="2286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dirty="0">
                <a:solidFill>
                  <a:srgbClr val="D4A373"/>
                </a:solidFill>
                <a:latin typeface="Inter"/>
              </a:rPr>
              <a:t>★ </a:t>
            </a:r>
            <a:r>
              <a:rPr lang="en-US" sz="1400" b="1" dirty="0">
                <a:solidFill>
                  <a:srgbClr val="D4A373"/>
                </a:solidFill>
                <a:latin typeface="Inter"/>
              </a:rPr>
              <a:t>Insider Tip  </a:t>
            </a:r>
            <a:r>
              <a:rPr lang="en-US" sz="1400" dirty="0">
                <a:solidFill>
                  <a:srgbClr val="E5E5E5"/>
                </a:solidFill>
                <a:latin typeface="Inter"/>
              </a:rPr>
              <a:t>Ask for every fact: 'Where else could this live?' — one habit that shrinks total load.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"/>
          <p:cNvSpPr txBox="1"/>
          <p:nvPr/>
        </p:nvSpPr>
        <p:spPr>
          <a:xfrm>
            <a:off x="731520" y="457200"/>
            <a:ext cx="64008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7B9E89"/>
                </a:solidFill>
                <a:latin typeface="Inter"/>
              </a:rPr>
              <a:t>L A Y E R  4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31520" y="914400"/>
            <a:ext cx="640080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4000" b="1" dirty="0">
                <a:solidFill>
                  <a:srgbClr val="E5E5E5"/>
                </a:solidFill>
                <a:latin typeface="Garamond"/>
              </a:rPr>
              <a:t>Periodic Enrichment</a:t>
            </a:r>
          </a:p>
        </p:txBody>
      </p:sp>
      <p:sp>
        <p:nvSpPr>
          <p:cNvPr id="0" name="Line"/>
          <p:cNvSpPr/>
          <p:nvPr/>
        </p:nvSpPr>
        <p:spPr>
          <a:xfrm>
            <a:off x="731520" y="1737360"/>
            <a:ext cx="2468880" cy="0"/>
          </a:xfrm>
          <a:prstGeom prst="line">
            <a:avLst/>
          </a:prstGeom>
          <a:ln w="12700">
            <a:solidFill>
              <a:srgbClr val="D4A373"/>
            </a:solidFill>
          </a:ln>
        </p:spPr>
      </p:sp>
      <p:sp>
        <p:nvSpPr>
          <p:cNvPr id="0" name="TextBox"/>
          <p:cNvSpPr txBox="1"/>
          <p:nvPr/>
        </p:nvSpPr>
        <p:spPr>
          <a:xfrm>
            <a:off x="731520" y="2011680"/>
            <a:ext cx="64008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dirty="0">
                <a:solidFill>
                  <a:srgbClr val="9CA3AF"/>
                </a:solidFill>
                <a:latin typeface="Inter"/>
              </a:rPr>
              <a:t>Fold new content into existing structure. Never start a separate pile.</a:t>
            </a:r>
          </a:p>
        </p:txBody>
      </p:sp>
      <p:sp>
        <p:nvSpPr>
          <p:cNvPr id="0" name="Stage0"/>
          <p:cNvSpPr/>
          <p:nvPr/>
        </p:nvSpPr>
        <p:spPr>
          <a:xfrm>
            <a:off x="731520" y="2743200"/>
            <a:ext cx="2011680" cy="201168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731520" y="2880360"/>
            <a:ext cx="201168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rgbClr val="D4A373"/>
                </a:solidFill>
                <a:latin typeface="Inter"/>
              </a:rPr>
              <a:t>Month 1-3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868680" y="3383280"/>
            <a:ext cx="173736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dirty="0">
                <a:solidFill>
                  <a:srgbClr val="E5E5E5"/>
                </a:solidFill>
                <a:latin typeface="Inter"/>
              </a:rPr>
              <a:t>Build base structure</a:t>
            </a:r>
          </a:p>
          <a:p>
            <a:pPr algn="ctr"/>
            <a:r>
              <a:rPr lang="en-US" sz="1200" dirty="0">
                <a:solidFill>
                  <a:srgbClr val="E5E5E5"/>
                </a:solidFill>
                <a:latin typeface="Inter"/>
              </a:rPr>
              <a:t>from syllabus + PYQs</a:t>
            </a:r>
          </a:p>
        </p:txBody>
      </p:sp>
      <p:sp>
        <p:nvSpPr>
          <p:cNvPr id="0" name="Stage1"/>
          <p:cNvSpPr/>
          <p:nvPr/>
        </p:nvSpPr>
        <p:spPr>
          <a:xfrm>
            <a:off x="3017520" y="2743200"/>
            <a:ext cx="2011680" cy="201168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3017520" y="2880360"/>
            <a:ext cx="201168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rgbClr val="D4A373"/>
                </a:solidFill>
                <a:latin typeface="Inter"/>
              </a:rPr>
              <a:t>Month 4-8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3154680" y="3383280"/>
            <a:ext cx="173736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dirty="0">
                <a:solidFill>
                  <a:srgbClr val="E5E5E5"/>
                </a:solidFill>
                <a:latin typeface="Inter"/>
              </a:rPr>
              <a:t>Fold current affairs</a:t>
            </a:r>
          </a:p>
          <a:p>
            <a:pPr algn="ctr"/>
            <a:r>
              <a:rPr lang="en-US" sz="1200" dirty="0">
                <a:solidFill>
                  <a:srgbClr val="E5E5E5"/>
                </a:solidFill>
                <a:latin typeface="Inter"/>
              </a:rPr>
              <a:t>into existing themes</a:t>
            </a:r>
          </a:p>
        </p:txBody>
      </p:sp>
      <p:sp>
        <p:nvSpPr>
          <p:cNvPr id="0" name="Stage2"/>
          <p:cNvSpPr/>
          <p:nvPr/>
        </p:nvSpPr>
        <p:spPr>
          <a:xfrm>
            <a:off x="5303520" y="2743200"/>
            <a:ext cx="2011680" cy="201168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5303520" y="2880360"/>
            <a:ext cx="201168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rgbClr val="D4A373"/>
                </a:solidFill>
                <a:latin typeface="Inter"/>
              </a:rPr>
              <a:t>Month 9-12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440680" y="3383280"/>
            <a:ext cx="173736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dirty="0">
                <a:solidFill>
                  <a:srgbClr val="E5E5E5"/>
                </a:solidFill>
                <a:latin typeface="Inter"/>
              </a:rPr>
              <a:t>Final enrichment +</a:t>
            </a:r>
          </a:p>
          <a:p>
            <a:pPr algn="ctr"/>
            <a:r>
              <a:rPr lang="en-US" sz="1200" dirty="0">
                <a:solidFill>
                  <a:srgbClr val="E5E5E5"/>
                </a:solidFill>
                <a:latin typeface="Inter"/>
              </a:rPr>
              <a:t>revision-ready polish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2834640" y="3566160"/>
            <a:ext cx="4572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600" b="1" dirty="0">
                <a:solidFill>
                  <a:srgbClr val="D4A373"/>
                </a:solidFill>
                <a:latin typeface="Inter"/>
              </a:rPr>
              <a:t>--&gt;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5120640" y="3566160"/>
            <a:ext cx="4572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600" b="1" dirty="0">
                <a:solidFill>
                  <a:srgbClr val="D4A373"/>
                </a:solidFill>
                <a:latin typeface="Inter"/>
              </a:rPr>
              <a:t>--&gt;</a:t>
            </a:r>
          </a:p>
        </p:txBody>
      </p:sp>
      <p:sp>
        <p:nvSpPr>
          <p:cNvPr id="0" name="Rule"/>
          <p:cNvSpPr/>
          <p:nvPr/>
        </p:nvSpPr>
        <p:spPr>
          <a:xfrm>
            <a:off x="731520" y="5029200"/>
            <a:ext cx="6400800" cy="64008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D4A37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14400" y="5120640"/>
            <a:ext cx="603504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D4A373"/>
                </a:solidFill>
                <a:latin typeface="Inter"/>
              </a:rPr>
              <a:t>Rule: </a:t>
            </a:r>
            <a:r>
              <a:rPr lang="en-US" sz="1400" dirty="0">
                <a:solidFill>
                  <a:srgbClr val="E5E5E5"/>
                </a:solidFill>
                <a:latin typeface="Inter"/>
              </a:rPr>
              <a:t>New information has an obvious home the moment you find it.</a:t>
            </a:r>
          </a:p>
        </p:txBody>
      </p:sp>
      <p:sp>
        <p:nvSpPr>
          <p:cNvPr id="0" name="TipBox"/>
          <p:cNvSpPr/>
          <p:nvPr/>
        </p:nvSpPr>
        <p:spPr>
          <a:xfrm>
            <a:off x="731520" y="5943600"/>
            <a:ext cx="6400800" cy="548640"/>
          </a:xfrm>
          <a:prstGeom prst="roundRect">
            <a:avLst>
              <a:gd name="adj" fmla="val 3000"/>
            </a:avLst>
          </a:prstGeom>
          <a:solidFill>
            <a:srgbClr val="171717"/>
          </a:solidFill>
          <a:ln w="12700">
            <a:solidFill>
              <a:srgbClr val="D4A37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60120" y="6080760"/>
            <a:ext cx="594360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dirty="0">
                <a:solidFill>
                  <a:srgbClr val="D4A373"/>
                </a:solidFill>
                <a:latin typeface="Inter"/>
              </a:rPr>
              <a:t>★ </a:t>
            </a:r>
            <a:r>
              <a:rPr lang="en-US" sz="1400" b="1" dirty="0">
                <a:solidFill>
                  <a:srgbClr val="D4A373"/>
                </a:solidFill>
                <a:latin typeface="Inter"/>
              </a:rPr>
              <a:t>Insider Tip  </a:t>
            </a:r>
            <a:r>
              <a:rPr lang="en-US" sz="1400" dirty="0">
                <a:solidFill>
                  <a:srgbClr val="E5E5E5"/>
                </a:solidFill>
                <a:latin typeface="Inter"/>
              </a:rPr>
              <a:t>Structure-first, content-second. The app doesn't save you if the folder logic is chaotic.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"/>
          <p:cNvSpPr txBox="1"/>
          <p:nvPr/>
        </p:nvSpPr>
        <p:spPr>
          <a:xfrm>
            <a:off x="731520" y="457200"/>
            <a:ext cx="64008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7B9E89"/>
                </a:solidFill>
                <a:latin typeface="Inter"/>
              </a:rPr>
              <a:t>L A Y E R  5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31520" y="914400"/>
            <a:ext cx="640080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4000" b="1" dirty="0">
                <a:solidFill>
                  <a:srgbClr val="E5E5E5"/>
                </a:solidFill>
                <a:latin typeface="Garamond"/>
              </a:rPr>
              <a:t>Reflection in Answer</a:t>
            </a:r>
          </a:p>
        </p:txBody>
      </p:sp>
      <p:sp>
        <p:nvSpPr>
          <p:cNvPr id="0" name="Line"/>
          <p:cNvSpPr/>
          <p:nvPr/>
        </p:nvSpPr>
        <p:spPr>
          <a:xfrm>
            <a:off x="731520" y="1737360"/>
            <a:ext cx="2468880" cy="0"/>
          </a:xfrm>
          <a:prstGeom prst="line">
            <a:avLst/>
          </a:prstGeom>
          <a:ln w="12700">
            <a:solidFill>
              <a:srgbClr val="D4A373"/>
            </a:solidFill>
          </a:ln>
        </p:spPr>
      </p:sp>
      <p:sp>
        <p:nvSpPr>
          <p:cNvPr id="0" name="TextBox"/>
          <p:cNvSpPr txBox="1"/>
          <p:nvPr/>
        </p:nvSpPr>
        <p:spPr>
          <a:xfrm>
            <a:off x="731520" y="2011680"/>
            <a:ext cx="64008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D4A373"/>
                </a:solidFill>
                <a:latin typeface="Garamond"/>
              </a:rPr>
              <a:t>Your copy is a mirror of your notes — nothing more, nothing less.</a:t>
            </a:r>
          </a:p>
        </p:txBody>
      </p:sp>
      <p:sp>
        <p:nvSpPr>
          <p:cNvPr id="0" name="NoteCol"/>
          <p:cNvSpPr/>
          <p:nvPr/>
        </p:nvSpPr>
        <p:spPr>
          <a:xfrm>
            <a:off x="731520" y="2743200"/>
            <a:ext cx="2926080" cy="228600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14400" y="2834640"/>
            <a:ext cx="2651760" cy="21031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b="1" dirty="0">
                <a:solidFill>
                  <a:srgbClr val="9CA3AF"/>
                </a:solidFill>
                <a:latin typeface="Inter"/>
              </a:rPr>
              <a:t>YOUR NOTE</a:t>
            </a:r>
          </a:p>
          <a:p>
            <a:pPr algn="l"/>
            <a:r>
              <a:rPr lang="en-US" sz="500" dirty="0">
                <a:solidFill>
                  <a:srgbClr val="E5E5E5"/>
                </a:solidFill>
                <a:latin typeface="Inter"/>
              </a:rPr>
              <a:t/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GHI: 107 (2023)</a:t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India rank: 111/125</a:t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Child wasting: 18.7%</a:t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ICDS + PM Poshan link</a:t>
            </a:r>
          </a:p>
          <a:p>
            <a:pPr algn="l"/>
            <a:r>
              <a:rPr lang="en-US" sz="400" dirty="0">
                <a:solidFill>
                  <a:srgbClr val="E5E5E5"/>
                </a:solidFill>
                <a:latin typeface="Inter"/>
              </a:rPr>
              <a:t/>
            </a:r>
          </a:p>
          <a:p>
            <a:pPr algn="l"/>
            <a:r>
              <a:rPr lang="en-US" sz="1100" dirty="0">
                <a:solidFill>
                  <a:srgbClr val="D4A373"/>
                </a:solidFill>
                <a:latin typeface="Inter"/>
              </a:rPr>
              <a:t>Keyword: nutritional</a:t>
            </a:r>
          </a:p>
          <a:p>
            <a:pPr algn="l"/>
            <a:r>
              <a:rPr lang="en-US" sz="1100" dirty="0">
                <a:solidFill>
                  <a:srgbClr val="D4A373"/>
                </a:solidFill>
                <a:latin typeface="Inter"/>
              </a:rPr>
              <a:t>sovereignty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3749039" y="3657600"/>
            <a:ext cx="54864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2000" b="1" dirty="0">
                <a:solidFill>
                  <a:srgbClr val="D4A373"/>
                </a:solidFill>
                <a:latin typeface="Inter"/>
              </a:rPr>
              <a:t>--&gt;</a:t>
            </a:r>
          </a:p>
        </p:txBody>
      </p:sp>
      <p:sp>
        <p:nvSpPr>
          <p:cNvPr id="0" name="AnsCol"/>
          <p:cNvSpPr/>
          <p:nvPr/>
        </p:nvSpPr>
        <p:spPr>
          <a:xfrm>
            <a:off x="4297680" y="2743200"/>
            <a:ext cx="2926080" cy="228600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7B9E8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4480560" y="2834640"/>
            <a:ext cx="2651760" cy="21031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00" b="1" dirty="0">
                <a:solidFill>
                  <a:srgbClr val="7B9E89"/>
                </a:solidFill>
                <a:latin typeface="Inter"/>
              </a:rPr>
              <a:t>YOUR ANSWER</a:t>
            </a:r>
          </a:p>
          <a:p>
            <a:pPr algn="l"/>
            <a:r>
              <a:rPr lang="en-US" sz="500" dirty="0">
                <a:solidFill>
                  <a:srgbClr val="E5E5E5"/>
                </a:solidFill>
                <a:latin typeface="Inter"/>
              </a:rPr>
              <a:t/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India's GHI score of 107</a:t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(rank 111/125) reveals a</a:t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systemic crisis in nutritional</a:t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sovereignty. With child</a:t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wasting at 18.7%, convergence</a:t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of ICDS and PM Poshan</a:t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remains critical...</a:t>
            </a:r>
          </a:p>
        </p:txBody>
      </p:sp>
      <p:sp>
        <p:nvSpPr>
          <p:cNvPr id="0" name="TipBox"/>
          <p:cNvSpPr/>
          <p:nvPr/>
        </p:nvSpPr>
        <p:spPr>
          <a:xfrm>
            <a:off x="731520" y="5669280"/>
            <a:ext cx="6400800" cy="640080"/>
          </a:xfrm>
          <a:prstGeom prst="roundRect">
            <a:avLst>
              <a:gd name="adj" fmla="val 3000"/>
            </a:avLst>
          </a:prstGeom>
          <a:solidFill>
            <a:srgbClr val="171717"/>
          </a:solidFill>
          <a:ln w="12700">
            <a:solidFill>
              <a:srgbClr val="D4A37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60120" y="5806440"/>
            <a:ext cx="59436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dirty="0">
                <a:solidFill>
                  <a:srgbClr val="D4A373"/>
                </a:solidFill>
                <a:latin typeface="Inter"/>
              </a:rPr>
              <a:t>★ </a:t>
            </a:r>
            <a:r>
              <a:rPr lang="en-US" sz="1400" b="1" dirty="0">
                <a:solidFill>
                  <a:srgbClr val="D4A373"/>
                </a:solidFill>
                <a:latin typeface="Inter"/>
              </a:rPr>
              <a:t>Insider Tip  </a:t>
            </a:r>
            <a:r>
              <a:rPr lang="en-US" sz="1400" dirty="0">
                <a:solidFill>
                  <a:srgbClr val="E5E5E5"/>
                </a:solidFill>
                <a:latin typeface="Inter"/>
              </a:rPr>
              <a:t>Model answers are already in exam-language. Build from them to skip the translation lag.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"/>
          <p:cNvSpPr txBox="1"/>
          <p:nvPr/>
        </p:nvSpPr>
        <p:spPr>
          <a:xfrm>
            <a:off x="731520" y="457200"/>
            <a:ext cx="64008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9CA3AF"/>
                </a:solidFill>
                <a:latin typeface="Inter"/>
              </a:rPr>
              <a:t>S T A T I C  R U L E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31520" y="914400"/>
            <a:ext cx="640080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4400" b="1" dirty="0">
                <a:solidFill>
                  <a:srgbClr val="E5E5E5"/>
                </a:solidFill>
                <a:latin typeface="Garamond"/>
              </a:rPr>
              <a:t>The One-Page Rule</a:t>
            </a:r>
          </a:p>
        </p:txBody>
      </p:sp>
      <p:sp>
        <p:nvSpPr>
          <p:cNvPr id="0" name="Line"/>
          <p:cNvSpPr/>
          <p:nvPr/>
        </p:nvSpPr>
        <p:spPr>
          <a:xfrm>
            <a:off x="731520" y="1737360"/>
            <a:ext cx="2468880" cy="0"/>
          </a:xfrm>
          <a:prstGeom prst="line">
            <a:avLst/>
          </a:prstGeom>
          <a:ln w="12700">
            <a:solidFill>
              <a:srgbClr val="D4A373"/>
            </a:solidFill>
          </a:ln>
        </p:spPr>
      </p:sp>
      <p:sp>
        <p:nvSpPr>
          <p:cNvPr id="0" name="TextBox"/>
          <p:cNvSpPr txBox="1"/>
          <p:nvPr/>
        </p:nvSpPr>
        <p:spPr>
          <a:xfrm>
            <a:off x="2286000" y="2103120"/>
            <a:ext cx="2743200" cy="2286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400" b="1" dirty="0">
                <a:solidFill>
                  <a:srgbClr val="D4A373"/>
                </a:solidFill>
                <a:latin typeface="Garamond"/>
              </a:rPr>
              <a:t>1</a:t>
            </a:r>
          </a:p>
        </p:txBody>
      </p:sp>
      <p:sp>
        <p:nvSpPr>
          <p:cNvPr id="0" name="RuleBox"/>
          <p:cNvSpPr/>
          <p:nvPr/>
        </p:nvSpPr>
        <p:spPr>
          <a:xfrm>
            <a:off x="731520" y="4389120"/>
            <a:ext cx="6400800" cy="109728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14400" y="4480560"/>
            <a:ext cx="603504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600" b="1" dirty="0">
                <a:solidFill>
                  <a:srgbClr val="D4A373"/>
                </a:solidFill>
                <a:latin typeface="Inter"/>
              </a:rPr>
              <a:t>If it doesn't fit on one page, it isn't a note yet.</a:t>
            </a:r>
          </a:p>
          <a:p>
            <a:pPr algn="l"/>
            <a:r>
              <a:rPr lang="en-US" sz="1400" dirty="0">
                <a:solidFill>
                  <a:srgbClr val="9CA3AF"/>
                </a:solidFill>
                <a:latin typeface="Inter"/>
              </a:rPr>
              <a:t>It's still raw material.</a:t>
            </a:r>
          </a:p>
          <a:p>
            <a:pPr algn="l"/>
            <a:r>
              <a:rPr lang="en-US" sz="400" dirty="0">
                <a:solidFill>
                  <a:srgbClr val="E5E5E5"/>
                </a:solidFill>
                <a:latin typeface="Inter"/>
              </a:rPr>
              <a:t/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One page forces demand-deconstruction. You can't cheat your</a:t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way to one page by writing smaller — only by removing overlap.</a:t>
            </a:r>
          </a:p>
        </p:txBody>
      </p:sp>
      <p:sp>
        <p:nvSpPr>
          <p:cNvPr id="0" name="TipBox"/>
          <p:cNvSpPr/>
          <p:nvPr/>
        </p:nvSpPr>
        <p:spPr>
          <a:xfrm>
            <a:off x="731520" y="5760720"/>
            <a:ext cx="6400800" cy="548640"/>
          </a:xfrm>
          <a:prstGeom prst="roundRect">
            <a:avLst>
              <a:gd name="adj" fmla="val 3000"/>
            </a:avLst>
          </a:prstGeom>
          <a:solidFill>
            <a:srgbClr val="171717"/>
          </a:solidFill>
          <a:ln w="12700">
            <a:solidFill>
              <a:srgbClr val="D4A37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60120" y="5897880"/>
            <a:ext cx="594360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dirty="0">
                <a:solidFill>
                  <a:srgbClr val="D4A373"/>
                </a:solidFill>
                <a:latin typeface="Inter"/>
              </a:rPr>
              <a:t>★ </a:t>
            </a:r>
            <a:r>
              <a:rPr lang="en-US" sz="1400" b="1" dirty="0">
                <a:solidFill>
                  <a:srgbClr val="D4A373"/>
                </a:solidFill>
                <a:latin typeface="Inter"/>
              </a:rPr>
              <a:t>Insider Tip  </a:t>
            </a:r>
            <a:r>
              <a:rPr lang="en-US" sz="1400" dirty="0">
                <a:solidFill>
                  <a:srgbClr val="E5E5E5"/>
                </a:solidFill>
                <a:latin typeface="Inter"/>
              </a:rPr>
              <a:t>The one-page constraint is a forcing function, not an arbitrary limit.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"/>
          <p:cNvSpPr txBox="1"/>
          <p:nvPr/>
        </p:nvSpPr>
        <p:spPr>
          <a:xfrm>
            <a:off x="731520" y="457200"/>
            <a:ext cx="64008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9CA3AF"/>
                </a:solidFill>
                <a:latin typeface="Inter"/>
              </a:rPr>
              <a:t>T O O L  S T R A T E G Y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31520" y="914400"/>
            <a:ext cx="640080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4000" b="1" dirty="0">
                <a:solidFill>
                  <a:srgbClr val="E5E5E5"/>
                </a:solidFill>
                <a:latin typeface="Garamond"/>
              </a:rPr>
              <a:t>Digital vs Physical</a:t>
            </a:r>
          </a:p>
        </p:txBody>
      </p:sp>
      <p:sp>
        <p:nvSpPr>
          <p:cNvPr id="0" name="Line"/>
          <p:cNvSpPr/>
          <p:nvPr/>
        </p:nvSpPr>
        <p:spPr>
          <a:xfrm>
            <a:off x="731520" y="1737360"/>
            <a:ext cx="2468880" cy="0"/>
          </a:xfrm>
          <a:prstGeom prst="line">
            <a:avLst/>
          </a:prstGeom>
          <a:ln w="12700">
            <a:solidFill>
              <a:srgbClr val="D4A373"/>
            </a:solidFill>
          </a:ln>
        </p:spPr>
      </p:sp>
      <p:sp>
        <p:nvSpPr>
          <p:cNvPr id="0" name="TextBox"/>
          <p:cNvSpPr txBox="1"/>
          <p:nvPr/>
        </p:nvSpPr>
        <p:spPr>
          <a:xfrm>
            <a:off x="731520" y="2011680"/>
            <a:ext cx="64008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dirty="0">
                <a:solidFill>
                  <a:srgbClr val="9CA3AF"/>
                </a:solidFill>
                <a:latin typeface="Inter"/>
              </a:rPr>
              <a:t>Different content types need different tools.</a:t>
            </a:r>
          </a:p>
        </p:txBody>
      </p:sp>
      <p:sp>
        <p:nvSpPr>
          <p:cNvPr id="0" name="Physical"/>
          <p:cNvSpPr/>
          <p:nvPr/>
        </p:nvSpPr>
        <p:spPr>
          <a:xfrm>
            <a:off x="731520" y="2651760"/>
            <a:ext cx="3017520" cy="274320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D4A37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14400" y="2743200"/>
            <a:ext cx="2743200" cy="25603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300" b="1" dirty="0">
                <a:solidFill>
                  <a:srgbClr val="D4A373"/>
                </a:solidFill>
                <a:latin typeface="Inter"/>
              </a:rPr>
              <a:t>HANDWRITTEN</a:t>
            </a:r>
          </a:p>
          <a:p>
            <a:pPr algn="l"/>
            <a:r>
              <a:rPr lang="en-US" sz="1100" dirty="0">
                <a:solidFill>
                  <a:srgbClr val="9CA3AF"/>
                </a:solidFill>
                <a:latin typeface="Inter"/>
              </a:rPr>
              <a:t>Static Subjects</a:t>
            </a:r>
          </a:p>
          <a:p>
            <a:pPr algn="l"/>
            <a:r>
              <a:rPr lang="en-US" sz="500" dirty="0">
                <a:solidFill>
                  <a:srgbClr val="E5E5E5"/>
                </a:solidFill>
                <a:latin typeface="Inter"/>
              </a:rPr>
              <a:t/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1. History maps + timelines</a:t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2. Polity fundamentals</a:t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3. Geography one-pagers</a:t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4. Ethics case templates</a:t>
            </a:r>
          </a:p>
          <a:p>
            <a:pPr algn="l"/>
            <a:r>
              <a:rPr lang="en-US" sz="400" dirty="0">
                <a:solidFill>
                  <a:srgbClr val="E5E5E5"/>
                </a:solidFill>
                <a:latin typeface="Inter"/>
              </a:rPr>
              <a:t/>
            </a:r>
          </a:p>
          <a:p>
            <a:pPr algn="l"/>
            <a:r>
              <a:rPr lang="en-US" sz="1100" dirty="0">
                <a:solidFill>
                  <a:srgbClr val="7B9E89"/>
                </a:solidFill>
                <a:latin typeface="Inter"/>
              </a:rPr>
              <a:t>Why: Forces pre-processing</a:t>
            </a:r>
          </a:p>
          <a:p>
            <a:pPr algn="l"/>
            <a:r>
              <a:rPr lang="en-US" sz="1100" dirty="0">
                <a:solidFill>
                  <a:srgbClr val="7B9E89"/>
                </a:solidFill>
                <a:latin typeface="Inter"/>
              </a:rPr>
              <a:t>that typing skips entirely.</a:t>
            </a:r>
          </a:p>
        </p:txBody>
      </p:sp>
      <p:sp>
        <p:nvSpPr>
          <p:cNvPr id="0" name="Digital"/>
          <p:cNvSpPr/>
          <p:nvPr/>
        </p:nvSpPr>
        <p:spPr>
          <a:xfrm>
            <a:off x="4023360" y="2651760"/>
            <a:ext cx="3017520" cy="274320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7B9E8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4206240" y="2743200"/>
            <a:ext cx="2743200" cy="25603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300" b="1" dirty="0">
                <a:solidFill>
                  <a:srgbClr val="7B9E89"/>
                </a:solidFill>
                <a:latin typeface="Inter"/>
              </a:rPr>
              <a:t>DIGITAL</a:t>
            </a:r>
          </a:p>
          <a:p>
            <a:pPr algn="l"/>
            <a:r>
              <a:rPr lang="en-US" sz="1100" dirty="0">
                <a:solidFill>
                  <a:srgbClr val="9CA3AF"/>
                </a:solidFill>
                <a:latin typeface="Inter"/>
              </a:rPr>
              <a:t>Current Affairs</a:t>
            </a:r>
          </a:p>
          <a:p>
            <a:pPr algn="l"/>
            <a:r>
              <a:rPr lang="en-US" sz="500" dirty="0">
                <a:solidFill>
                  <a:srgbClr val="E5E5E5"/>
                </a:solidFill>
                <a:latin typeface="Inter"/>
              </a:rPr>
              <a:t/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1. Screenshot key data</a:t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2. Tag by GS paper + theme</a:t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3. Update as events evolve</a:t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4. Search instantly</a:t>
            </a:r>
          </a:p>
          <a:p>
            <a:pPr algn="l"/>
            <a:r>
              <a:rPr lang="en-US" sz="400" dirty="0">
                <a:solidFill>
                  <a:srgbClr val="E5E5E5"/>
                </a:solidFill>
                <a:latin typeface="Inter"/>
              </a:rPr>
              <a:t/>
            </a:r>
          </a:p>
          <a:p>
            <a:pPr algn="l"/>
            <a:r>
              <a:rPr lang="en-US" sz="1100" dirty="0">
                <a:solidFill>
                  <a:srgbClr val="D4A373"/>
                </a:solidFill>
                <a:latin typeface="Inter"/>
              </a:rPr>
              <a:t>Why: Fastest-decaying content</a:t>
            </a:r>
          </a:p>
          <a:p>
            <a:pPr algn="l"/>
            <a:r>
              <a:rPr lang="en-US" sz="1100" dirty="0">
                <a:solidFill>
                  <a:srgbClr val="D4A373"/>
                </a:solidFill>
                <a:latin typeface="Inter"/>
              </a:rPr>
              <a:t>needs fastest tool.</a:t>
            </a:r>
          </a:p>
        </p:txBody>
      </p:sp>
      <p:sp>
        <p:nvSpPr>
          <p:cNvPr id="0" name="TipBox"/>
          <p:cNvSpPr/>
          <p:nvPr/>
        </p:nvSpPr>
        <p:spPr>
          <a:xfrm>
            <a:off x="731520" y="5760720"/>
            <a:ext cx="6400800" cy="548640"/>
          </a:xfrm>
          <a:prstGeom prst="roundRect">
            <a:avLst>
              <a:gd name="adj" fmla="val 3000"/>
            </a:avLst>
          </a:prstGeom>
          <a:solidFill>
            <a:srgbClr val="171717"/>
          </a:solidFill>
          <a:ln w="12700">
            <a:solidFill>
              <a:srgbClr val="D4A37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60120" y="5897880"/>
            <a:ext cx="594360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dirty="0">
                <a:solidFill>
                  <a:srgbClr val="D4A373"/>
                </a:solidFill>
                <a:latin typeface="Inter"/>
              </a:rPr>
              <a:t>★ </a:t>
            </a:r>
            <a:r>
              <a:rPr lang="en-US" sz="1400" b="1" dirty="0">
                <a:solidFill>
                  <a:srgbClr val="D4A373"/>
                </a:solidFill>
                <a:latin typeface="Inter"/>
              </a:rPr>
              <a:t>Insider Tip  </a:t>
            </a:r>
            <a:r>
              <a:rPr lang="en-US" sz="1400" dirty="0">
                <a:solidFill>
                  <a:srgbClr val="E5E5E5"/>
                </a:solidFill>
                <a:latin typeface="Inter"/>
              </a:rPr>
              <a:t>Hand-copying current affairs = using your slowest tool on your fastest-decaying content.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"/>
          <p:cNvSpPr txBox="1"/>
          <p:nvPr/>
        </p:nvSpPr>
        <p:spPr>
          <a:xfrm>
            <a:off x="731520" y="457200"/>
            <a:ext cx="64008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9CA3AF"/>
                </a:solidFill>
                <a:latin typeface="Inter"/>
              </a:rPr>
              <a:t>T H E  A I  E D G E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31520" y="914400"/>
            <a:ext cx="640080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4000" b="1" dirty="0">
                <a:solidFill>
                  <a:srgbClr val="E5E5E5"/>
                </a:solidFill>
                <a:latin typeface="Garamond"/>
              </a:rPr>
              <a:t>AI's Two Jobs</a:t>
            </a:r>
          </a:p>
        </p:txBody>
      </p:sp>
      <p:sp>
        <p:nvSpPr>
          <p:cNvPr id="0" name="Line"/>
          <p:cNvSpPr/>
          <p:nvPr/>
        </p:nvSpPr>
        <p:spPr>
          <a:xfrm>
            <a:off x="731520" y="1737360"/>
            <a:ext cx="2468880" cy="0"/>
          </a:xfrm>
          <a:prstGeom prst="line">
            <a:avLst/>
          </a:prstGeom>
          <a:ln w="12700">
            <a:solidFill>
              <a:srgbClr val="D4A373"/>
            </a:solidFill>
          </a:ln>
        </p:spPr>
      </p:sp>
      <p:sp>
        <p:nvSpPr>
          <p:cNvPr id="0" name="TextBox"/>
          <p:cNvSpPr txBox="1"/>
          <p:nvPr/>
        </p:nvSpPr>
        <p:spPr>
          <a:xfrm>
            <a:off x="731520" y="2011680"/>
            <a:ext cx="64008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dirty="0">
                <a:solidFill>
                  <a:srgbClr val="9CA3AF"/>
                </a:solidFill>
                <a:latin typeface="Inter"/>
              </a:rPr>
              <a:t>Velocity on pattern-recognition. Not a replacement for judgment.</a:t>
            </a:r>
          </a:p>
        </p:txBody>
      </p:sp>
      <p:sp>
        <p:nvSpPr>
          <p:cNvPr id="0" name="AI1"/>
          <p:cNvSpPr/>
          <p:nvPr/>
        </p:nvSpPr>
        <p:spPr>
          <a:xfrm>
            <a:off x="731520" y="2743200"/>
            <a:ext cx="3017520" cy="228600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731520" y="2834640"/>
            <a:ext cx="301752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3200" b="1" dirty="0">
                <a:solidFill>
                  <a:srgbClr val="D4A373"/>
                </a:solidFill>
                <a:latin typeface="Garamond"/>
              </a:rPr>
              <a:t>1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914400" y="3474720"/>
            <a:ext cx="2743200" cy="13716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rgbClr val="D4A373"/>
                </a:solidFill>
                <a:latin typeface="Inter"/>
              </a:rPr>
              <a:t>Cluster PYQs Into Themes</a:t>
            </a:r>
          </a:p>
          <a:p>
            <a:pPr algn="ctr"/>
            <a:r>
              <a:rPr lang="en-US" sz="400" dirty="0">
                <a:solidFill>
                  <a:srgbClr val="E5E5E5"/>
                </a:solidFill>
                <a:latin typeface="Inter"/>
              </a:rPr>
              <a:t/>
            </a:r>
          </a:p>
          <a:p>
            <a:pPr algn="ctr"/>
            <a:r>
              <a:rPr lang="en-US" sz="1200" dirty="0">
                <a:solidFill>
                  <a:srgbClr val="E5E5E5"/>
                </a:solidFill>
                <a:latin typeface="Inter"/>
              </a:rPr>
              <a:t>Feed it a decade of PYQs.</a:t>
            </a:r>
          </a:p>
          <a:p>
            <a:pPr algn="ctr"/>
            <a:r>
              <a:rPr lang="en-US" sz="1200" dirty="0">
                <a:solidFill>
                  <a:srgbClr val="E5E5E5"/>
                </a:solidFill>
                <a:latin typeface="Inter"/>
              </a:rPr>
              <a:t>It finds recurring patterns</a:t>
            </a:r>
          </a:p>
          <a:p>
            <a:pPr algn="ctr"/>
            <a:r>
              <a:rPr lang="en-US" sz="1200" dirty="0">
                <a:solidFill>
                  <a:srgbClr val="E5E5E5"/>
                </a:solidFill>
                <a:latin typeface="Inter"/>
              </a:rPr>
              <a:t>in minutes that would take</a:t>
            </a:r>
          </a:p>
          <a:p>
            <a:pPr algn="ctr"/>
            <a:r>
              <a:rPr lang="en-US" sz="1200" dirty="0">
                <a:solidFill>
                  <a:srgbClr val="E5E5E5"/>
                </a:solidFill>
                <a:latin typeface="Inter"/>
              </a:rPr>
              <a:t>a weekend of manual work.</a:t>
            </a:r>
          </a:p>
        </p:txBody>
      </p:sp>
      <p:sp>
        <p:nvSpPr>
          <p:cNvPr id="0" name="AI2"/>
          <p:cNvSpPr/>
          <p:nvPr/>
        </p:nvSpPr>
        <p:spPr>
          <a:xfrm>
            <a:off x="4023360" y="2743200"/>
            <a:ext cx="3017520" cy="228600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4023360" y="2834640"/>
            <a:ext cx="301752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3200" b="1" dirty="0">
                <a:solidFill>
                  <a:srgbClr val="D4A373"/>
                </a:solidFill>
                <a:latin typeface="Garamond"/>
              </a:rPr>
              <a:t>2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4206240" y="3474720"/>
            <a:ext cx="2743200" cy="13716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rgbClr val="D4A373"/>
                </a:solidFill>
                <a:latin typeface="Inter"/>
              </a:rPr>
              <a:t>Draft Practice Case Studies</a:t>
            </a:r>
          </a:p>
          <a:p>
            <a:pPr algn="ctr"/>
            <a:r>
              <a:rPr lang="en-US" sz="400" dirty="0">
                <a:solidFill>
                  <a:srgbClr val="E5E5E5"/>
                </a:solidFill>
                <a:latin typeface="Inter"/>
              </a:rPr>
              <a:t/>
            </a:r>
          </a:p>
          <a:p>
            <a:pPr algn="ctr"/>
            <a:r>
              <a:rPr lang="en-US" sz="1200" dirty="0">
                <a:solidFill>
                  <a:srgbClr val="E5E5E5"/>
                </a:solidFill>
                <a:latin typeface="Inter"/>
              </a:rPr>
              <a:t>Generate ethics dilemmas</a:t>
            </a:r>
          </a:p>
          <a:p>
            <a:pPr algn="ctr"/>
            <a:r>
              <a:rPr lang="en-US" sz="1200" dirty="0">
                <a:solidFill>
                  <a:srgbClr val="E5E5E5"/>
                </a:solidFill>
                <a:latin typeface="Inter"/>
              </a:rPr>
              <a:t>around a keyword. Select</a:t>
            </a:r>
          </a:p>
          <a:p>
            <a:pPr algn="ctr"/>
            <a:r>
              <a:rPr lang="en-US" sz="1200" dirty="0">
                <a:solidFill>
                  <a:srgbClr val="E5E5E5"/>
                </a:solidFill>
                <a:latin typeface="Inter"/>
              </a:rPr>
              <a:t>and refine the 5-6 that</a:t>
            </a:r>
          </a:p>
          <a:p>
            <a:pPr algn="ctr"/>
            <a:r>
              <a:rPr lang="en-US" sz="1200" dirty="0">
                <a:solidFill>
                  <a:srgbClr val="E5E5E5"/>
                </a:solidFill>
                <a:latin typeface="Inter"/>
              </a:rPr>
              <a:t>fit your answer templates.</a:t>
            </a:r>
          </a:p>
        </p:txBody>
      </p:sp>
      <p:sp>
        <p:nvSpPr>
          <p:cNvPr id="0" name="Warn"/>
          <p:cNvSpPr/>
          <p:nvPr/>
        </p:nvSpPr>
        <p:spPr>
          <a:xfrm>
            <a:off x="731520" y="5303520"/>
            <a:ext cx="6400800" cy="45720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14400" y="5349240"/>
            <a:ext cx="603504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dirty="0">
                <a:solidFill>
                  <a:srgbClr val="E5E5E5"/>
                </a:solidFill>
                <a:latin typeface="Inter"/>
              </a:rPr>
              <a:t>AI removes the tedious first pass. Your judgment decides what stays.</a:t>
            </a:r>
          </a:p>
        </p:txBody>
      </p:sp>
      <p:sp>
        <p:nvSpPr>
          <p:cNvPr id="0" name="TipBox"/>
          <p:cNvSpPr/>
          <p:nvPr/>
        </p:nvSpPr>
        <p:spPr>
          <a:xfrm>
            <a:off x="731520" y="5943600"/>
            <a:ext cx="6400800" cy="502920"/>
          </a:xfrm>
          <a:prstGeom prst="roundRect">
            <a:avLst>
              <a:gd name="adj" fmla="val 3000"/>
            </a:avLst>
          </a:prstGeom>
          <a:solidFill>
            <a:srgbClr val="171717"/>
          </a:solidFill>
          <a:ln w="12700">
            <a:solidFill>
              <a:srgbClr val="D4A37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60120" y="6080760"/>
            <a:ext cx="5943600" cy="2286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dirty="0">
                <a:solidFill>
                  <a:srgbClr val="D4A373"/>
                </a:solidFill>
                <a:latin typeface="Inter"/>
              </a:rPr>
              <a:t>★ </a:t>
            </a:r>
            <a:r>
              <a:rPr lang="en-US" sz="1400" b="1" dirty="0">
                <a:solidFill>
                  <a:srgbClr val="D4A373"/>
                </a:solidFill>
                <a:latin typeface="Inter"/>
              </a:rPr>
              <a:t>Insider Tip  </a:t>
            </a:r>
            <a:r>
              <a:rPr lang="en-US" sz="1400" dirty="0">
                <a:solidFill>
                  <a:srgbClr val="E5E5E5"/>
                </a:solidFill>
                <a:latin typeface="Inter"/>
              </a:rPr>
              <a:t>Human-in-the-loop always. AI accelerates — it does not replace thinking.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"/>
          <p:cNvSpPr txBox="1"/>
          <p:nvPr/>
        </p:nvSpPr>
        <p:spPr>
          <a:xfrm>
            <a:off x="731520" y="457200"/>
            <a:ext cx="64008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9CA3AF"/>
                </a:solidFill>
                <a:latin typeface="Inter"/>
              </a:rPr>
              <a:t>T A C T I C A L  S P L I T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31520" y="914400"/>
            <a:ext cx="640080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4000" b="1" dirty="0">
                <a:solidFill>
                  <a:srgbClr val="E5E5E5"/>
                </a:solidFill>
                <a:latin typeface="Garamond"/>
              </a:rPr>
              <a:t>Mains vs Prelims</a:t>
            </a:r>
          </a:p>
        </p:txBody>
      </p:sp>
      <p:sp>
        <p:nvSpPr>
          <p:cNvPr id="0" name="Line"/>
          <p:cNvSpPr/>
          <p:nvPr/>
        </p:nvSpPr>
        <p:spPr>
          <a:xfrm>
            <a:off x="731520" y="1737360"/>
            <a:ext cx="2468880" cy="0"/>
          </a:xfrm>
          <a:prstGeom prst="line">
            <a:avLst/>
          </a:prstGeom>
          <a:ln w="12700">
            <a:solidFill>
              <a:srgbClr val="D4A373"/>
            </a:solidFill>
          </a:ln>
        </p:spPr>
      </p:sp>
      <p:sp>
        <p:nvSpPr>
          <p:cNvPr id="0" name="TextBox"/>
          <p:cNvSpPr txBox="1"/>
          <p:nvPr/>
        </p:nvSpPr>
        <p:spPr>
          <a:xfrm>
            <a:off x="731520" y="1965960"/>
            <a:ext cx="64008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dirty="0">
                <a:solidFill>
                  <a:srgbClr val="9CA3AF"/>
                </a:solidFill>
                <a:latin typeface="Inter"/>
              </a:rPr>
              <a:t>Same notes. Two different deployment modes.</a:t>
            </a:r>
          </a:p>
        </p:txBody>
      </p:sp>
      <p:sp>
        <p:nvSpPr>
          <p:cNvPr id="0" name="Mains"/>
          <p:cNvSpPr/>
          <p:nvPr/>
        </p:nvSpPr>
        <p:spPr>
          <a:xfrm>
            <a:off x="731520" y="2560320"/>
            <a:ext cx="3017520" cy="292608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D4A37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14400" y="2651760"/>
            <a:ext cx="2743200" cy="2743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D4A373"/>
                </a:solidFill>
                <a:latin typeface="Inter"/>
              </a:rPr>
              <a:t>MAINS</a:t>
            </a:r>
          </a:p>
          <a:p>
            <a:pPr algn="l"/>
            <a:r>
              <a:rPr lang="en-US" sz="1100" dirty="0">
                <a:solidFill>
                  <a:srgbClr val="9CA3AF"/>
                </a:solidFill>
                <a:latin typeface="Inter"/>
              </a:rPr>
              <a:t>Argument Synthesis</a:t>
            </a:r>
          </a:p>
          <a:p>
            <a:pPr algn="l"/>
            <a:r>
              <a:rPr lang="en-US" sz="500" dirty="0">
                <a:solidFill>
                  <a:srgbClr val="E5E5E5"/>
                </a:solidFill>
                <a:latin typeface="Inter"/>
              </a:rPr>
              <a:t/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1. 250-word ceiling constraint</a:t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2. Sub-150 words per dimension</a:t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3. Intro-Body-Conclusion pre-built</a:t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4. Skeleton reusable across topics</a:t>
            </a:r>
          </a:p>
          <a:p>
            <a:pPr algn="l"/>
            <a:r>
              <a:rPr lang="en-US" sz="400" dirty="0">
                <a:solidFill>
                  <a:srgbClr val="E5E5E5"/>
                </a:solidFill>
                <a:latin typeface="Inter"/>
              </a:rPr>
              <a:t/>
            </a:r>
          </a:p>
          <a:p>
            <a:pPr algn="l"/>
            <a:r>
              <a:rPr lang="en-US" sz="1100" dirty="0">
                <a:solidFill>
                  <a:srgbClr val="7B9E89"/>
                </a:solidFill>
                <a:latin typeface="Inter"/>
              </a:rPr>
              <a:t>Goal: Reproduce structured</a:t>
            </a:r>
          </a:p>
          <a:p>
            <a:pPr algn="l"/>
            <a:r>
              <a:rPr lang="en-US" sz="1100" dirty="0">
                <a:solidFill>
                  <a:srgbClr val="7B9E89"/>
                </a:solidFill>
                <a:latin typeface="Inter"/>
              </a:rPr>
              <a:t>argument from one-page note</a:t>
            </a:r>
          </a:p>
          <a:p>
            <a:pPr algn="l"/>
            <a:r>
              <a:rPr lang="en-US" sz="1100" dirty="0">
                <a:solidFill>
                  <a:srgbClr val="7B9E89"/>
                </a:solidFill>
                <a:latin typeface="Inter"/>
              </a:rPr>
              <a:t>in under 7 minutes.</a:t>
            </a:r>
          </a:p>
        </p:txBody>
      </p:sp>
      <p:sp>
        <p:nvSpPr>
          <p:cNvPr id="0" name="Prelims"/>
          <p:cNvSpPr/>
          <p:nvPr/>
        </p:nvSpPr>
        <p:spPr>
          <a:xfrm>
            <a:off x="4023360" y="2560320"/>
            <a:ext cx="3017520" cy="292608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7B9E8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4206240" y="2651760"/>
            <a:ext cx="2743200" cy="2743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7B9E89"/>
                </a:solidFill>
                <a:latin typeface="Inter"/>
              </a:rPr>
              <a:t>PRELIMS</a:t>
            </a:r>
          </a:p>
          <a:p>
            <a:pPr algn="l"/>
            <a:r>
              <a:rPr lang="en-US" sz="1100" dirty="0">
                <a:solidFill>
                  <a:srgbClr val="9CA3AF"/>
                </a:solidFill>
                <a:latin typeface="Inter"/>
              </a:rPr>
              <a:t>Fact Recall + Clarity</a:t>
            </a:r>
          </a:p>
          <a:p>
            <a:pPr algn="l"/>
            <a:r>
              <a:rPr lang="en-US" sz="500" dirty="0">
                <a:solidFill>
                  <a:srgbClr val="E5E5E5"/>
                </a:solidFill>
                <a:latin typeface="Inter"/>
              </a:rPr>
              <a:t/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1. Pure fact-retention</a:t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2. Conceptual clarity</a:t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3. Recognition speed</a:t>
            </a:r>
          </a:p>
          <a:p>
            <a:pPr algn="l"/>
            <a:r>
              <a:rPr lang="en-US" sz="1200" dirty="0">
                <a:solidFill>
                  <a:srgbClr val="E5E5E5"/>
                </a:solidFill>
                <a:latin typeface="Inter"/>
              </a:rPr>
              <a:t>4. Same map, dual payoff</a:t>
            </a:r>
          </a:p>
          <a:p>
            <a:pPr algn="l"/>
            <a:r>
              <a:rPr lang="en-US" sz="400" dirty="0">
                <a:solidFill>
                  <a:srgbClr val="E5E5E5"/>
                </a:solidFill>
                <a:latin typeface="Inter"/>
              </a:rPr>
              <a:t/>
            </a:r>
          </a:p>
          <a:p>
            <a:pPr algn="l"/>
            <a:r>
              <a:rPr lang="en-US" sz="1100" dirty="0">
                <a:solidFill>
                  <a:srgbClr val="D4A373"/>
                </a:solidFill>
                <a:latin typeface="Inter"/>
              </a:rPr>
              <a:t>Goal: Recognise correct option</a:t>
            </a:r>
          </a:p>
          <a:p>
            <a:pPr algn="l"/>
            <a:r>
              <a:rPr lang="en-US" sz="1100" dirty="0">
                <a:solidFill>
                  <a:srgbClr val="D4A373"/>
                </a:solidFill>
                <a:latin typeface="Inter"/>
              </a:rPr>
              <a:t>in under 60 seconds using</a:t>
            </a:r>
          </a:p>
          <a:p>
            <a:pPr algn="l"/>
            <a:r>
              <a:rPr lang="en-US" sz="1100" dirty="0">
                <a:solidFill>
                  <a:srgbClr val="D4A373"/>
                </a:solidFill>
                <a:latin typeface="Inter"/>
              </a:rPr>
              <a:t>the same integrated map.</a:t>
            </a:r>
          </a:p>
        </p:txBody>
      </p:sp>
      <p:sp>
        <p:nvSpPr>
          <p:cNvPr id="0" name="TipBox"/>
          <p:cNvSpPr/>
          <p:nvPr/>
        </p:nvSpPr>
        <p:spPr>
          <a:xfrm>
            <a:off x="731520" y="5760720"/>
            <a:ext cx="6400800" cy="548640"/>
          </a:xfrm>
          <a:prstGeom prst="roundRect">
            <a:avLst>
              <a:gd name="adj" fmla="val 3000"/>
            </a:avLst>
          </a:prstGeom>
          <a:solidFill>
            <a:srgbClr val="171717"/>
          </a:solidFill>
          <a:ln w="12700">
            <a:solidFill>
              <a:srgbClr val="D4A37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60120" y="5897880"/>
            <a:ext cx="594360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dirty="0">
                <a:solidFill>
                  <a:srgbClr val="D4A373"/>
                </a:solidFill>
                <a:latin typeface="Inter"/>
              </a:rPr>
              <a:t>★ </a:t>
            </a:r>
            <a:r>
              <a:rPr lang="en-US" sz="1400" b="1" dirty="0">
                <a:solidFill>
                  <a:srgbClr val="D4A373"/>
                </a:solidFill>
                <a:latin typeface="Inter"/>
              </a:rPr>
              <a:t>Insider Tip  </a:t>
            </a:r>
            <a:r>
              <a:rPr lang="en-US" sz="1400" dirty="0">
                <a:solidFill>
                  <a:srgbClr val="E5E5E5"/>
                </a:solidFill>
                <a:latin typeface="Inter"/>
              </a:rPr>
              <a:t>Integrated notes = one build, two payoffs. Don't maintain separate systems.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"/>
          <p:cNvSpPr txBox="1"/>
          <p:nvPr/>
        </p:nvSpPr>
        <p:spPr>
          <a:xfrm>
            <a:off x="731520" y="457200"/>
            <a:ext cx="64008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9CA3AF"/>
                </a:solidFill>
                <a:latin typeface="Inter"/>
              </a:rPr>
              <a:t>U K P S C  S T R A T E G Y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31520" y="914400"/>
            <a:ext cx="640080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3800" b="1" dirty="0">
                <a:solidFill>
                  <a:srgbClr val="E5E5E5"/>
                </a:solidFill>
                <a:latin typeface="Garamond"/>
              </a:rPr>
              <a:t>The UKPSC-UPSC Overlap</a:t>
            </a:r>
          </a:p>
        </p:txBody>
      </p:sp>
      <p:sp>
        <p:nvSpPr>
          <p:cNvPr id="0" name="Line"/>
          <p:cNvSpPr/>
          <p:nvPr/>
        </p:nvSpPr>
        <p:spPr>
          <a:xfrm>
            <a:off x="731520" y="1691640"/>
            <a:ext cx="2468880" cy="0"/>
          </a:xfrm>
          <a:prstGeom prst="line">
            <a:avLst/>
          </a:prstGeom>
          <a:ln w="12700">
            <a:solidFill>
              <a:srgbClr val="D4A373"/>
            </a:solidFill>
          </a:ln>
        </p:spPr>
      </p:sp>
      <p:sp>
        <p:nvSpPr>
          <p:cNvPr id="0" name="TextBox"/>
          <p:cNvSpPr txBox="1"/>
          <p:nvPr/>
        </p:nvSpPr>
        <p:spPr>
          <a:xfrm>
            <a:off x="731520" y="1965960"/>
            <a:ext cx="64008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dirty="0">
                <a:solidFill>
                  <a:srgbClr val="9CA3AF"/>
                </a:solidFill>
                <a:latin typeface="Inter"/>
              </a:rPr>
              <a:t>Your efficiency multiplier if preparing for both exams.</a:t>
            </a:r>
          </a:p>
        </p:txBody>
      </p:sp>
      <p:sp>
        <p:nvSpPr>
          <p:cNvPr id="0" name="Core"/>
          <p:cNvSpPr/>
          <p:nvPr/>
        </p:nvSpPr>
        <p:spPr>
          <a:xfrm>
            <a:off x="1828800" y="2560320"/>
            <a:ext cx="3657600" cy="164592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D4A37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2011680" y="2651760"/>
            <a:ext cx="3291840" cy="14630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rgbClr val="D4A373"/>
                </a:solidFill>
                <a:latin typeface="Inter"/>
              </a:rPr>
              <a:t>SHARED STATIC CORE</a:t>
            </a:r>
          </a:p>
          <a:p>
            <a:pPr algn="ctr"/>
            <a:r>
              <a:rPr lang="en-US" sz="400" dirty="0">
                <a:solidFill>
                  <a:srgbClr val="E5E5E5"/>
                </a:solidFill>
                <a:latin typeface="Inter"/>
              </a:rPr>
              <a:t/>
            </a:r>
          </a:p>
          <a:p>
            <a:pPr algn="ctr"/>
            <a:r>
              <a:rPr lang="en-US" sz="1300" dirty="0">
                <a:solidFill>
                  <a:srgbClr val="E5E5E5"/>
                </a:solidFill>
                <a:latin typeface="Inter"/>
              </a:rPr>
              <a:t>History | Geography | Polity</a:t>
            </a:r>
          </a:p>
          <a:p>
            <a:pPr algn="ctr"/>
            <a:r>
              <a:rPr lang="en-US" sz="300" dirty="0">
                <a:solidFill>
                  <a:srgbClr val="E5E5E5"/>
                </a:solidFill>
                <a:latin typeface="Inter"/>
              </a:rPr>
              <a:t/>
            </a:r>
          </a:p>
          <a:p>
            <a:pPr algn="ctr"/>
            <a:r>
              <a:rPr lang="en-US" sz="1200" dirty="0">
                <a:solidFill>
                  <a:srgbClr val="E5E5E5"/>
                </a:solidFill>
                <a:latin typeface="Inter"/>
              </a:rPr>
              <a:t>Build ONE integrated map.</a:t>
            </a:r>
          </a:p>
          <a:p>
            <a:pPr algn="ctr"/>
            <a:r>
              <a:rPr lang="en-US" sz="1200" dirty="0">
                <a:solidFill>
                  <a:srgbClr val="E5E5E5"/>
                </a:solidFill>
                <a:latin typeface="Inter"/>
              </a:rPr>
              <a:t>Barely diverges between exams.</a:t>
            </a:r>
          </a:p>
        </p:txBody>
      </p:sp>
      <p:sp>
        <p:nvSpPr>
          <p:cNvPr id="0" name="UKLayer"/>
          <p:cNvSpPr/>
          <p:nvPr/>
        </p:nvSpPr>
        <p:spPr>
          <a:xfrm>
            <a:off x="731520" y="4572000"/>
            <a:ext cx="3017520" cy="137160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7B9E8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14400" y="4663440"/>
            <a:ext cx="2743200" cy="118872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7B9E89"/>
                </a:solidFill>
                <a:latin typeface="Inter"/>
              </a:rPr>
              <a:t>+ UKPSC LAYER</a:t>
            </a:r>
          </a:p>
          <a:p>
            <a:pPr algn="ctr"/>
            <a:r>
              <a:rPr lang="en-US" sz="300" dirty="0">
                <a:solidFill>
                  <a:srgbClr val="E5E5E5"/>
                </a:solidFill>
                <a:latin typeface="Inter"/>
              </a:rPr>
              <a:t/>
            </a:r>
          </a:p>
          <a:p>
            <a:pPr algn="ctr"/>
            <a:r>
              <a:rPr lang="en-US" sz="1150" dirty="0">
                <a:solidFill>
                  <a:srgbClr val="E5E5E5"/>
                </a:solidFill>
                <a:latin typeface="Inter"/>
              </a:rPr>
              <a:t>State-specific current affairs</a:t>
            </a:r>
          </a:p>
          <a:p>
            <a:pPr algn="ctr"/>
            <a:r>
              <a:rPr lang="en-US" sz="1150" dirty="0">
                <a:solidFill>
                  <a:srgbClr val="E5E5E5"/>
                </a:solidFill>
                <a:latin typeface="Inter"/>
              </a:rPr>
              <a:t>Uttarakhand schemes</a:t>
            </a:r>
          </a:p>
          <a:p>
            <a:pPr algn="ctr"/>
            <a:r>
              <a:rPr lang="en-US" sz="1150" dirty="0">
                <a:solidFill>
                  <a:srgbClr val="E5E5E5"/>
                </a:solidFill>
                <a:latin typeface="Inter"/>
              </a:rPr>
              <a:t>State geography + movements</a:t>
            </a:r>
          </a:p>
        </p:txBody>
      </p:sp>
      <p:sp>
        <p:nvSpPr>
          <p:cNvPr id="0" name="UPSCLayer"/>
          <p:cNvSpPr/>
          <p:nvPr/>
        </p:nvSpPr>
        <p:spPr>
          <a:xfrm>
            <a:off x="4023360" y="4572000"/>
            <a:ext cx="3017520" cy="1371600"/>
          </a:xfrm>
          <a:prstGeom prst="roundRect">
            <a:avLst>
              <a:gd name="adj" fmla="val 3000"/>
            </a:avLst>
          </a:prstGeom>
          <a:solidFill>
            <a:srgbClr val="222222"/>
          </a:solidFill>
          <a:ln w="12700">
            <a:solidFill>
              <a:srgbClr val="D4A37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4206240" y="4663440"/>
            <a:ext cx="2743200" cy="118872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D4A373"/>
                </a:solidFill>
                <a:latin typeface="Inter"/>
              </a:rPr>
              <a:t>+ UPSC LAYER</a:t>
            </a:r>
          </a:p>
          <a:p>
            <a:pPr algn="ctr"/>
            <a:r>
              <a:rPr lang="en-US" sz="300" dirty="0">
                <a:solidFill>
                  <a:srgbClr val="E5E5E5"/>
                </a:solidFill>
                <a:latin typeface="Inter"/>
              </a:rPr>
              <a:t/>
            </a:r>
          </a:p>
          <a:p>
            <a:pPr algn="ctr"/>
            <a:r>
              <a:rPr lang="en-US" sz="1150" dirty="0">
                <a:solidFill>
                  <a:srgbClr val="E5E5E5"/>
                </a:solidFill>
                <a:latin typeface="Inter"/>
              </a:rPr>
              <a:t>National current affairs</a:t>
            </a:r>
          </a:p>
          <a:p>
            <a:pPr algn="ctr"/>
            <a:r>
              <a:rPr lang="en-US" sz="1150" dirty="0">
                <a:solidFill>
                  <a:srgbClr val="E5E5E5"/>
                </a:solidFill>
                <a:latin typeface="Inter"/>
              </a:rPr>
              <a:t>International relations</a:t>
            </a:r>
          </a:p>
          <a:p>
            <a:pPr algn="ctr"/>
            <a:r>
              <a:rPr lang="en-US" sz="1150" dirty="0">
                <a:solidFill>
                  <a:srgbClr val="E5E5E5"/>
                </a:solidFill>
                <a:latin typeface="Inter"/>
              </a:rPr>
              <a:t>Advanced governance topics</a:t>
            </a:r>
          </a:p>
        </p:txBody>
      </p:sp>
      <p:sp>
        <p:nvSpPr>
          <p:cNvPr id="0" name="TipBox"/>
          <p:cNvSpPr/>
          <p:nvPr/>
        </p:nvSpPr>
        <p:spPr>
          <a:xfrm>
            <a:off x="731520" y="6126480"/>
            <a:ext cx="6400800" cy="502920"/>
          </a:xfrm>
          <a:prstGeom prst="roundRect">
            <a:avLst>
              <a:gd name="adj" fmla="val 3000"/>
            </a:avLst>
          </a:prstGeom>
          <a:solidFill>
            <a:srgbClr val="171717"/>
          </a:solidFill>
          <a:ln w="12700">
            <a:solidFill>
              <a:srgbClr val="D4A37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60120" y="6263640"/>
            <a:ext cx="5943600" cy="2286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dirty="0">
                <a:solidFill>
                  <a:srgbClr val="D4A373"/>
                </a:solidFill>
                <a:latin typeface="Inter"/>
              </a:rPr>
              <a:t>★ </a:t>
            </a:r>
            <a:r>
              <a:rPr lang="en-US" sz="1400" b="1" dirty="0">
                <a:solidFill>
                  <a:srgbClr val="D4A373"/>
                </a:solidFill>
                <a:latin typeface="Inter"/>
              </a:rPr>
              <a:t>Insider Tip  </a:t>
            </a:r>
            <a:r>
              <a:rPr lang="en-US" sz="1400" dirty="0">
                <a:solidFill>
                  <a:srgbClr val="E5E5E5"/>
                </a:solidFill>
                <a:latin typeface="Inter"/>
              </a:rPr>
              <a:t>Don't build two separate systems. Layer state-specific on top of a shared foundation.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"/>
          <p:cNvSpPr txBox="1"/>
          <p:nvPr/>
        </p:nvSpPr>
        <p:spPr>
          <a:xfrm>
            <a:off x="731520" y="457200"/>
            <a:ext cx="64008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b="1" dirty="0">
                <a:solidFill>
                  <a:srgbClr val="9CA3AF"/>
                </a:solidFill>
                <a:latin typeface="Inter"/>
              </a:rPr>
              <a:t>T O P P E R  S E C R E T 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31520" y="914400"/>
            <a:ext cx="640080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3800" b="1" dirty="0">
                <a:solidFill>
                  <a:srgbClr val="E5E5E5"/>
                </a:solidFill>
                <a:latin typeface="Garamond"/>
              </a:rPr>
              <a:t>The 4 Non-Obvious Truths</a:t>
            </a:r>
          </a:p>
        </p:txBody>
      </p:sp>
      <p:sp>
        <p:nvSpPr>
          <p:cNvPr id="0" name="Line"/>
          <p:cNvSpPr/>
          <p:nvPr/>
        </p:nvSpPr>
        <p:spPr>
          <a:xfrm>
            <a:off x="731520" y="1691640"/>
            <a:ext cx="2468880" cy="0"/>
          </a:xfrm>
          <a:prstGeom prst="line">
            <a:avLst/>
          </a:prstGeom>
          <a:ln w="12700">
            <a:solidFill>
              <a:srgbClr val="D4A373"/>
            </a:solidFill>
          </a:ln>
        </p:spPr>
      </p:sp>
      <p:sp>
        <p:nvSpPr>
          <p:cNvPr id="0" name="Num0"/>
          <p:cNvSpPr/>
          <p:nvPr/>
        </p:nvSpPr>
        <p:spPr>
          <a:xfrm>
            <a:off x="731520" y="2011680"/>
            <a:ext cx="457200" cy="457200"/>
          </a:xfrm>
          <a:prstGeom prst="roundRect">
            <a:avLst>
              <a:gd name="adj" fmla="val 3000"/>
            </a:avLst>
          </a:prstGeom>
          <a:solidFill>
            <a:srgbClr val="D4A37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600" b="1" dirty="0">
                <a:solidFill>
                  <a:srgbClr val="171717"/>
                </a:solidFill>
                <a:latin typeface="Inter"/>
              </a:rPr>
              <a:t>1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1371600" y="2011680"/>
            <a:ext cx="57607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E5E5E5"/>
                </a:solidFill>
                <a:latin typeface="Inter"/>
              </a:rPr>
              <a:t>Demand Deconstruction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1371600" y="2377440"/>
            <a:ext cx="576072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50" dirty="0">
                <a:solidFill>
                  <a:srgbClr val="9CA3AF"/>
                </a:solidFill>
                <a:latin typeface="Inter"/>
              </a:rPr>
              <a:t>Build notes by demand, not by chapter. 22 PYQ variations collapse into 8 real dimensions.</a:t>
            </a:r>
          </a:p>
        </p:txBody>
      </p:sp>
      <p:sp>
        <p:nvSpPr>
          <p:cNvPr id="0" name="Num1"/>
          <p:cNvSpPr/>
          <p:nvPr/>
        </p:nvSpPr>
        <p:spPr>
          <a:xfrm>
            <a:off x="731520" y="3017520"/>
            <a:ext cx="457200" cy="457200"/>
          </a:xfrm>
          <a:prstGeom prst="roundRect">
            <a:avLst>
              <a:gd name="adj" fmla="val 3000"/>
            </a:avLst>
          </a:prstGeom>
          <a:solidFill>
            <a:srgbClr val="D4A37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600" b="1" dirty="0">
                <a:solidFill>
                  <a:srgbClr val="171717"/>
                </a:solidFill>
                <a:latin typeface="Inter"/>
              </a:rPr>
              <a:t>2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1371600" y="3017520"/>
            <a:ext cx="57607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E5E5E5"/>
                </a:solidFill>
                <a:latin typeface="Inter"/>
              </a:rPr>
              <a:t>Model Answers Over Books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1371600" y="3383280"/>
            <a:ext cx="576072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50" dirty="0">
                <a:solidFill>
                  <a:srgbClr val="9CA3AF"/>
                </a:solidFill>
                <a:latin typeface="Inter"/>
              </a:rPr>
              <a:t>Build from exam-language sources. Skip the book-to-answer translation lag.</a:t>
            </a:r>
          </a:p>
        </p:txBody>
      </p:sp>
      <p:sp>
        <p:nvSpPr>
          <p:cNvPr id="0" name="Num2"/>
          <p:cNvSpPr/>
          <p:nvPr/>
        </p:nvSpPr>
        <p:spPr>
          <a:xfrm>
            <a:off x="731520" y="4023360"/>
            <a:ext cx="457200" cy="457200"/>
          </a:xfrm>
          <a:prstGeom prst="roundRect">
            <a:avLst>
              <a:gd name="adj" fmla="val 3000"/>
            </a:avLst>
          </a:prstGeom>
          <a:solidFill>
            <a:srgbClr val="D4A37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600" b="1" dirty="0">
                <a:solidFill>
                  <a:srgbClr val="171717"/>
                </a:solidFill>
                <a:latin typeface="Inter"/>
              </a:rPr>
              <a:t>3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1371600" y="4023360"/>
            <a:ext cx="57607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E5E5E5"/>
                </a:solidFill>
                <a:latin typeface="Inter"/>
              </a:rPr>
              <a:t>Skip What You Know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1371600" y="4389120"/>
            <a:ext cx="576072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50" dirty="0">
                <a:solidFill>
                  <a:srgbClr val="9CA3AF"/>
                </a:solidFill>
                <a:latin typeface="Inter"/>
              </a:rPr>
              <a:t>Notes = record of what you'd forget + phrases that differentiate you from others.</a:t>
            </a:r>
          </a:p>
        </p:txBody>
      </p:sp>
      <p:sp>
        <p:nvSpPr>
          <p:cNvPr id="0" name="Num3"/>
          <p:cNvSpPr/>
          <p:nvPr/>
        </p:nvSpPr>
        <p:spPr>
          <a:xfrm>
            <a:off x="731520" y="5029200"/>
            <a:ext cx="457200" cy="457200"/>
          </a:xfrm>
          <a:prstGeom prst="roundRect">
            <a:avLst>
              <a:gd name="adj" fmla="val 3000"/>
            </a:avLst>
          </a:prstGeom>
          <a:solidFill>
            <a:srgbClr val="D4A37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731520" y="5029200"/>
            <a:ext cx="4572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600" b="1" dirty="0">
                <a:solidFill>
                  <a:srgbClr val="171717"/>
                </a:solidFill>
                <a:latin typeface="Inter"/>
              </a:rPr>
              <a:t>4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1371600" y="5029200"/>
            <a:ext cx="57607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E5E5E5"/>
                </a:solidFill>
                <a:latin typeface="Inter"/>
              </a:rPr>
              <a:t>Cross-Paper Transfer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1371600" y="5394960"/>
            <a:ext cx="576072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150" dirty="0">
                <a:solidFill>
                  <a:srgbClr val="9CA3AF"/>
                </a:solidFill>
                <a:latin typeface="Inter"/>
              </a:rPr>
              <a:t>Every fact should earn marks in multiple papers. Ask: where else could this live?</a:t>
            </a:r>
          </a:p>
        </p:txBody>
      </p:sp>
      <p:sp>
        <p:nvSpPr>
          <p:cNvPr id="0" name="TipBox"/>
          <p:cNvSpPr/>
          <p:nvPr/>
        </p:nvSpPr>
        <p:spPr>
          <a:xfrm>
            <a:off x="731520" y="5943600"/>
            <a:ext cx="6400800" cy="548640"/>
          </a:xfrm>
          <a:prstGeom prst="roundRect">
            <a:avLst>
              <a:gd name="adj" fmla="val 3000"/>
            </a:avLst>
          </a:prstGeom>
          <a:solidFill>
            <a:srgbClr val="171717"/>
          </a:solidFill>
          <a:ln w="12700">
            <a:solidFill>
              <a:srgbClr val="D4A37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60120" y="6080760"/>
            <a:ext cx="5943600" cy="2743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dirty="0">
                <a:solidFill>
                  <a:srgbClr val="D4A373"/>
                </a:solidFill>
                <a:latin typeface="Inter"/>
              </a:rPr>
              <a:t>★ </a:t>
            </a:r>
            <a:r>
              <a:rPr lang="en-US" sz="1400" b="1" dirty="0">
                <a:solidFill>
                  <a:srgbClr val="D4A373"/>
                </a:solidFill>
                <a:latin typeface="Inter"/>
              </a:rPr>
              <a:t>Insider Tip  </a:t>
            </a:r>
            <a:r>
              <a:rPr lang="en-US" sz="1400" dirty="0">
                <a:solidFill>
                  <a:srgbClr val="E5E5E5"/>
                </a:solidFill>
                <a:latin typeface="Inter"/>
              </a:rPr>
              <a:t>These secrets compound. Each layer makes the next one exponentially more effective.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"/>
          <p:cNvSpPr txBox="1"/>
          <p:nvPr/>
        </p:nvSpPr>
        <p:spPr>
          <a:xfrm>
            <a:off x="731520" y="1371600"/>
            <a:ext cx="64008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9CA3AF"/>
                </a:solidFill>
                <a:latin typeface="Inter"/>
              </a:rPr>
              <a:t>T H E  S I N G L E  T A K E A W A Y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31520" y="2286000"/>
            <a:ext cx="6400800" cy="18288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3600" b="1" dirty="0">
                <a:solidFill>
                  <a:srgbClr val="E5E5E5"/>
                </a:solidFill>
                <a:latin typeface="Garamond"/>
              </a:rPr>
              <a:t>Build the demand map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31520" y="3017520"/>
            <a:ext cx="6400800" cy="13716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3600" b="1" dirty="0">
                <a:solidFill>
                  <a:srgbClr val="E5E5E5"/>
                </a:solidFill>
                <a:latin typeface="Garamond"/>
              </a:rPr>
              <a:t>before you build the note.</a:t>
            </a:r>
          </a:p>
        </p:txBody>
      </p:sp>
      <p:sp>
        <p:nvSpPr>
          <p:cNvPr id="0" name="Line"/>
          <p:cNvSpPr/>
          <p:nvPr/>
        </p:nvSpPr>
        <p:spPr>
          <a:xfrm>
            <a:off x="2743200" y="4114800"/>
            <a:ext cx="1828800" cy="0"/>
          </a:xfrm>
          <a:prstGeom prst="line">
            <a:avLst/>
          </a:prstGeom>
          <a:ln w="12700">
            <a:solidFill>
              <a:srgbClr val="D4A373"/>
            </a:solidFill>
          </a:ln>
        </p:spPr>
      </p:sp>
      <p:sp>
        <p:nvSpPr>
          <p:cNvPr id="0" name="TextBox"/>
          <p:cNvSpPr txBox="1"/>
          <p:nvPr/>
        </p:nvSpPr>
        <p:spPr>
          <a:xfrm>
            <a:off x="731520" y="4389120"/>
            <a:ext cx="640080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600" dirty="0">
                <a:solidFill>
                  <a:srgbClr val="9CA3AF"/>
                </a:solidFill>
                <a:latin typeface="Inter"/>
              </a:rPr>
              <a:t>That's the whole secret.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31520" y="5669280"/>
            <a:ext cx="64008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rgbClr val="D4A373"/>
                </a:solidFill>
                <a:latin typeface="Inter"/>
              </a:rPr>
              <a:t>UKPSC DECODED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31520" y="6035040"/>
            <a:ext cx="640080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dirty="0">
                <a:solidFill>
                  <a:srgbClr val="9CA3AF"/>
                </a:solidFill>
                <a:latin typeface="Inter"/>
              </a:rPr>
              <a:t>Prepare Smarter. Not Longer.</a:t>
            </a:r>
          </a:p>
        </p:txBody>
      </p:sp>
    </p:spTree>
  </p:cSld>
  <p:clrMapOvr>
    <a:masterClrMapping/>
  </p:clrMapOvr>
</p:sld>
</file>